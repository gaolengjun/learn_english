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大家好。今天我们不背搭配、不记短语，只讲清一个词：with。很多人看到 with，第一反应是找一个中文对应词「和」，但母语者用 with 的时候，脑子里想的不是「和」，而是一种关系。这一页先把问题立起来：with 到底能建立哪几种关系？我们把它拆成五种——附着、携带、工具、面对、状态指向。接下来的十几分钟，每一种关系我都会先给一个画面，再给核心例句，然后补上易混辨析和练习句，目标是让你下次看到 with，不再翻译，而是直接理解。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先看一个对比。学习者的路径是：看到 with，找一个中文对应词「和」，然后把两件事拼在一起。She came with her sister 会被译成「她来了，和她的姐姐」——信息差不多，但重点丢了。母语者的路径完全不同：看到 with 先问「它在建立什么关系」，然后直接看到画面——她出现的时候，姐姐是跟着一起出现的，所以真正要说的是「她带着姐姐一起来了」。记住这句话：学习者习惯给信息，母语者习惯给画面。这就是我们今天要换的思维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这一页是整场的地图。with 的底层关系一共五种，每一种都配一个自问句。附着问「什么东西附着在谁身上」；携带问「谁在动，带着什么」；工具问「这个动作靠什么完成」；面对问「我和什么发生了关系」；状态指向问「这个状态指向谁」。看到 with，先判断是哪一种关系，意思自然就浮出来了。接下来我们逐条展开，每种关系都配核心例句和练习句。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第一种关系：附着。想象一个人刚从大雨里跑进来，衣服全湿，头发贴在脸上，鞋子还在滴水。这时英语说 He was soaked with rain。为什么用 with？因为雨不是在他旁边，也不是和他一起出现，而是已经附着在他身上，成了他身体状态的一部分。请注意，附着物可以是实体，比如 people、books，也可以是看不见的感觉，比如 tears、cold，共同点是它们都贴在主体身上。判断附着只需一个问题：什么东西附着在了谁身上。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这一页练辨析。The room is full of smoke 和 The room is filled with smoke，很多学习者觉得一样，其实重心不同：full of 更像在报结果，告诉你房间现在满了，是静止状态；filled with 有进入感，重点不是「满」，而是烟浸入并占满了空间，是被占据的过程。练习句 The sky was covered with dark clouds，附着的是 dark clouds，它盖住了天空。再练三句：hands shaking with cold、basket filled with fruit、pages covered with notes，逻辑完全一样——主体静止，东西渗进来。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第二种关系，携带。附着说的是静止状态，携带是动态的：主体在动，某样东西跟着他进入或者离开场景。朋友来找你，身边还带着姐姐。说 she came and brought her sister 语法没问题，但把一件事拆成了两件，听起来像先来、再带。母语者会说 She came with her sister：重点不是「带」这个动作，而是她出现的时候，姐姐是伴随出现的。再看 the job comes with long hours——加班跟着这份工作一起来，是这份工作自带的，这就是携带的核心。判断问题：谁在动，带着什么。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这一页对比两句几乎一样的句子。He walked in smiling 是两件事同时发生，平铺直叙；He walked in with a smile 里，笑容是他带进场景的东西，是他进场时的配置。with 给了笑容一个重量：它不再只是一个动作，而是他随身带进来的行李。练习句 She walked into the room with a cup of coffee，被携带的是一杯咖啡——她在动，咖啡跟着她进来。请记住附着和携带的分界线：附着的主体静止，东西渗进来；携带的主体在移动，带着东西一起走。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第三种关系，工具。with 在这里是那根把动作和工具绑在一起的线。Cut it with a knife，用刀切；Open the door with this key，用这把钥匙开门。有学习者会说 use a knife to cut it，当然没错，但母语者更常把工具压进动作里，信息更集中更直接。更关键的是，工具不一定是看得见的东西：He solved the problem with a simple idea，想法就是工具；She won the argument with one question，一个问题是工具。只要它帮你完成了这件事，它就是工具。判断问题：这个动作是靠什么完成的。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这一页分辨 with 和 by。It was written with a pen 强调工具，回答的是「用什么写的」；It was written by Tom 强调执行者，回答的是「谁写的」。同样是被动语态，with 补的是工具，by 补的是人，方向完全不同。练习句 He greeted her with a warm hug，工具就是 a warm hug——拥抱是他完成迎接这个动作所借助的手段。再练三句：explained the rule with pictures、fixed the chair with tape、celebrated with a big dinner，手段可以是物品、方法、语言，也可以是一个动作。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第四种关系，面对。前三种是把两样东西粘在一起，这一种是把你和问题连起来，而且是一个必须面对的关系。Deal with it——去处理它、去面对它。solve 和 deal with 不是一个层次：现实里很多事情根本解决不了，你只能面对、处理、应付，这正是 deal with 的位置。I'm done with this 的重点不是「我完成了」，而是关系结束了，我退出了；What's wrong with you 问的是你和正常状态之间出了什么问题。这些 with 都在描述双向接触：你进入关系，对象也在关系里。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这一页看 with 和 to 的差别。Let me talk to the manager 是单向的：我在对他说话，他不一定回应，本质是通知；Let me talk with the manager 是双向的：我们在对话，有来有往，本质是协商。一字之差，独白变成对话。练习句 He's dealing with a difficult situation，他进入了和这个处境的关系：处境在那里，他在面对，双方都真实存在。所以判断面对型 with，就问自己一句——谁进入了和什么的关系。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第五种关系，状态指向。这里的 with 不是动作、不是工具、也不是伴随，而是你的状态指向某个对象。I'm happy with it 是对某个东西满意；很多学习者说 I'm happy about it，两个都对但意思不同：happy about 是因为某件事开心，说的是情绪来源；happy with 是对某个东西满意，说的是情绪对象。再看 angry with you 和 angry at the situation，一个词之差，对象完全不同：一个指向人，一个指向外部处境。判断问题：这个状态指向谁。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最后一组练习，仍然围绕「对象」。bored with this，厌倦指向这件事；satisfied with your score，满意与否指向分数；not comfortable with this decision，不舒服指向这个决定。练习句 He's disappointed with his grade，失望指向的是他的成绩。你会发现这些表达全都符合同一个逻辑：情绪或态度有一个指向，with 告诉你它指向了谁。所以看到表示状态的 with，不要翻译成「和」，问一句——这个状态指向谁，答案就出来了。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五种关系收在一张表里，建议截图保存。每一种关系都对应一个判断自问：附着问「什么东西附着在谁身上」，携带问「谁在动，带着什么」，工具问「这个动作靠什么完成」，面对问「我和什么发生了关系」，状态指向问「这个状态指向谁」。最典型的锚句是 soaked with rain、came with her sister、cut with a knife、deal with it、happy with it。一句话原则：with 从来不是「和」，它在建立关系。关系看懂了，意思自然出来。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收个尾。请把今天的方法带走：看到 with，别急着翻译，先问它在建立什么关系。第一步看清场景；第二步用五种关系里的自问句判断——附着、携带、工具、面对、状态指向；第三步直接理解画面，不再回头找中文对应词。真正理解一个词，不是记住它的中文意思，而是理解它的逻辑。with 的五种关系讲完了，希望你以后遇到它的时候，看到的是画面，不是翻译。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Relationship Id="rIdWm1" Type="http://schemas.openxmlformats.org/officeDocument/2006/relationships/image" Target="../media/pptclaw-watermark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Wm1" Type="http://schemas.openxmlformats.org/officeDocument/2006/relationships/image" Target="../media/pptclaw-watermark-86ccddc37a0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Relationship Id="rIdWm1" Type="http://schemas.openxmlformats.org/officeDocument/2006/relationships/image" Target="../media/pptclaw-watermark-86ccddc37a0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Wm1" Type="http://schemas.openxmlformats.org/officeDocument/2006/relationships/image" Target="../media/pptclaw-watermark-86ccddc37a0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Wm1" Type="http://schemas.openxmlformats.org/officeDocument/2006/relationships/image" Target="../media/pptclaw-watermark-86ccddc37a0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Wm1" Type="http://schemas.openxmlformats.org/officeDocument/2006/relationships/image" Target="../media/pptclaw-watermark-86ccddc37a0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Wm1" Type="http://schemas.openxmlformats.org/officeDocument/2006/relationships/image" Target="../media/pptclaw-watermark-86ccddc37a0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Wm1" Type="http://schemas.openxmlformats.org/officeDocument/2006/relationships/image" Target="../media/pptclaw-watermark-86ccddc37a0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Wm1" Type="http://schemas.openxmlformats.org/officeDocument/2006/relationships/image" Target="../media/pptclaw-watermark-86ccddc37a0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Wm1" Type="http://schemas.openxmlformats.org/officeDocument/2006/relationships/image" Target="../media/pptclaw-watermark-86ccddc37a0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Wm1" Type="http://schemas.openxmlformats.org/officeDocument/2006/relationships/image" Target="../media/pptclaw-watermark-86ccddc37a0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Wm1" Type="http://schemas.openxmlformats.org/officeDocument/2006/relationships/image" Target="../media/pptclaw-watermark-86ccddc37a0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Wm1" Type="http://schemas.openxmlformats.org/officeDocument/2006/relationships/image" Target="../media/pptclaw-watermark-86ccddc37a0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Wm1" Type="http://schemas.openxmlformats.org/officeDocument/2006/relationships/image" Target="../media/pptclaw-watermark-86ccddc37a0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Wm1" Type="http://schemas.openxmlformats.org/officeDocument/2006/relationships/image" Target="../media/pptclaw-watermark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035040" cy="6035040"/>
          </a:xfrm>
          <a:prstGeom prst="ellipse">
            <a:avLst/>
          </a:prstGeom>
          <a:solidFill>
            <a:srgbClr val="1C4B4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3840480"/>
            <a:ext cx="4937760" cy="4937760"/>
          </a:xfrm>
          <a:prstGeom prst="ellipse">
            <a:avLst/>
          </a:prstGeom>
          <a:solidFill>
            <a:srgbClr val="1B355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英语介词精讲 · 关系思维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到底是什么意思？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9077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D8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五种底层逻辑，一次讲透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14400" y="345643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不背搭配、不记短语——从「关系」直接读懂每一句里的 with。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434840"/>
            <a:ext cx="1920240" cy="786384"/>
          </a:xfrm>
          <a:prstGeom prst="roundRect">
            <a:avLst>
              <a:gd name="adj" fmla="val 5814"/>
            </a:avLst>
          </a:prstGeom>
          <a:solidFill>
            <a:srgbClr val="1B2F4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46725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443484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附着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040380" y="4434840"/>
            <a:ext cx="1920240" cy="786384"/>
          </a:xfrm>
          <a:prstGeom prst="roundRect">
            <a:avLst>
              <a:gd name="adj" fmla="val 5814"/>
            </a:avLst>
          </a:prstGeom>
          <a:solidFill>
            <a:srgbClr val="1B2F4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836" y="467258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0460" y="443484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166360" y="4434840"/>
            <a:ext cx="1920240" cy="786384"/>
          </a:xfrm>
          <a:prstGeom prst="roundRect">
            <a:avLst>
              <a:gd name="adj" fmla="val 5814"/>
            </a:avLst>
          </a:prstGeom>
          <a:solidFill>
            <a:srgbClr val="1B2F4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467258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06440" y="443484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292340" y="4434840"/>
            <a:ext cx="1920240" cy="786384"/>
          </a:xfrm>
          <a:prstGeom prst="roundRect">
            <a:avLst>
              <a:gd name="adj" fmla="val 5814"/>
            </a:avLst>
          </a:prstGeom>
          <a:solidFill>
            <a:srgbClr val="1B2F4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796" y="4672584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32420" y="443484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418320" y="4434840"/>
            <a:ext cx="1920240" cy="786384"/>
          </a:xfrm>
          <a:prstGeom prst="roundRect">
            <a:avLst>
              <a:gd name="adj" fmla="val 5814"/>
            </a:avLst>
          </a:prstGeom>
          <a:solidFill>
            <a:srgbClr val="1B2F4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76" y="4672584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0" y="443484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状态指向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14400" y="5897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五种关系逐条讲清，每一种都配核心例句、易混辨析与练习句。</a:t>
            </a:r>
            <a:endParaRPr lang="en-US" sz="1150" dirty="0"/>
          </a:p>
        </p:txBody>
      </p:sp>
      <p:pic>
        <p:nvPicPr>
          <p:cNvPr id="24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 · 一个误区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不是「和」：它建立的是关系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学习者先找对应词，母语者先看关系——两条路径，结果完全不同。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257800" cy="3017520"/>
          </a:xfrm>
          <a:prstGeom prst="roundRect">
            <a:avLst>
              <a:gd name="adj" fmla="val 1818"/>
            </a:avLst>
          </a:prstGeom>
          <a:solidFill>
            <a:srgbClr val="F4F6F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4708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35024" y="18470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学习者：先找中文对应词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32688" y="2267712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 with → 「和」 → 拼回句子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32688" y="2670048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 came with her sister.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32688" y="3054096"/>
            <a:ext cx="4672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译成「她来了，和她的姐姐」：语法没错，但把一个动作拆成了两件事，重点丢了。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2688" y="3986784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结果：信息给到了，画面没有。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91072" y="1627632"/>
            <a:ext cx="5257800" cy="3017520"/>
          </a:xfrm>
          <a:prstGeom prst="roundRect">
            <a:avLst>
              <a:gd name="adj" fmla="val 1818"/>
            </a:avLst>
          </a:prstGeom>
          <a:solidFill>
            <a:srgbClr val="E9F2F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4708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86016" y="18470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母语者：先看建立的关系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83680" y="2267712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 with → 问它建立什么关系 → 直接看到画面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83680" y="2670048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 came with her sister.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583680" y="3054096"/>
            <a:ext cx="4672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她带着姐姐一起来了：姐姐不是第二个动作，而是她出现时的伴随配置。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83680" y="3986784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结果：关系读懂了，意思自然出来。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5217"/>
            </a:avLst>
          </a:prstGeom>
          <a:solidFill>
            <a:srgbClr val="16283D"/>
          </a:solidFill>
          <a:ln/>
        </p:spPr>
      </p:sp>
      <p:sp>
        <p:nvSpPr>
          <p:cNvPr id="22" name="Text 18"/>
          <p:cNvSpPr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学习者习惯给信息，母语者习惯给画面。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051560" y="552297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所以今天不背搭配、不记短语，直接把 with 最底层的五种关系讲清楚。</a:t>
            </a:r>
            <a:endParaRPr lang="en-US" sz="1250" dirty="0"/>
          </a:p>
        </p:txBody>
      </p:sp>
      <p:pic>
        <p:nvPicPr>
          <p:cNvPr id="24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 · 五种关系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的五种底层关系：一张地图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 with 时，先判断它在建立哪一种关系，意思自然浮出来。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97280" y="3374136"/>
            <a:ext cx="9966960" cy="18288"/>
          </a:xfrm>
          <a:prstGeom prst="rect">
            <a:avLst/>
          </a:prstGeom>
          <a:solidFill>
            <a:srgbClr val="DAE0E8"/>
          </a:solidFill>
          <a:ln/>
        </p:spPr>
      </p:sp>
      <p:sp>
        <p:nvSpPr>
          <p:cNvPr id="8" name="Shape 6"/>
          <p:cNvSpPr/>
          <p:nvPr/>
        </p:nvSpPr>
        <p:spPr>
          <a:xfrm>
            <a:off x="1947672" y="3136392"/>
            <a:ext cx="493776" cy="493776"/>
          </a:xfrm>
          <a:prstGeom prst="ellipse">
            <a:avLst/>
          </a:prstGeom>
          <a:solidFill>
            <a:srgbClr val="1E6F63"/>
          </a:solidFill>
          <a:ln/>
        </p:spPr>
      </p:sp>
      <p:sp>
        <p:nvSpPr>
          <p:cNvPr id="9" name="Text 7"/>
          <p:cNvSpPr/>
          <p:nvPr/>
        </p:nvSpPr>
        <p:spPr>
          <a:xfrm>
            <a:off x="1947672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112" y="181051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2212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附着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4300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什么东西附着在谁身上？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43000" y="442569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was soaked with rain.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43000" y="49743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他被雨水浸透了。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42232" y="3136392"/>
            <a:ext cx="493776" cy="493776"/>
          </a:xfrm>
          <a:prstGeom prst="ellipse">
            <a:avLst/>
          </a:prstGeom>
          <a:solidFill>
            <a:srgbClr val="1E6F63"/>
          </a:solidFill>
          <a:ln/>
        </p:spPr>
      </p:sp>
      <p:sp>
        <p:nvSpPr>
          <p:cNvPr id="16" name="Text 13"/>
          <p:cNvSpPr/>
          <p:nvPr/>
        </p:nvSpPr>
        <p:spPr>
          <a:xfrm>
            <a:off x="4142232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1810512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212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33756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谁在动，带着什么？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37560" y="442569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 came with her sister.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3337560" y="49743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她带着姐姐一起来了。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336792" y="3136392"/>
            <a:ext cx="493776" cy="493776"/>
          </a:xfrm>
          <a:prstGeom prst="ellipse">
            <a:avLst/>
          </a:prstGeom>
          <a:solidFill>
            <a:srgbClr val="1E6F63"/>
          </a:solidFill>
          <a:ln/>
        </p:spPr>
      </p:sp>
      <p:sp>
        <p:nvSpPr>
          <p:cNvPr id="23" name="Text 19"/>
          <p:cNvSpPr/>
          <p:nvPr/>
        </p:nvSpPr>
        <p:spPr>
          <a:xfrm>
            <a:off x="6336792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81051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532120" y="2212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553212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这个动作靠什么完成？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532120" y="442569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Cut it with a knife.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5532120" y="49743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用刀切。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531352" y="3136392"/>
            <a:ext cx="493776" cy="493776"/>
          </a:xfrm>
          <a:prstGeom prst="ellipse">
            <a:avLst/>
          </a:prstGeom>
          <a:solidFill>
            <a:srgbClr val="1E6F63"/>
          </a:solidFill>
          <a:ln/>
        </p:spPr>
      </p:sp>
      <p:sp>
        <p:nvSpPr>
          <p:cNvPr id="30" name="Text 25"/>
          <p:cNvSpPr/>
          <p:nvPr/>
        </p:nvSpPr>
        <p:spPr>
          <a:xfrm>
            <a:off x="8531352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1810512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726680" y="2212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772668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我和什么发生了关系？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726680" y="442569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Deal with it.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7726680" y="49743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去处理它、面对它。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10725912" y="3136392"/>
            <a:ext cx="493776" cy="493776"/>
          </a:xfrm>
          <a:prstGeom prst="ellipse">
            <a:avLst/>
          </a:prstGeom>
          <a:solidFill>
            <a:srgbClr val="1E6F63"/>
          </a:solidFill>
          <a:ln/>
        </p:spPr>
      </p:sp>
      <p:sp>
        <p:nvSpPr>
          <p:cNvPr id="37" name="Text 31"/>
          <p:cNvSpPr/>
          <p:nvPr/>
        </p:nvSpPr>
        <p:spPr>
          <a:xfrm>
            <a:off x="10725912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7352" y="1810512"/>
            <a:ext cx="310896" cy="31089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921240" y="2212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状态指向</a:t>
            </a:r>
            <a:endParaRPr lang="en-US" sz="1700" dirty="0"/>
          </a:p>
        </p:txBody>
      </p:sp>
      <p:sp>
        <p:nvSpPr>
          <p:cNvPr id="40" name="Text 33"/>
          <p:cNvSpPr/>
          <p:nvPr/>
        </p:nvSpPr>
        <p:spPr>
          <a:xfrm>
            <a:off x="992124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这个状态指向谁？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9921240" y="442569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happy with it.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9921240" y="49743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我对它感到满意。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五种关系不是五个意思，而是五种判断方式。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92354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自问 → 关系 → 意思</a:t>
            </a:r>
            <a:endParaRPr lang="en-US" sz="1150" dirty="0"/>
          </a:p>
        </p:txBody>
      </p:sp>
      <p:pic>
        <p:nvPicPr>
          <p:cNvPr id="47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关系一 · 附着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附着：东西嵌进主体，成为状态的一部分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主体不动，某样东西贴在它身上——可以是看得见的，也可以是看不见的。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865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核心画面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2139696"/>
            <a:ext cx="4910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一个人刚从大雨里跑进来：衣服全湿，头发贴在脸上，鞋子还在滴水。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30723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英语怎么说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0976" y="3328416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was soaked with rain.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3749040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他被雨水浸透了。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4133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 with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4389120"/>
            <a:ext cx="4910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雨不是「在他旁边」，也不是「和他一起出现」，而是已经附着在他身上，成了他身体状态的一部分。这时只能用 with。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18653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同一关系，更多例句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139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 voice was thick with emotion.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4505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他的声音里情绪浓重。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28163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street was crowded with people.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1272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街上挤满了人。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34930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 eyes were red with tears.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38039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她的眼睛因哭泣而红了。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4169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bag was filled with books.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44805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包里装满了书。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4956048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E9F2F0"/>
          </a:solidFill>
          <a:ln/>
        </p:spPr>
      </p:sp>
      <p:sp>
        <p:nvSpPr>
          <p:cNvPr id="25" name="Text 23"/>
          <p:cNvSpPr/>
          <p:nvPr/>
        </p:nvSpPr>
        <p:spPr>
          <a:xfrm>
            <a:off x="6656832" y="5065776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附着物可以是实体（people、books），也可以是看不见的感觉（tears、cold）——共同点是它们都贴在主体身上。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 with，先问：什么东西附着在了谁身上？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2354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自问 → 关系 → 意思</a:t>
            </a:r>
            <a:endParaRPr lang="en-US" sz="1150" dirty="0"/>
          </a:p>
        </p:txBody>
      </p:sp>
      <p:pic>
        <p:nvPicPr>
          <p:cNvPr id="30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关系一 · 附着（辨析与练习）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附着：是结果，还是进入感？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同一幅画面，用词不同，重心就不同——这才是同类表达真正的差别。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828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易混辨析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" y="2084832"/>
            <a:ext cx="5056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21284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room is full of smoke.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0704" y="2505456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房间里满是烟。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0704" y="2761488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侧重：报结果——房间现在满了，是静止的状态。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" y="3657600"/>
            <a:ext cx="5056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378561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room is filled with smoke.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60704" y="4078224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烟充满了整个房间。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60704" y="4334256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侧重：有进入感——烟浸入并占满了空间，是被占据的过程。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" y="523036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结论：意思接近，重心不同——full of 说「满」，filled with 说「进入并占满」。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认一认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084832"/>
            <a:ext cx="4937760" cy="1700784"/>
          </a:xfrm>
          <a:prstGeom prst="roundRect">
            <a:avLst>
              <a:gd name="adj" fmla="val 3226"/>
            </a:avLst>
          </a:prstGeom>
          <a:solidFill>
            <a:srgbClr val="E9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2194560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sky was covered with dark clouds.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56832" y="2688336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问：这句话里，附着在主体上的是什么？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56832" y="2962656"/>
            <a:ext cx="4608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附着的是 dark clouds：乌云附着在天空上，把天空盖住了。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40050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再练三句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242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 hands were shaking with cold.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45354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他的手因寒冷而颤抖。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basket was filled with fruit.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50657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篮子里装满了水果。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303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pages were covered with notes.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55961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页面上写满了笔记。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小结：附着的主体是静止的，东西是「渗进来」的。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2354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1150" dirty="0"/>
          </a:p>
        </p:txBody>
      </p:sp>
      <p:pic>
        <p:nvPicPr>
          <p:cNvPr id="34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关系二 · 携带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携带：主体在动，某样东西跟着他走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不是两个动作，而是一个动作里带着的附带信息。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865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核心画面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2139696"/>
            <a:ext cx="4910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朋友来找你，身边还带着姐姐：她出现的时候，姐姐是跟着一起出现的。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30723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英语怎么说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0976" y="3328416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 came with her sister.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3749040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她带着姐姐一起来了。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4133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 with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4389120"/>
            <a:ext cx="4910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 she came and brought her sister 语法没错，但把一件事拆成了两件。with 把姐姐压成一个伴随出现的配置：主体在动，东西跟着动。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18653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同一关系，更多例句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139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came back with good news.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4505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他带着好消息回来了。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28163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 left with a big smile.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1272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她带着笑容离开了。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34930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went into the meeting with a plan.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38039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他带着一个计划走进了会议。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4169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job comes with long hours.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44805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这份工作自带长时间加班。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4956048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E9F2F0"/>
          </a:solidFill>
          <a:ln/>
        </p:spPr>
      </p:sp>
      <p:sp>
        <p:nvSpPr>
          <p:cNvPr id="25" name="Text 23"/>
          <p:cNvSpPr/>
          <p:nvPr/>
        </p:nvSpPr>
        <p:spPr>
          <a:xfrm>
            <a:off x="6656832" y="5065776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「自带」是携带的核心：加班跟着这份工作一起来，不是后来才加上去的。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 with，先问：谁在动，带着什么？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2354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自问 → 关系 → 意思</a:t>
            </a:r>
            <a:endParaRPr lang="en-US" sz="1150" dirty="0"/>
          </a:p>
        </p:txBody>
      </p:sp>
      <p:pic>
        <p:nvPicPr>
          <p:cNvPr id="30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关系二 · 携带（辨析与练习）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携带：是同时发生，还是随身配置？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同样是笑容，是并行的动作，还是他带进场景的一部分？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828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易混辨析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" y="2084832"/>
            <a:ext cx="5056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21284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walked in smiling.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0704" y="2505456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他走进来，同时在笑。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0704" y="2761488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侧重：两件事同时发生，平铺直叙。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" y="3657600"/>
            <a:ext cx="5056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378561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walked in with a smile.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60704" y="4078224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他带着笑容走了进来。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60704" y="4334256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侧重：笑容是他进场时的「配置」，有重量、有意图。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" y="523036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结论：with 给笑容加了重量——它不再只是动作，而是他随身带进来的东西。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认一认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084832"/>
            <a:ext cx="4937760" cy="1700784"/>
          </a:xfrm>
          <a:prstGeom prst="roundRect">
            <a:avLst>
              <a:gd name="adj" fmla="val 3226"/>
            </a:avLst>
          </a:prstGeom>
          <a:solidFill>
            <a:srgbClr val="E9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2194560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 walked into the room with a cup of coffee.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56832" y="2688336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问：被携带进场景的是什么？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56832" y="2962656"/>
            <a:ext cx="4608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被携带的是 a cup of coffee：她在动，咖啡跟着她进入场景。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40050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再练三句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242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came back with a new plan.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45354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他带着一个新计划回来了。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 arrived with her team.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50657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她带着团队到场。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303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package comes with a warranty.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55961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这个包装自带保修。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小结：附着看「嵌进来」，携带看「带着走」——静态与动态的分界。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2354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1150" dirty="0"/>
          </a:p>
        </p:txBody>
      </p:sp>
      <p:pic>
        <p:nvPicPr>
          <p:cNvPr id="34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关系三 · 工具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工具：这个动作，是靠什么完成的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是那根把「动作」和「工具」绑在一起的线。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865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核心画面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2139696"/>
            <a:ext cx="4910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切、开、解释、修好、引起注意——每个动作背后，都有一件「靠它完成」的东西。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30723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英语怎么说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0976" y="3328416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Cut it with a knife.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3749040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用刀切。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4133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 with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4389120"/>
            <a:ext cx="4910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 use a knife to cut it 当然没问题，但母语者更常说 cut it with a knife——更直接、更紧、信息更集中：工具被压进了动作里。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18653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同一关系，更多例句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139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the door with this key.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4505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用这把钥匙开门。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28163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solved the problem with a simple idea.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1272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他用一个简单的想法解决了问题。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34930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 won the argument with one question.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38039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她用一个问题赢得了争论。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4169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They stopped the fight with a joke.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44805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他们用一个玩笑平息了争吵。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4956048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E9F2F0"/>
          </a:solidFill>
          <a:ln/>
        </p:spPr>
      </p:sp>
      <p:sp>
        <p:nvSpPr>
          <p:cNvPr id="25" name="Text 23"/>
          <p:cNvSpPr/>
          <p:nvPr/>
        </p:nvSpPr>
        <p:spPr>
          <a:xfrm>
            <a:off x="6656832" y="5065776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工具不一定是看得见的东西：想法、问题、玩笑、语言、一个动作——只要它帮你完成了这件事，它就是工具。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 with，先问：这个动作是靠什么完成的？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2354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自问 → 关系 → 意思</a:t>
            </a:r>
            <a:endParaRPr lang="en-US" sz="1150" dirty="0"/>
          </a:p>
        </p:txBody>
      </p:sp>
      <p:pic>
        <p:nvPicPr>
          <p:cNvPr id="30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关系三 · 工具（辨析与练习）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工具：with 问「用什么」，by 问「谁做的」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一个问手段，一个问执行者——方向完全不同。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828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易混辨析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" y="2084832"/>
            <a:ext cx="5056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21284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was written with a pen.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0704" y="2505456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它是用钢笔写的。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0704" y="2761488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侧重：with 补的是工具——用什么写的。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" y="3657600"/>
            <a:ext cx="5056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378561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was written by Tom.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60704" y="4078224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这是汤姆写的。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60704" y="4334256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侧重：by 补的是执行者——谁写的。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" y="523036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结论：同样是被动语态，with 补工具，by 补人。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认一认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084832"/>
            <a:ext cx="4937760" cy="1700784"/>
          </a:xfrm>
          <a:prstGeom prst="roundRect">
            <a:avLst>
              <a:gd name="adj" fmla="val 3226"/>
            </a:avLst>
          </a:prstGeom>
          <a:solidFill>
            <a:srgbClr val="E9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2194560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greeted her with a warm hug.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56832" y="2688336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问：完成「迎接」用的是什么工具？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56832" y="2962656"/>
            <a:ext cx="4608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工具是 a warm hug：拥抱是他完成迎接这个动作所借助的手段。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40050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再练三句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242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 explained the rule with pictures.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45354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她用图片解释了这条规则。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 fixed the chair with tape.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50657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他用胶带把椅子修好了。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303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They celebrated with a big dinner.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55961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他们用一顿丰盛的晚餐来庆祝。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小结：动作在发生，借助某种手段完成——手段可以是物、方法、语言或动作。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2354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1150" dirty="0"/>
          </a:p>
        </p:txBody>
      </p:sp>
      <p:pic>
        <p:nvPicPr>
          <p:cNvPr id="34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关系四 · 面对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面对：你和这件事，进入必须处理的关系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前三种是把两样东西粘在一起，这一种是把你和问题连起来。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865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核心画面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2139696"/>
            <a:ext cx="4910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有些事你解决不了，只能面对、处理、应付——两方都真实存在，谁也没有消失。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30723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英语怎么说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0976" y="3328416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Deal with it.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3749040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去处理它、去面对它。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4133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 with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4389120"/>
            <a:ext cx="4910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solve 和 deal with 不是一个层次：现实里很多事情根本解决不掉，你只能面对。deal with 说的正是这种「进入关系」的动作。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18653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同一关系，更多例句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139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done with this.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4505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我受够了（重点是关系结束，不是任务完成）。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28163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What's wrong with you?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1272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你怎么了（问你和正常状态之间出了什么问题）。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34930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with it.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38039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接受现实（事情没消失，你选择和它共存）。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4169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 is dealing with a lot right now.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44805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她现在要应对很多事情。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4956048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E9F2F0"/>
          </a:solidFill>
          <a:ln/>
        </p:spPr>
      </p:sp>
      <p:sp>
        <p:nvSpPr>
          <p:cNvPr id="25" name="Text 23"/>
          <p:cNvSpPr/>
          <p:nvPr/>
        </p:nvSpPr>
        <p:spPr>
          <a:xfrm>
            <a:off x="6656832" y="5065776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这几句都在描述双向的接触关系：你进入关系，对象也在关系里，两方都真实存在。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 with，先问：我现在和什么事情发生了关系？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2354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自问 → 关系 → 意思</a:t>
            </a:r>
            <a:endParaRPr lang="en-US" sz="1150" dirty="0"/>
          </a:p>
        </p:txBody>
      </p:sp>
      <p:pic>
        <p:nvPicPr>
          <p:cNvPr id="30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关系四 · 面对（辨析与练习）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面对：talk to 是独白，talk with 是对话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一字之差，从单向通知变成双向协商。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828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易混辨析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" y="2084832"/>
            <a:ext cx="5056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21284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 me talk to the manager.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0704" y="2505456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我去跟经理说一声。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0704" y="2761488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侧重：单向——我在说话，你不一定回应，是通知。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" y="3657600"/>
            <a:ext cx="5056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378561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 me talk with the manager.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60704" y="4078224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我去和经理谈一谈。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60704" y="4334256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侧重：双向——有来有往，是协商。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" y="523036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结论：to 指向一个方向，with 建立一段关系。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认一认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084832"/>
            <a:ext cx="4937760" cy="1700784"/>
          </a:xfrm>
          <a:prstGeom prst="roundRect">
            <a:avLst>
              <a:gd name="adj" fmla="val 3226"/>
            </a:avLst>
          </a:prstGeom>
          <a:solidFill>
            <a:srgbClr val="E9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2194560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He's dealing with a difficult situation.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56832" y="2688336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问：他进入了和什么的关系？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56832" y="2962656"/>
            <a:ext cx="4608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他进入了和 a difficult situation 的关系：处境在那里，他在面对，双方都在场。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40050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再练三句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242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need to deal with this problem.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45354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我需要处理这个问题。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Stop arguing with me.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50657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别跟我争了（争论是双向的）。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303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 is struggling with her homework.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55961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她在为作业苦苦挣扎。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小结：谁进入了和什么的关系——两方都在场，才是面对型 with。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2354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1150" dirty="0"/>
          </a:p>
        </p:txBody>
      </p:sp>
      <p:pic>
        <p:nvPicPr>
          <p:cNvPr id="34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关系五 · 状态指向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状态指向：你的情绪，落在谁身上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不是动作、不是工具、也不是伴随，而是状态指向一个对象。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865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核心画面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2139696"/>
            <a:ext cx="4910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情绪或态度总有一个落点：满意、厌倦、失望、不舒服——with 告诉你它指向了谁。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30723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英语怎么说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0976" y="3328416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happy with it.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3749040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我对它感到满意。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4133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 with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4389120"/>
            <a:ext cx="4910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happy about 是「因为某件事开心」，happy with 是「对某个东西满意」：一个是情绪来源，一个是情绪对象，差别很大。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18653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同一关系，更多例句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1396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bored with this.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4505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我对这件事感到厌倦了。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28163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Are you satisfied with your score?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1272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你对你的分数满意吗？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34930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not comfortable with this decision.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38039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我对这个决定感到不舒服。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4169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angry with you.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2240" y="44805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我生你的气（情绪指向某个人）。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4956048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E9F2F0"/>
          </a:solidFill>
          <a:ln/>
        </p:spPr>
      </p:sp>
      <p:sp>
        <p:nvSpPr>
          <p:cNvPr id="25" name="Text 23"/>
          <p:cNvSpPr/>
          <p:nvPr/>
        </p:nvSpPr>
        <p:spPr>
          <a:xfrm>
            <a:off x="6656832" y="5065776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 angry at the situation：一个词之差，对象完全不同——angry with 指向人，angry at 指向外部处境。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 with，先问：这个状态指向谁？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2354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自问 → 关系 → 意思</a:t>
            </a:r>
            <a:endParaRPr lang="en-US" sz="1150" dirty="0"/>
          </a:p>
        </p:txBody>
      </p:sp>
      <p:pic>
        <p:nvPicPr>
          <p:cNvPr id="30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关系五 · 状态指向（辨析与练习）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状态指向：about 说来源，with 说对象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情绪的来源和对象，是两个不同的位置。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5532120" cy="4114800"/>
          </a:xfrm>
          <a:prstGeom prst="roundRect">
            <a:avLst>
              <a:gd name="adj" fmla="val 133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828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易混辨析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" y="2084832"/>
            <a:ext cx="5056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21284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happy about it.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0704" y="2505456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因为这件事开心。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0704" y="2761488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侧重：about 说明情绪的「来源」。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" y="3657600"/>
            <a:ext cx="50566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3785616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happy with it.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60704" y="4078224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对它感到满意。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60704" y="4334256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85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侧重：with 说明情绪的「对象」。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" y="5230368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结论：来源回答「为什么开心」，对象回答「对什么满意」。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认一认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084832"/>
            <a:ext cx="4937760" cy="1700784"/>
          </a:xfrm>
          <a:prstGeom prst="roundRect">
            <a:avLst>
              <a:gd name="adj" fmla="val 3226"/>
            </a:avLst>
          </a:prstGeom>
          <a:solidFill>
            <a:srgbClr val="E9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2194560"/>
            <a:ext cx="4608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He's disappointed with his grade.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56832" y="2688336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问：这份失望指向了什么？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56832" y="2962656"/>
            <a:ext cx="4608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5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失望指向 his grade：情绪的方向落在了成绩这件事上。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40050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再练三句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242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Are you pleased with the plan?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45354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你对这个计划满意吗？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773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bored with the same routine.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50657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我厌倦了同样的日常。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303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angry at the situation.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55961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我对这个处境感到愤怒（指向外部处境）。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小结：不要翻译成「和」，要问——这个状态指向谁。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2354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1150" dirty="0"/>
          </a:p>
        </p:txBody>
      </p:sp>
      <p:pic>
        <p:nvPicPr>
          <p:cNvPr id="34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6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速查 · 一页带走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五种关系速查表：一张表看懂 with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555480" y="658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· 五种底层关系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44200" y="329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每一种关系都对应一个自问句和一句锚点例句，看到 with 先做判断。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4572000"/>
                <a:gridCol w="22219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判断自问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典型例句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参考中文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6F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附着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4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什么东西附着在谁身上？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5A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 was soaked with rain.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他被雨水浸透了。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6F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携带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4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谁在动，带着什么？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5A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She came with her sister.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她带着姐姐一起来了。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6F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4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这个动作靠什么完成？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5A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Cut it with a knife.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用刀切。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6F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4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我和什么发生了关系？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5A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Deal with it.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去处理它、面对它。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6F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状态指向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4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这个状态指向谁？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85A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I'm happy with it.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我对它感到满意。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998464"/>
            <a:ext cx="10908792" cy="548640"/>
          </a:xfrm>
          <a:prstGeom prst="roundRect">
            <a:avLst>
              <a:gd name="adj" fmla="val 8333"/>
            </a:avLst>
          </a:prstGeom>
          <a:solidFill>
            <a:srgbClr val="16283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61356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603504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一句话原则：with 从来不是「和」，它在建立关系。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464040" y="6035040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关系看懂，意思自出</a:t>
            </a:r>
            <a:endParaRPr lang="en-US" sz="1150" dirty="0"/>
          </a:p>
        </p:txBody>
      </p:sp>
      <p:pic>
        <p:nvPicPr>
          <p:cNvPr id="16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08960" y="4892040"/>
            <a:ext cx="5120640" cy="5120640"/>
          </a:xfrm>
          <a:prstGeom prst="ellipse">
            <a:avLst/>
          </a:prstGeom>
          <a:solidFill>
            <a:srgbClr val="1C4B47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 · 学习方法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170432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 with，先问它在建立什么关系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不是记住它的中文意思，而是理解它的逻辑。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3291840" cy="1737360"/>
          </a:xfrm>
          <a:prstGeom prst="roundRect">
            <a:avLst>
              <a:gd name="adj" fmla="val 3158"/>
            </a:avLst>
          </a:prstGeom>
          <a:solidFill>
            <a:srgbClr val="1B2F4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1693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9344" y="2916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看清场景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33649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别急着翻译：先想这句话在描述什么画面。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0832" y="2697480"/>
            <a:ext cx="3291840" cy="1737360"/>
          </a:xfrm>
          <a:prstGeom prst="roundRect">
            <a:avLst>
              <a:gd name="adj" fmla="val 3158"/>
            </a:avLst>
          </a:prstGeom>
          <a:solidFill>
            <a:srgbClr val="1B2F4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91693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5776" y="2916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问对问题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33649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附着、携带、工具、面对、状态指向——是哪一种？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27264" y="2697480"/>
            <a:ext cx="3291840" cy="1737360"/>
          </a:xfrm>
          <a:prstGeom prst="roundRect">
            <a:avLst>
              <a:gd name="adj" fmla="val 3158"/>
            </a:avLst>
          </a:prstGeom>
          <a:solidFill>
            <a:srgbClr val="1B2F4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291693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22208" y="2916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直接理解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101584" y="33649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关系读懂了，意思自然出来，不必找中文对应词。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10360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7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附着 · 携带 · 工具 · 面对 · 状态指向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14400" y="5394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9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把五种关系练成习惯，with 就不再需要翻译。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E8F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英语介词精讲 · with 的五种底层关系</a:t>
            </a:r>
            <a:endParaRPr lang="en-US" sz="1050" dirty="0"/>
          </a:p>
        </p:txBody>
      </p:sp>
      <p:pic>
        <p:nvPicPr>
          <p:cNvPr id="21" name="PPTClaw Watermark 1"/>
          <p:cNvPicPr>
            <a:picLocks noChangeAspect="1"/>
          </p:cNvPicPr>
          <p:nvPr/>
        </p:nvPicPr>
        <p:blipFill>
          <a:blip r:embed="rIdWm1"/>
          <a:stretch>
            <a:fillRect/>
          </a:stretch>
        </p:blipFill>
        <p:spPr>
          <a:xfrm>
            <a:off x="10982294" y="6446520"/>
            <a:ext cx="1141126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with 到底是什么意思？五种底层逻辑，一次讲透</dc:title>
  <dc:subject>英语介词 with 的五种底层关系</dc:subject>
  <dc:creator>PPTClaw</dc:creator>
  <cp:lastModifiedBy>PPTClaw</cp:lastModifiedBy>
  <cp:revision>1</cp:revision>
  <dcterms:created xsi:type="dcterms:W3CDTF">2026-10-09T06:10:23Z</dcterms:created>
  <dcterms:modified xsi:type="dcterms:W3CDTF">2026-10-09T06:10:23Z</dcterms:modified>
</cp:coreProperties>
</file>