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整理要解决的问题很具体：不是第一句怎么说，而是第一句说完了，下一句怎么办。我们把一份口语教学逐字稿里的八个开头，拆成可以直接拿出来用的小骨架——熟的不是整句话，而是把第二句带出来的那一小块。十六页里，我们先看卡在哪里，再把八个骨架按功能分成四类逐个讲，最后放进三个真实场景演练，关键处我都会标出逐字稿的时间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先看卡点在哪。逐字稿开头 00:00 就说得很清楚：很多人说英语时卡住，不是第一句不会说，而是第一句说完，下一句又得重新从零开始想。左边那句 i don't wanna go 本身完全没问题，难点是接下来的「然后呢」。右边这两步就是卡住的现场：中间空着一句「然后呢」，两边接不上，于是每接一句都要重新组织，认知负担全压在这一步上。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既然卡点不在词汇量，练习的单位就要换。00:37 到 00:41 的判断是：不用背整句话，真正要熟的是前面那一小块开头，熟到需要的时候它能很快出来。所以练的是骨架加上你当下的真实内容。右边三步是具体的练法：先挑一个骨架，再把骨架和真实内容拼起来，最后在同一个场景里反复替换后半句——下半句换了，处理的问题也就跟着变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个骨架按「你想接着处理什么」分成四类：打开并补充情况、修正与澄清自己刚说的话、交代事情的经过、以及连接与收束。分类比背诵顺序更重要，因为真实对话里你先有要处理的问题，才决定调出哪个开头。先记住这四类，八个句子就各有位置了：第一类只有一个，第二类两个，第三类三个，第四类两个，加起来正好八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第一个骨架 the thing is，功能是把话打开、补一层背景。要注意它不等于 the problem is：逐字稿 00:16 里的例子，后面接的可以是我很累、我还不确定、我其实挺喜欢这里，范围比「有问题」宽得多。所以它更像「事情是这样」的开口。真正要明确指出问题的时候，可以说 the problem is we're out of time。左边这三个拼法就是最常见的用法。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 what i mean is，是让你边说边修正。人说话本来就不会每次一次说准，01:45 提到：你可能刚说了一句友好的话，说完自己觉得有点重。这时候不用把第一句收回去重说，直接接 what i mean is，把话往回收一点。口语里也常缩成 i mean，比如 i mean we could wait。它最大的价值就是让第一句没说到点上时，后面还有机会调整。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 it's not that，处理的是「怕对方听错方向」。02:42 到 03:03 说得很明白：它不是复杂版的 because，多出来的那一层是态度——先把对方可能产生的误会排掉，再说真正的原因。it's not that i'm busy, i'm just tired，先说不是嫌忙，再说只是累。这样对方接收到的信息很不一样：他知道你否定的不是他，而是那个误会。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把前三句放在一起看就清楚了，03:24 的总结是：它们都是第二句话，但方向不一样。the thing is 处理的是缺一层背景，what i mean is 处理的是刚说偏了要往回收，it's not that 处理的是怕被误解。所以选哪个开头，取决于你当下要解决哪一种麻烦，而不是哪一句听起来更高级。选错了方向，句子再对也会让人觉得别扭。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接下来从「我怎么想」转到「事情怎么发生」。what happened was 专门用来交代经过，04:06 说：听到这个开头，对方基本就知道，好，你要继续往下讲了。它特别适合迟到、误会、计划突然改变，或者眼前已经有一个结果、想把中间那段补出来。也要注意分寸：如果对方只是问 were you late，回答 i missed my train 就够了，需要补过程时才用这个开头。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ended up 负责把结果归结出来，它看的是「事情最后走到了哪里」。04:49 的例子很好记：我本来准备做饭，结果最后点了披萨；本来只喝一杯，结果待了好几个小时。它和 finally 的区别在 05:23 讲得很清楚：finally 看的是「终于」，end up 看的是最后变成了什么。所以 i ended up doing it myself 的重点不是等了多久，而是事情最后落到我身上。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out 补的是「后来才发现的信息」。结果已经出来了，你又知道了一件当时不知道的事，就用它。最自然的搭配是 i thought A, turns out B：我以为他是新来的，结果他是经理；我以为很贵，结果免费。它也可以接 turns out to be 加名词或形容词。和 end up 放在一起特别好分：end up 是事情最后变成什么，turns out 是后来才发现什么。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把三个叙述型骨架接起来，一段经历就讲完了。逐字稿 06:42 的例子是：what happened was a friend told me about a job，i ended up applying，turns out it was perfect for me。06:54 的三个问题正好对应这三步——事情怎么开始的？最后做了什么？后来又发现了什么？你不需要背整段，只要按这三个位置把信息填进去，话自然就顺下来了。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why 解决的是另一种卡顿：不是没话说，而是两句话之间没连起来。i was tired, i left early 是两句独立的话；加上 which is why，前一句就变成了后一句的原因。07:54 提到，that's why 很自然，也很适合直接接下一句；which is why 则更强调把前面的信息直接连到结果上。07:59 那句话值得记住：英语听起来一节一节，往往不是句子太难，而是句子之间还没连起来。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最后一个骨架 the point is，负责把重点收回来。前面已经说了一些，它会把真正重要的东西重新拉回来：the point is we don't have to decide now，意思是前面聊了这么多，真正重要的是这一点。08:53 的提醒很好用：the thing is 把话打开，the point is 把重点收回来，所以第一个和最后一个骨架刚好可以放在一起，一个负责开头，一个负责收尾。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现在放进真实场景。朋友约你晚上出去，你其实想去，只是第二天六点要起床：可以先说 i'd love to come，再用 the thing is 接上要早起；换个骨架，同样的意思就变成 it's not that i don't want to come, i'm just exhausted。同一件事，你处理的问题变了，听感也变了。第二张卡是计划被临时改变，第三张卡是没回消息——两句话你本来都会，缺的只是它们之间的关系。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最后回到方法。这八个开头真正要练的，不是看到中文能不能背出英文句子，而是说完第一句以后，不用每次都重新从零开始——先把一个熟悉的开头调出来，后面再换成你真正想说的话。10:52 说得很直接：练的是前面那一小块，熟到需要的时候它能很快出来。建议你挑一个最常见的场景，只练一个骨架，反复替换后半句，等它变成条件反射，再换下一个。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Wm1" Type="http://schemas.openxmlformats.org/officeDocument/2006/relationships/image" Target="../media/pptclaw-watermark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Wm1" Type="http://schemas.openxmlformats.org/officeDocument/2006/relationships/image" Target="../media/pptclaw-watermark-86ccddc37a0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Wm1" Type="http://schemas.openxmlformats.org/officeDocument/2006/relationships/image" Target="../media/pptclaw-watermark-86ccddc37a0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Wm1" Type="http://schemas.openxmlformats.org/officeDocument/2006/relationships/image" Target="../media/pptclaw-watermark-86ccddc37a0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Relationship Id="rIdWm1" Type="http://schemas.openxmlformats.org/officeDocument/2006/relationships/image" Target="../media/pptclaw-watermark-86ccddc37a0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Wm1" Type="http://schemas.openxmlformats.org/officeDocument/2006/relationships/image" Target="../media/pptclaw-watermark-86ccddc37a0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Relationship Id="rIdWm1" Type="http://schemas.openxmlformats.org/officeDocument/2006/relationships/image" Target="../media/pptclaw-watermark-86ccddc37a0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Wm1" Type="http://schemas.openxmlformats.org/officeDocument/2006/relationships/image" Target="../media/pptclaw-watermark-86ccddc37a0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Relationship Id="rIdWm1" Type="http://schemas.openxmlformats.org/officeDocument/2006/relationships/image" Target="../media/pptclaw-watermark-86ccddc37a0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Relationship Id="rIdWm1" Type="http://schemas.openxmlformats.org/officeDocument/2006/relationships/image" Target="../media/pptclaw-watermark-86ccddc37a0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Relationship Id="rIdWm1" Type="http://schemas.openxmlformats.org/officeDocument/2006/relationships/image" Target="../media/pptclaw-watermark-86ccddc37a0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Wm1" Type="http://schemas.openxmlformats.org/officeDocument/2006/relationships/image" Target="../media/pptclaw-watermark-86ccddc37a0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Wm1" Type="http://schemas.openxmlformats.org/officeDocument/2006/relationships/image" Target="../media/pptclaw-watermark-86ccddc37a0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Relationship Id="rIdWm1" Type="http://schemas.openxmlformats.org/officeDocument/2006/relationships/image" Target="../media/pptclaw-watermark-86ccddc37a0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Wm1" Type="http://schemas.openxmlformats.org/officeDocument/2006/relationships/image" Target="../media/pptclaw-watermark-86ccddc37a0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Wm1" Type="http://schemas.openxmlformats.org/officeDocument/2006/relationships/image" Target="../media/pptclaw-watermar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45720"/>
            <a:ext cx="3931920" cy="6949440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3" name="Shape 1"/>
          <p:cNvSpPr/>
          <p:nvPr/>
        </p:nvSpPr>
        <p:spPr>
          <a:xfrm>
            <a:off x="8631936" y="-45720"/>
            <a:ext cx="109728" cy="694944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4" name="Shape 2"/>
          <p:cNvSpPr/>
          <p:nvPr/>
        </p:nvSpPr>
        <p:spPr>
          <a:xfrm>
            <a:off x="9189720" y="658368"/>
            <a:ext cx="1371600" cy="1371600"/>
          </a:xfrm>
          <a:prstGeom prst="ellipse">
            <a:avLst/>
          </a:prstGeom>
          <a:solidFill>
            <a:srgbClr val="FCE7E1"/>
          </a:solidFill>
          <a:ln/>
        </p:spPr>
      </p:sp>
      <p:pic>
        <p:nvPicPr>
          <p:cNvPr id="5" name="Image 0" descr="对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1155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9680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800" dirty="0"/>
          </a:p>
        </p:txBody>
      </p:sp>
      <p:sp>
        <p:nvSpPr>
          <p:cNvPr id="7" name="Text 4"/>
          <p:cNvSpPr/>
          <p:nvPr/>
        </p:nvSpPr>
        <p:spPr>
          <a:xfrm>
            <a:off x="886968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个口语骨架</a:t>
            </a:r>
            <a:endParaRPr lang="en-US" sz="1900" dirty="0"/>
          </a:p>
        </p:txBody>
      </p:sp>
      <p:pic>
        <p:nvPicPr>
          <p:cNvPr id="8" name="Image 1" descr="口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6926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91440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40" kern="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英语口语 · 第二句的连接方式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157276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别在第二句停住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658368" y="26151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个口语骨架，让下一句不用从零开始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58368" y="3310128"/>
            <a:ext cx="2743200" cy="41148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358444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第一句话说完之后，难的不是语法，而是「然后呢」。这里把一份口语逐字稿里的八个开头拆成骨架，需要的时候直接调出来，后面的内容再换成你真正想说的话。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58368" y="489204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15" name="Text 11"/>
          <p:cNvSpPr/>
          <p:nvPr/>
        </p:nvSpPr>
        <p:spPr>
          <a:xfrm>
            <a:off x="658368" y="48920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478024" y="489204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17" name="Text 13"/>
          <p:cNvSpPr/>
          <p:nvPr/>
        </p:nvSpPr>
        <p:spPr>
          <a:xfrm>
            <a:off x="2478024" y="48920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97680" y="489204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19" name="Text 15"/>
          <p:cNvSpPr/>
          <p:nvPr/>
        </p:nvSpPr>
        <p:spPr>
          <a:xfrm>
            <a:off x="4297680" y="48920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17336" y="489204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21" name="Text 17"/>
          <p:cNvSpPr/>
          <p:nvPr/>
        </p:nvSpPr>
        <p:spPr>
          <a:xfrm>
            <a:off x="6117336" y="48920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8368" y="5852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基于口语教学逐字稿整理 · 8 个句型 · 含时间轴引用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69480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2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现象 · 卡点在哪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卡住的不是第一句，是第二句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逐字稿开头就点明了这个位置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6035040" cy="3566160"/>
          </a:xfrm>
          <a:prstGeom prst="roundRect">
            <a:avLst>
              <a:gd name="adj" fmla="val 2308"/>
            </a:avLst>
          </a:prstGeom>
          <a:solidFill>
            <a:srgbClr val="F3F5FA"/>
          </a:solidFill>
          <a:ln/>
        </p:spPr>
      </p:sp>
      <p:pic>
        <p:nvPicPr>
          <p:cNvPr id="8" name="Image 0" descr="引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99923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很多人说英语时卡住不是第一句不会说，而是第一句说完，下一句又得重新从零开始想。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32688" y="4572000"/>
            <a:ext cx="1463040" cy="18288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同一件事、同样的词汇量，卡点只发生在句子与句子之间。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2688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口语逐字稿 00:00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69480" y="2240280"/>
            <a:ext cx="4261104" cy="868680"/>
          </a:xfrm>
          <a:prstGeom prst="roundRect">
            <a:avLst>
              <a:gd name="adj" fmla="val 9474"/>
            </a:avLst>
          </a:prstGeom>
          <a:solidFill>
            <a:srgbClr val="DCF3EF"/>
          </a:solidFill>
          <a:ln/>
        </p:spPr>
      </p:sp>
      <p:pic>
        <p:nvPicPr>
          <p:cNvPr id="14" name="Image 1" descr="没问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46888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74152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don't wanna go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074152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这句完全没问题</a:t>
            </a:r>
            <a:endParaRPr lang="en-US" sz="1150" dirty="0"/>
          </a:p>
        </p:txBody>
      </p:sp>
      <p:pic>
        <p:nvPicPr>
          <p:cNvPr id="17" name="Image 2" descr="然后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6" y="32186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3602736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然后呢？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7269480" y="4096512"/>
            <a:ext cx="4261104" cy="868680"/>
          </a:xfrm>
          <a:prstGeom prst="roundRect">
            <a:avLst>
              <a:gd name="adj" fmla="val 9474"/>
            </a:avLst>
          </a:prstGeom>
          <a:solidFill>
            <a:srgbClr val="FCE7E1"/>
          </a:solidFill>
          <a:ln/>
        </p:spPr>
      </p:sp>
      <p:pic>
        <p:nvPicPr>
          <p:cNvPr id="20" name="Image 3" descr="卡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43159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74152" y="4233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从零重新想一句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74152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每接一句都要重新组织语法与内容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269480" y="513892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真正要解决的，是给「下一句」准备一个现成的接口。</a:t>
            </a:r>
            <a:endParaRPr lang="en-US" sz="1300" dirty="0"/>
          </a:p>
        </p:txBody>
      </p:sp>
      <p:pic>
        <p:nvPicPr>
          <p:cNvPr id="2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· 练什么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真正要熟的是「前面那一小块」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不用背整句话，只练把第二句带出来的那个开头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121408"/>
            <a:ext cx="4754880" cy="3611880"/>
          </a:xfrm>
          <a:prstGeom prst="roundRect">
            <a:avLst>
              <a:gd name="adj" fmla="val 2278"/>
            </a:avLst>
          </a:prstGeom>
          <a:solidFill>
            <a:srgbClr val="121B2E"/>
          </a:solidFill>
          <a:ln/>
        </p:spPr>
      </p:sp>
      <p:pic>
        <p:nvPicPr>
          <p:cNvPr id="8" name="Image 0" descr="引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98094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真正要熟的是前面那一小块，熟到需要的时候，它能很快出来。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32688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今天就练八个这样的开头，不用背整句话。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" y="4773168"/>
            <a:ext cx="1463040" cy="18288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4956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口语逐字稿 00:37 / 00:41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2688" y="5349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练习单位：骨架 + 你的内容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06440" y="2157984"/>
            <a:ext cx="566928" cy="566928"/>
          </a:xfrm>
          <a:prstGeom prst="ellipse">
            <a:avLst/>
          </a:prstGeom>
          <a:solidFill>
            <a:srgbClr val="F3F5FA"/>
          </a:solidFill>
          <a:ln/>
        </p:spPr>
      </p:sp>
      <p:pic>
        <p:nvPicPr>
          <p:cNvPr id="15" name="Image 1" descr="挑一个骨架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9514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21214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挑一个骨架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37960" y="25420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the thing is、turns out 这类开头单独拿出来练，而不是练一整句台词。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3163824"/>
            <a:ext cx="4983480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19" name="Shape 15"/>
          <p:cNvSpPr/>
          <p:nvPr/>
        </p:nvSpPr>
        <p:spPr>
          <a:xfrm>
            <a:off x="5806440" y="3364992"/>
            <a:ext cx="566928" cy="566928"/>
          </a:xfrm>
          <a:prstGeom prst="ellipse">
            <a:avLst/>
          </a:prstGeom>
          <a:solidFill>
            <a:srgbClr val="F3F5FA"/>
          </a:solidFill>
          <a:ln/>
        </p:spPr>
      </p:sp>
      <p:pic>
        <p:nvPicPr>
          <p:cNvPr id="20" name="Image 2" descr="把骨架和真实内容拼起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50215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33284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把骨架和真实内容拼起来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37960" y="37490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后半句由场景决定：i'm exhausted、i need more time、i missed my train。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537960" y="4370832"/>
            <a:ext cx="4983480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24" name="Shape 19"/>
          <p:cNvSpPr/>
          <p:nvPr/>
        </p:nvSpPr>
        <p:spPr>
          <a:xfrm>
            <a:off x="5806440" y="4572000"/>
            <a:ext cx="566928" cy="566928"/>
          </a:xfrm>
          <a:prstGeom prst="ellipse">
            <a:avLst/>
          </a:prstGeom>
          <a:solidFill>
            <a:srgbClr val="F3F5FA"/>
          </a:solidFill>
          <a:ln/>
        </p:spPr>
      </p:sp>
      <p:pic>
        <p:nvPicPr>
          <p:cNvPr id="25" name="Image 3" descr="在同一场景反复替换后半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0916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37960" y="45354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在同一场景反复替换后半句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37960" y="49560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同一件事换个骨架，处理的问题就变了——这正是熟练的标志。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58368" y="5870448"/>
            <a:ext cx="10872216" cy="658368"/>
          </a:xfrm>
          <a:prstGeom prst="roundRect">
            <a:avLst>
              <a:gd name="adj" fmla="val 12500"/>
            </a:avLst>
          </a:prstGeom>
          <a:solidFill>
            <a:srgbClr val="F3F5FA"/>
          </a:solidFill>
          <a:ln/>
        </p:spPr>
      </p:sp>
      <p:sp>
        <p:nvSpPr>
          <p:cNvPr id="29" name="Text 23"/>
          <p:cNvSpPr/>
          <p:nvPr/>
        </p:nvSpPr>
        <p:spPr>
          <a:xfrm>
            <a:off x="950976" y="587044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背整句</a:t>
            </a:r>
            <a:pPr indent="0" marL="0">
              <a:buNone/>
            </a:pPr>
            <a:r>
              <a:rPr lang="en-US" sz="13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忘记一个词就整段断掉　｜　</a:t>
            </a:r>
            <a:pPr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熟骨架</a:t>
            </a:r>
            <a:pPr indent="0" marL="0">
              <a:buNone/>
            </a:pPr>
            <a:r>
              <a:rPr lang="en-US" sz="13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后半句随时换成你真正想说的话</a:t>
            </a:r>
            <a:endParaRPr lang="en-US" sz="13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全景 · 八个骨架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八个骨架，四种方向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按「你想接着处理什么」分类，比按顺序背更好记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2624328" cy="566928"/>
          </a:xfrm>
          <a:prstGeom prst="roundRect">
            <a:avLst>
              <a:gd name="adj" fmla="val 14516"/>
            </a:avLst>
          </a:prstGeom>
          <a:solidFill>
            <a:srgbClr val="FCE7E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16736" y="208483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补充情况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276148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F25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797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把话打开，补背景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10712" y="2084832"/>
            <a:ext cx="2624328" cy="566928"/>
          </a:xfrm>
          <a:prstGeom prst="roundRect">
            <a:avLst>
              <a:gd name="adj" fmla="val 14516"/>
            </a:avLst>
          </a:prstGeom>
          <a:solidFill>
            <a:srgbClr val="DCF3EF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208483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修正澄清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410712" y="276148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27797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边说边往回收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410712" y="358444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36027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that…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先排掉误会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63056" y="2084832"/>
            <a:ext cx="2624328" cy="566928"/>
          </a:xfrm>
          <a:prstGeom prst="roundRect">
            <a:avLst>
              <a:gd name="adj" fmla="val 14516"/>
            </a:avLst>
          </a:prstGeom>
          <a:solidFill>
            <a:srgbClr val="E5E8F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21424" y="208483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交代经过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163056" y="276148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5A6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7797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补出中间过程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63056" y="358444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5A6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6027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归结最后结果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63056" y="440740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5A6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42569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后来才发现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915400" y="2084832"/>
            <a:ext cx="2624328" cy="566928"/>
          </a:xfrm>
          <a:prstGeom prst="roundRect">
            <a:avLst>
              <a:gd name="adj" fmla="val 14516"/>
            </a:avLst>
          </a:prstGeom>
          <a:solidFill>
            <a:srgbClr val="FBEFDB"/>
          </a:solidFill>
          <a:ln/>
        </p:spPr>
      </p:sp>
      <p:sp>
        <p:nvSpPr>
          <p:cNvPr id="29" name="Text 27"/>
          <p:cNvSpPr/>
          <p:nvPr/>
        </p:nvSpPr>
        <p:spPr>
          <a:xfrm>
            <a:off x="9061704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73768" y="2084832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连接收束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915400" y="276148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1704" y="27797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把因果连起来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915400" y="3584448"/>
            <a:ext cx="2624328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1704" y="36027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把重点收回来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8368" y="5559552"/>
            <a:ext cx="10872216" cy="676656"/>
          </a:xfrm>
          <a:prstGeom prst="roundRect">
            <a:avLst>
              <a:gd name="adj" fmla="val 12162"/>
            </a:avLst>
          </a:prstGeom>
          <a:solidFill>
            <a:srgbClr val="F3F5F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559552"/>
            <a:ext cx="10872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把话打开</a:t>
            </a:r>
            <a:pPr algn="ctr"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　</a:t>
            </a:r>
            <a:pPr algn="ctr" indent="0" marL="0">
              <a:buNone/>
            </a:pPr>
            <a:r>
              <a:rPr lang="en-US" sz="145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改口说清</a:t>
            </a:r>
            <a:pPr algn="ctr"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　</a:t>
            </a:r>
            <a:pPr algn="ctr" indent="0" marL="0">
              <a:buNone/>
            </a:pPr>
            <a:r>
              <a:rPr lang="en-US" sz="1450" b="1" dirty="0">
                <a:solidFill>
                  <a:srgbClr val="5A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讲清经过</a:t>
            </a:r>
            <a:pPr algn="ctr"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　</a:t>
            </a:r>
            <a:pPr algn="ctr" indent="0" marL="0">
              <a:buNone/>
            </a:pPr>
            <a:r>
              <a:rPr lang="en-US" sz="1450" b="1" dirty="0">
                <a:solidFill>
                  <a:srgbClr val="D9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连上并收回重点</a:t>
            </a:r>
            <a:endParaRPr lang="en-US" sz="1450" dirty="0"/>
          </a:p>
        </p:txBody>
      </p:sp>
      <p:pic>
        <p:nvPicPr>
          <p:cNvPr id="37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01 · 补充情况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把话打开，先补一层背景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25C3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i'm exhausted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25C3D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i'd love to come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25C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actually like it here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补充情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补充理由或当下的状态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说明还没定下来，比如 i'm not sure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先铺一层背景，再谈后面的事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它不等于 the problem is：范围宽得多，只是要补一层情况。真正要指出问题，可以说 the problem is we're out of time。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02 · 修正澄清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第一句没说到点上，后面还有机会修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too soon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need more time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just not for 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修正澄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刚说的话太重或太直接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把话说轻一点、说准一点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边说边调整，不用重来一遍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口语里常缩成 i mean，比如 i mean we could wait。它让你把第一句往回收，而不是把整句话收回去重说。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03 · 修正澄清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that…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先把误会排掉，再说真正的原因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416119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4161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 i'm busy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6823" y="2779776"/>
            <a:ext cx="330802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i'm just tired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607503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607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 she's rude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68207" y="3630168"/>
            <a:ext cx="31166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she's just very direct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0E9F8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 i don't trust him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12464" y="44805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just need more time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修正澄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怕对方听错方向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澄清动机，而不是拒绝对方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先排掉误会，再讲真实原因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它不是复杂版的 because，多出来的是态度这一层：先说不是那样，再说其实是这样，听感完全不同。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 · 前三句的分工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都是第二句话，方向不一样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选哪个开头，取决于你此刻要解决哪种麻烦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139696"/>
            <a:ext cx="3401568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395728"/>
            <a:ext cx="585216" cy="585216"/>
          </a:xfrm>
          <a:prstGeom prst="ellipse">
            <a:avLst/>
          </a:prstGeom>
          <a:solidFill>
            <a:srgbClr val="FCE7E1"/>
          </a:solidFill>
          <a:ln/>
        </p:spPr>
      </p:sp>
      <p:pic>
        <p:nvPicPr>
          <p:cNvPr id="9" name="Image 0" descr="缺一层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3288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31272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32688" y="3675888"/>
            <a:ext cx="2852928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7856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要处理的麻烦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40416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缺一层背景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4553712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is i'm not sure yet（还没定，先把情况补上）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98264" y="2139696"/>
            <a:ext cx="3401568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2584" y="2395728"/>
            <a:ext cx="585216" cy="585216"/>
          </a:xfrm>
          <a:prstGeom prst="ellipse">
            <a:avLst/>
          </a:prstGeom>
          <a:solidFill>
            <a:srgbClr val="DCF3EF"/>
          </a:solidFill>
          <a:ln/>
        </p:spPr>
      </p:sp>
      <p:pic>
        <p:nvPicPr>
          <p:cNvPr id="17" name="Image 1" descr="刚说偏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53288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72584" y="31272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672584" y="3675888"/>
            <a:ext cx="2852928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20" name="Text 16"/>
          <p:cNvSpPr/>
          <p:nvPr/>
        </p:nvSpPr>
        <p:spPr>
          <a:xfrm>
            <a:off x="4672584" y="37856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要处理的麻烦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672584" y="40416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刚说偏了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672584" y="4553712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mean is it's too soon（前一句太直接，往回收一点）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38160" y="2139696"/>
            <a:ext cx="3401568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2395728"/>
            <a:ext cx="585216" cy="585216"/>
          </a:xfrm>
          <a:prstGeom prst="ellipse">
            <a:avLst/>
          </a:prstGeom>
          <a:solidFill>
            <a:srgbClr val="E5E8FB"/>
          </a:solidFill>
          <a:ln/>
        </p:spPr>
      </p:sp>
      <p:pic>
        <p:nvPicPr>
          <p:cNvPr id="25" name="Image 2" descr="怕对方误解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532888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12480" y="31272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that…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8412480" y="3675888"/>
            <a:ext cx="2852928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28" name="Text 23"/>
          <p:cNvSpPr/>
          <p:nvPr/>
        </p:nvSpPr>
        <p:spPr>
          <a:xfrm>
            <a:off x="8412480" y="37856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要处理的麻烦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412480" y="404164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怕对方误解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8412480" y="4553712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that i'm busy i'm just tired（先排掉误会，再说原因）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58368" y="5559552"/>
            <a:ext cx="10872216" cy="676656"/>
          </a:xfrm>
          <a:prstGeom prst="roundRect">
            <a:avLst>
              <a:gd name="adj" fmla="val 12162"/>
            </a:avLst>
          </a:prstGeom>
          <a:solidFill>
            <a:srgbClr val="121B2E"/>
          </a:solidFill>
          <a:ln/>
        </p:spPr>
      </p:sp>
      <p:sp>
        <p:nvSpPr>
          <p:cNvPr id="32" name="Text 27"/>
          <p:cNvSpPr/>
          <p:nvPr/>
        </p:nvSpPr>
        <p:spPr>
          <a:xfrm>
            <a:off x="969264" y="5559552"/>
            <a:ext cx="10250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方向不同，规则一样：</a:t>
            </a:r>
            <a:pPr indent="0" marL="0">
              <a:buNone/>
            </a:pPr>
            <a:r>
              <a:rPr lang="en-US" sz="14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先说那个小开头，再把真正想说的内容接上去。</a:t>
            </a:r>
            <a:endParaRPr lang="en-US" sz="1450" dirty="0"/>
          </a:p>
        </p:txBody>
      </p:sp>
      <p:pic>
        <p:nvPicPr>
          <p:cNvPr id="33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04 · 交代经过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交代经过，对方一听就知道你要往下讲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missed my train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got the time wrong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train got cancelled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交代经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迟到、误会、计划突然改变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已有结果，但中间过程还没说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把对方带进你的叙述里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注意分寸：对方只问 were you late，回答 i missed my train 就够了；需要补中间那段时才用它。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05 · 交代经过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事情最后走到了哪里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pizza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ended up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back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it myself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交代经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归结最后的结局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计划被现实改掉之后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总结一段经历的落点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 finally 的区别：finally 看的是「终于」，end up 看的是最后变成了什么。完整版可以说 i was going to cook but i ended up ordering pizza。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06 · 交代经过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结果出来之后，才知道的那件事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was wrong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already knew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A6BE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free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交代经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补上后来才得到的信息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推翻自己原来的判断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给叙述加一个转折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最自然的搭配是 i thought A, turns out B；也可以接 turns out to be 加名词或形容词。它和 end up 分工很清楚：一个是后来才发现，一个是最后变成了。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 · 三个骨架接一段经历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三段一接，事情就讲完了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事情怎么开始的？最后做了什么？后来又发现了什么？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怎么开始的？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2834640"/>
            <a:ext cx="566928" cy="73152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017520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6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friend told me about a job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3913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一个朋友跟我提了一份工作</a:t>
            </a:r>
            <a:endParaRPr lang="en-US" sz="1200" dirty="0"/>
          </a:p>
        </p:txBody>
      </p:sp>
      <p:pic>
        <p:nvPicPr>
          <p:cNvPr id="12" name="Image 0" descr="接下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496" y="3346704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471416" y="21214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最后做了什么？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71416" y="260604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745736" y="2834640"/>
            <a:ext cx="566928" cy="73152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16" name="Text 13"/>
          <p:cNvSpPr/>
          <p:nvPr/>
        </p:nvSpPr>
        <p:spPr>
          <a:xfrm>
            <a:off x="4745736" y="3017520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45736" y="3913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我最后投了简历</a:t>
            </a:r>
            <a:endParaRPr lang="en-US" sz="1200" dirty="0"/>
          </a:p>
        </p:txBody>
      </p:sp>
      <p:pic>
        <p:nvPicPr>
          <p:cNvPr id="18" name="Image 1" descr="接下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3346704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84464" y="21214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后来发现了什么？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84464" y="2606040"/>
            <a:ext cx="3246120" cy="1783080"/>
          </a:xfrm>
          <a:prstGeom prst="roundRect">
            <a:avLst>
              <a:gd name="adj" fmla="val 4615"/>
            </a:avLst>
          </a:prstGeom>
          <a:solidFill>
            <a:srgbClr val="F3F5FA"/>
          </a:solidFill>
          <a:ln/>
        </p:spPr>
      </p:sp>
      <p:sp>
        <p:nvSpPr>
          <p:cNvPr id="21" name="Shape 17"/>
          <p:cNvSpPr/>
          <p:nvPr/>
        </p:nvSpPr>
        <p:spPr>
          <a:xfrm>
            <a:off x="8558784" y="2834640"/>
            <a:ext cx="566928" cy="73152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2" name="Text 18"/>
          <p:cNvSpPr/>
          <p:nvPr/>
        </p:nvSpPr>
        <p:spPr>
          <a:xfrm>
            <a:off x="8558784" y="3017520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perfect for me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558784" y="39136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后来发现它特别适合我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" y="4754880"/>
            <a:ext cx="10872216" cy="914400"/>
          </a:xfrm>
          <a:prstGeom prst="roundRect">
            <a:avLst>
              <a:gd name="adj" fmla="val 9000"/>
            </a:avLst>
          </a:prstGeom>
          <a:solidFill>
            <a:srgbClr val="121B2E"/>
          </a:solidFill>
          <a:ln/>
        </p:spPr>
      </p:sp>
      <p:sp>
        <p:nvSpPr>
          <p:cNvPr id="25" name="Text 21"/>
          <p:cNvSpPr/>
          <p:nvPr/>
        </p:nvSpPr>
        <p:spPr>
          <a:xfrm>
            <a:off x="969264" y="4901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顺着就讲下来了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969264" y="5193792"/>
            <a:ext cx="10250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先交代经过，再落到结果，最后补上后来才知道的信息——中间不需要重新组织语法。</a:t>
            </a:r>
            <a:endParaRPr lang="en-US" sz="1400" dirty="0"/>
          </a:p>
        </p:txBody>
      </p:sp>
      <p:pic>
        <p:nvPicPr>
          <p:cNvPr id="27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D9922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07 · 连接收束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把前面的信息直接连到结果上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607503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607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was tired which is why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68207" y="2779776"/>
            <a:ext cx="31166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left early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were late which is why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12464" y="363016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took a cab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phone died which is why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12464" y="44805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didn't call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连接收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两句话之间缺一层关系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补上没说的原因和结果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让叙述听起来连贯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很自然，适合直接接下一句；which is why 更强调把前面的信息连到结果上。英语听起来一节一节，往往不是句子太难，而是句子之间还没连起来。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D9922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08 · 连接收束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前面说了很多，把重点重新拉回来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 ＋ 你的内容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9864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63824" y="2779776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still have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74904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6301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knew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4599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9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94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3824" y="4480560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have to decide now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93268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F3F5FA"/>
          </a:solidFill>
          <a:ln/>
        </p:spPr>
      </p:sp>
      <p:pic>
        <p:nvPicPr>
          <p:cNvPr id="19" name="Image 0" descr="连接收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1097280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91272" y="1060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什么时候用</a:t>
            </a:r>
            <a:endParaRPr lang="en-US" sz="1350" dirty="0"/>
          </a:p>
        </p:txBody>
      </p:sp>
      <p:pic>
        <p:nvPicPr>
          <p:cNvPr id="21" name="Image 1" descr="要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1636776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8181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对话需要收束的时候</a:t>
            </a:r>
            <a:endParaRPr lang="en-US" sz="1250" dirty="0"/>
          </a:p>
        </p:txBody>
      </p:sp>
      <p:pic>
        <p:nvPicPr>
          <p:cNvPr id="23" name="Image 2" descr="要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112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把话题拉回真正重要的那一点</a:t>
            </a:r>
            <a:endParaRPr lang="en-US" sz="1250" dirty="0"/>
          </a:p>
        </p:txBody>
      </p:sp>
      <p:pic>
        <p:nvPicPr>
          <p:cNvPr id="25" name="Image 3" descr="要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877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表明态度，给一个结论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3264408"/>
            <a:ext cx="4261104" cy="2148840"/>
          </a:xfrm>
          <a:prstGeom prst="roundRect">
            <a:avLst>
              <a:gd name="adj" fmla="val 3830"/>
            </a:avLst>
          </a:prstGeom>
          <a:solidFill>
            <a:srgbClr val="121B2E"/>
          </a:solidFill>
          <a:ln/>
        </p:spPr>
      </p:sp>
      <p:pic>
        <p:nvPicPr>
          <p:cNvPr id="28" name="Image 4" descr="提醒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42900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91272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注意与对比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488936" y="3858768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它和第一个骨架刚好呼应：the thing is 把话打开，the point is 把重点收回来。所以第一句和最后一句可以放在一起用。</a:t>
            </a:r>
            <a:endParaRPr lang="en-US" sz="1250" dirty="0"/>
          </a:p>
        </p:txBody>
      </p:sp>
      <p:pic>
        <p:nvPicPr>
          <p:cNvPr id="3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57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演练 · 放进真实场景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同一件事，换个骨架，处理的问题就变了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朋友约你、临时改计划、被问为什么不回消息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2139696"/>
            <a:ext cx="3566160" cy="362102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395728"/>
            <a:ext cx="530352" cy="530352"/>
          </a:xfrm>
          <a:prstGeom prst="ellipse">
            <a:avLst/>
          </a:prstGeom>
          <a:solidFill>
            <a:srgbClr val="FCE7E1"/>
          </a:solidFill>
          <a:ln/>
        </p:spPr>
      </p:sp>
      <p:pic>
        <p:nvPicPr>
          <p:cNvPr id="9" name="Image 0" descr="朋友约你晚上出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237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239572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朋友约你晚上出去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0540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你其实想去，只是第二天六点要起床。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39136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i'd love to come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" y="4489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have to get up at six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2688" y="50657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 i don't want to come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i'm just exhausted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" y="5559552"/>
            <a:ext cx="3017520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16" name="Shape 13"/>
          <p:cNvSpPr/>
          <p:nvPr/>
        </p:nvSpPr>
        <p:spPr>
          <a:xfrm>
            <a:off x="4315968" y="2139696"/>
            <a:ext cx="3566160" cy="362102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90288" y="2395728"/>
            <a:ext cx="530352" cy="530352"/>
          </a:xfrm>
          <a:prstGeom prst="ellipse">
            <a:avLst/>
          </a:prstGeom>
          <a:solidFill>
            <a:srgbClr val="E5E8FB"/>
          </a:solidFill>
          <a:ln/>
        </p:spPr>
      </p:sp>
      <p:pic>
        <p:nvPicPr>
          <p:cNvPr id="18" name="Image 1" descr="计划被临时改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52374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239572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计划被临时改掉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90288" y="30540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本打算早点回家，结果留在外面待到很晚。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90288" y="39136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some friends showed up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90288" y="4489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staying out late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90288" y="50657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 had the day off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590288" y="5559552"/>
            <a:ext cx="3017520" cy="18288"/>
          </a:xfrm>
          <a:prstGeom prst="rect">
            <a:avLst/>
          </a:prstGeom>
          <a:solidFill>
            <a:srgbClr val="E1E6F0"/>
          </a:solidFill>
          <a:ln/>
        </p:spPr>
      </p:sp>
      <p:sp>
        <p:nvSpPr>
          <p:cNvPr id="25" name="Shape 21"/>
          <p:cNvSpPr/>
          <p:nvPr/>
        </p:nvSpPr>
        <p:spPr>
          <a:xfrm>
            <a:off x="7973568" y="2139696"/>
            <a:ext cx="3566160" cy="362102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47888" y="2395728"/>
            <a:ext cx="530352" cy="530352"/>
          </a:xfrm>
          <a:prstGeom prst="ellipse">
            <a:avLst/>
          </a:prstGeom>
          <a:solidFill>
            <a:srgbClr val="DCF3EF"/>
          </a:solidFill>
          <a:ln/>
        </p:spPr>
      </p:sp>
      <p:pic>
        <p:nvPicPr>
          <p:cNvPr id="27" name="Image 2" descr="被问为什么不回消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52374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887968" y="239572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被问为什么不回消息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247888" y="30540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两句话你本来都会，缺的只是它们之间的关系。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247888" y="39136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phone died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which is why i didn't reply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247888" y="4489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pPr indent="0" marL="0">
              <a:buNone/>
            </a:pPr>
            <a:r>
              <a:rPr lang="en-US" sz="1250" dirty="0">
                <a:solidFill>
                  <a:srgbClr val="12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wasn't ignoring you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247888" y="5559552"/>
            <a:ext cx="3017520" cy="18288"/>
          </a:xfrm>
          <a:prstGeom prst="rect">
            <a:avLst/>
          </a:prstGeom>
          <a:solidFill>
            <a:srgbClr val="E1E6F0"/>
          </a:solidFill>
          <a:ln/>
        </p:spPr>
      </p:sp>
      <p:pic>
        <p:nvPicPr>
          <p:cNvPr id="33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943600"/>
            <a:ext cx="2651760" cy="2651760"/>
          </a:xfrm>
          <a:prstGeom prst="ellipse">
            <a:avLst/>
          </a:prstGeom>
          <a:solidFill>
            <a:srgbClr val="17233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566928"/>
            <a:ext cx="146304" cy="146304"/>
          </a:xfrm>
          <a:prstGeom prst="rect">
            <a:avLst/>
          </a:prstGeom>
          <a:solidFill>
            <a:srgbClr val="F25C3D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457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 · 怎么练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618927" y="6345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先调出骨架，再换成你想说的话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不用按 1 到 8 的顺序背。放进真实场景里，更容易体会什么时候该用哪一个。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2980944"/>
            <a:ext cx="384048" cy="384048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5296" y="29809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挑一个最常见的场景，只练一个骨架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3639312"/>
            <a:ext cx="384048" cy="384048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36393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用你自己的真实内容接上去，说慢一点也没关系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4297680"/>
            <a:ext cx="384048" cy="384048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同一件事换个骨架再说一遍，体会处理方式的变化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956048"/>
            <a:ext cx="384048" cy="384048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25296" y="49560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下次开口前先想「我用哪个开头」，而不是「整句怎么背」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57790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10:52 —— 先把一个熟悉的开头调出来，后面的内容再换成你真正想说的话。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26680" y="25786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25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个骨架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26680" y="2980944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2980944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688068" y="2980944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26" name="Text 24"/>
          <p:cNvSpPr/>
          <p:nvPr/>
        </p:nvSpPr>
        <p:spPr>
          <a:xfrm>
            <a:off x="9688068" y="2980944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mean 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3639312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3639312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that…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688068" y="3639312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30" name="Text 28"/>
          <p:cNvSpPr/>
          <p:nvPr/>
        </p:nvSpPr>
        <p:spPr>
          <a:xfrm>
            <a:off x="9688068" y="3639312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was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26680" y="4297680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429768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ended up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688068" y="4297680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34" name="Text 32"/>
          <p:cNvSpPr/>
          <p:nvPr/>
        </p:nvSpPr>
        <p:spPr>
          <a:xfrm>
            <a:off x="9688068" y="429768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out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726680" y="4956048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4956048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688068" y="4956048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</p:sp>
      <p:sp>
        <p:nvSpPr>
          <p:cNvPr id="38" name="Text 36"/>
          <p:cNvSpPr/>
          <p:nvPr/>
        </p:nvSpPr>
        <p:spPr>
          <a:xfrm>
            <a:off x="9688068" y="4956048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726680" y="5504688"/>
            <a:ext cx="3794760" cy="1078992"/>
          </a:xfrm>
          <a:prstGeom prst="roundRect">
            <a:avLst>
              <a:gd name="adj" fmla="val 7627"/>
            </a:avLst>
          </a:prstGeom>
          <a:solidFill>
            <a:srgbClr val="17233A"/>
          </a:solidFill>
          <a:ln/>
        </p:spPr>
      </p:sp>
      <p:sp>
        <p:nvSpPr>
          <p:cNvPr id="40" name="Text 38"/>
          <p:cNvSpPr/>
          <p:nvPr/>
        </p:nvSpPr>
        <p:spPr>
          <a:xfrm>
            <a:off x="7936992" y="5614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首尾呼应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36992" y="5888736"/>
            <a:ext cx="3374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is 把话打开，the point is 把重点收回来——第一句和最后一句刚好可以放在一起。</a:t>
            </a:r>
            <a:endParaRPr lang="en-US" sz="1200" dirty="0"/>
          </a:p>
        </p:txBody>
      </p:sp>
      <p:pic>
        <p:nvPicPr>
          <p:cNvPr id="42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别在第二句停住：8 个口语骨架</dc:title>
  <dc:subject>英语口语第二句的连接骨架</dc:subject>
  <dc:creator>PPTClaw</dc:creator>
  <cp:lastModifiedBy>PPTClaw</cp:lastModifiedBy>
  <cp:revision>1</cp:revision>
  <dcterms:created xsi:type="dcterms:W3CDTF">2026-10-08T09:13:40Z</dcterms:created>
  <dcterms:modified xsi:type="dcterms:W3CDTF">2026-10-08T09:13:40Z</dcterms:modified>
</cp:coreProperties>
</file>