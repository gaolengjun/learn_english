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33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9382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接下来这十五分钟，我们不背单词表，而是做一件更实用的事：把一段真实英语解说里的高频句式和重点词汇拆成可以反复套用的模板。语料来自上海世界技能博物馆的一段英文解说，全片大约一百三十秒、二十三句话，句子短、重复率高、场景具体，非常适合拿来学结构。整场我们只做两件事：第一，把六个高频句式拆成骨架，并示范怎么换内容举一反三；第二，把十二个核心词汇连音标和释义一起记牢，每一个词都配上语料里的真实搭配。听完之后，你应该能拿着这六个骨架，讲出你自己工作或生活里的故事。</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始之前先讲方法，也就是全场通用的三步拆解法。第一步拆骨架：把专有名词和修饰语全部去掉，只留下句型框架和功能词，比如让步加反问、地点前置、对照并列，这些骨架才是能迁移的部分。第二步换槽位：骨架里用方括号标出来的位置就是槽位，主语、地点、对象、时间都能换，但一次只换一个，先把结构说顺。第三步造三句：同一个骨架连续造三句不同场景的句子，并且一定要说出口、录下来回听，把模板变成条件反射。每个句式我都建议做四个固定动作：抄一遍原句念出重音和连读、写出带方括号的骨架、换主语或地点造两句、再标注一个重点词的音标和搭配。接下来我们把六个句式逐个拆开。</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第一组是开场设问句，出自解说开头第五秒。原句是：You may have been to the history museums, art galleries, and science centers, but have you ever been to a museum that is all about human skills? 中文意思是，你可能去过历史博物馆、美术馆和科技馆，但你有没有去过一座完全关于人类技能的博物馆？这个句子的骨架就是让步加反问：You may have been to A, but have you ever been to B? A 是听众熟悉的事物，用来和听众站在同一边；B 是你真正想介绍的新事物。may have been to 表示也许去过，语气客气，不会让人觉得被冒犯。举一反三的时候，只要把 B 换成工作坊、一座为自行车而建的城市，结构完全不用动。右侧两个词请重点记：gallery 音标 /ˈɡæləri/，名词，意思是美术馆、画廊，常用搭配是 art gallery；ever 音标 /ˈevə(r)/，副词，意思是曾经，固定用来问经历。最后提醒一个常见错误，have you ever been to 问的是去过某个地方，have you ever done 问的是做过某件事，两者不要混用。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第二组是地点强调句，出自第十五秒。原句是：Well, right here in Shanghai, the host city of the upcoming 48th WorldSkills Competition, is the world's only official WorldSkills Museum. 中文是，而在即将举办第四十八届世界技能大赛的主办城市上海，就有全球唯一一座官方世界技能博物馆。它的骨架是地点前置倒装：Right here in 加地点，后面接 is the world's only 加名词。正常语序本来是某地就在这里，把地点提到句首之后，句子的重心就落到了后面的名词上，强调就在我们眼前。这个句式特别适合介绍展馆、学校、赛事这类有唯一性的对象。举一反三时，地点随便换，唯一性表达保持在 the world's only 或者 the country's only 这个位置。词汇方面，host city 音标 /həʊst ˈsɪti/，名词，主办城市、举办城市，比如 the host city of the Games；official 音标 /əˈfɪʃl/，形容词，官方的、正式的，副词形式是 officially。另外口语里句首的 well 只是用来引出新信息，翻译时不必译出，你套用的时候也可以直接省略。</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第三组是对照并列句，出自第三十秒，也是全场最值得背的一类结构。原句是：Its seven metal tracks represent the seven continents, while the rolling metal spheres stand for WorldSkills competition trades. 中文是，它的七条金属轨道代表七大洲，而滚动的金属球则象征着世界技能大赛的各个比赛项目。骨架就是 A represent X, while B stand for Y。请注意 while 在这里不是当什么什么时候，而是表示前后对照，相当于中文里的而；represent 和 stand for 都表示代表、象征，可以根据语体互换。举一反三时，只要保证前后两句形成对照关系，比如红线对蓝圈、木料对打印部件，句子立刻就成立。两个重点词：represent 音标 /ˌreprɪˈzent/，动词，代表象征，也可以指代表国家参赛，重音在最后一个音节，千万不要读成前面重音；stand for 音标 /stænd fɔː(r)/，动词短语，代表、象征，也可以表示主张。顺便说明，这段语料里 stone sphere 是听感存疑的地方，写作时请以展品的正式名称为准。</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第四组是惊讶反问句，出自一分零三秒。原句是：Could you imagine that this work is only from an old black-and-white blueprint and a WorldSkills gold medalist recreated entirely by hand? 中文是，你能想象吗？这件作品仅凭一张老旧的黑白图纸，由世界技能大赛的金牌选手纯手工复刻而成。骨架是 Could you imagine that 加结果，再接 is only from 加条件。这个句式的妙处在于，它用疑问的形式去陈述惊叹，句末可以是问号，也可以用感叹的语气，非常适合在讲解里制造停顿和悬念。关键在于两个强化副词：only 强调条件少得离谱，entirely 强调程度彻底、完全是手工做的。举一反三的时候，换掉结果和条件就行，比如整座雕塑只来自一块大理石、模型完全没用胶水、学生团队只用六周完成。词汇方面，blueprint 音标 /ˈbluːprɪnt/，名词，蓝图、图纸，也可以引申为方案，比如 a blueprint for reform；entirely 音标 /ɪnˈtaɪəli/，副词，完全地、全部地，形容词是 entire。同类的强化副词还有 just、merely，放在被强调的成分前面，语气立刻变重。</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第五组是意义阐述句，出自一分三十七秒，也是解说类文本里最高频的一类结构。原句是：It demonstrates how additive manufacturing can produce low-cost custom limbs for children living with disabilities. 中文是，它展示了增材制造，也就是三维打印，如何为残障儿童制造低成本的定制假肢。骨架是 It demonstrates how 加方法，再加 can 加结果，最后用 for 引出受益对象。demonstrate 或者 show 后面接 how 从句，专门用来解释怎么做到；can 表示能力与可能性；for 引出受益的人或群体，比 to 更强调受益关系。举一反三时，换成职业培训如何为农村学生打开大门、回收塑料如何变成教室家具，都可以直接套。两个重点词：demonstrate 音标 /ˈdemənstreɪt/，动词，展示、演示、证明，名词是 demonstration；limb 音标 /lɪm/，名词，肢、手臂或腿，也可以指假肢，比如 an artificial limb。这个句式很适合讲项目价值，请大家务必背下来。</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第六组是转化与融合句，出自一分五十二秒和一分五十六秒的连续两句。第一句是 It is a creative art form turning simple dough into stunning works of art，中文是，这是一种富有创意的艺术形式，把简单的面团变成了令人惊叹的艺术品。第二句是 This museum weaves together the traditional friendship with innovations，中文是，这座博物馆将传统友谊与创新编织在一起。骨架有两个：turn A into B 强调事物的质变，weave A together with B 用编织来比喻把不同要素融合，特别适合用来总结主题。举一反三的时候，turn 可以换成把竹子变成家具、把理论变成实物；weave 可以换成把传统与新技术编织在一起。词汇方面，stunning 音标 /ˈstʌnɪŋ/，形容词，令人惊叹的、极美的，动词是 stun；weave 音标 /wiːv/，动词，编织、巧妙融合，注意它的过去式是 wove，过去分词是 woven。最后补充一点，turn into 和 change into 意思接近，但 turn 更口语、更常用，日常表达优先选 turn。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把刚才散落在六个句式里的词集中成表，一共十二个核心词汇，全部来自同一段一百三十秒的解说。每个词请按四栏一起记：拼写、音标、词性、中文释义，最后再加上右侧的语料搭配。我特别强调音标，因为中文母语者最容易读错重音：represent 的重音在最后一个音节，读作 /ˌreprɪˈzent/；official 的重音在第二个音节，读作 /əˈfɪʃl/；entirely 的重音在第二个音节，读作 /ɪnˈtaɪəli/；stunning 只有一个音节重读，读作 /ˈstʌnɪŋ/。left 一栏的搭配最好整体记忆，因为它们就是真实语料里的原句片段，比孤立记单词更容易调用。练习顺序建议是，先读词，再读音标，最后连读右侧搭配，每个词至少读三遍，把重音落在正确的位置上。表里 replica、limb、weave 这几个词尤其值得多读两遍。</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把方法落成行动。请你选一个自己熟悉的场景，比如校园、比赛或者城市的展馆，用三步训练把今天的六个句式全部套用一遍：第一步抄骨架，只写骨架和方括号槽位，不抄整句；第二步换槽位，一次只换一个位置，其余的保持原结构，读出来听是否顺口；第三步造三句，同一骨架连造三句，场景各不相同，并且录音回听，检查重音和连读。右下角的清单是今天的最低目标：六个骨架各造三句，十二个词标注音标并各配一个搭配，另外完整朗读原句并录音回听一次。最后送大家一个可以直接用的收尾句式，出自解说结尾：Let's wait and see what the competitors will bring to us，中文是，让我们拭目以待，看选手们会带给我们怎样的精彩。把 wait and see 当作固定搭配整体记住，比如 let's wait and see what happens。六个骨架加十二个词，认真重复七次就会变成你自己的表达，谢谢大家。</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a:effectLst/>
      </p:bgPr>
    </p:bg>
    <p:spTree>
      <p:nvGrpSpPr>
        <p:cNvPr id="1" name=""/>
        <p:cNvGrpSpPr/>
        <p:nvPr/>
      </p:nvGrpSpPr>
      <p:grpSpPr>
        <a:xfrm>
          <a:off x="0" y="0"/>
          <a:ext cx="0" cy="0"/>
          <a:chOff x="0" y="0"/>
          <a:chExt cx="0" cy="0"/>
        </a:xfrm>
      </p:grpSpPr>
      <p:sp>
        <p:nvSpPr>
          <p:cNvPr id="2" name="Shape 0"/>
          <p:cNvSpPr/>
          <p:nvPr/>
        </p:nvSpPr>
        <p:spPr>
          <a:xfrm>
            <a:off x="8595360" y="-1371600"/>
            <a:ext cx="5669280" cy="5669280"/>
          </a:xfrm>
          <a:prstGeom prst="ellipse">
            <a:avLst/>
          </a:prstGeom>
          <a:solidFill>
            <a:srgbClr val="1E3149"/>
          </a:solidFill>
          <a:ln w="12700">
            <a:solidFill>
              <a:srgbClr val="1E3149"/>
            </a:solidFill>
            <a:prstDash val="solid"/>
          </a:ln>
        </p:spPr>
      </p:sp>
      <p:sp>
        <p:nvSpPr>
          <p:cNvPr id="3" name="Shape 1"/>
          <p:cNvSpPr/>
          <p:nvPr/>
        </p:nvSpPr>
        <p:spPr>
          <a:xfrm>
            <a:off x="548640" y="1188720"/>
            <a:ext cx="82296" cy="1316736"/>
          </a:xfrm>
          <a:prstGeom prst="rect">
            <a:avLst/>
          </a:prstGeom>
          <a:solidFill>
            <a:srgbClr val="7FD3C4"/>
          </a:solidFill>
          <a:ln w="12700">
            <a:solidFill>
              <a:srgbClr val="7FD3C4"/>
            </a:solidFill>
            <a:prstDash val="solid"/>
          </a:ln>
        </p:spPr>
      </p:sp>
      <p:pic>
        <p:nvPicPr>
          <p:cNvPr id="4" name="Image 0" descr="语言"/>
          <p:cNvPicPr>
            <a:picLocks noChangeAspect="1"/>
          </p:cNvPicPr>
          <p:nvPr/>
        </p:nvPicPr>
        <p:blipFill>
          <a:blip r:embed="rId3"/>
          <a:stretch>
            <a:fillRect/>
          </a:stretch>
        </p:blipFill>
        <p:spPr>
          <a:xfrm>
            <a:off x="1097280" y="2304288"/>
            <a:ext cx="310896" cy="310896"/>
          </a:xfrm>
          <a:prstGeom prst="rect">
            <a:avLst/>
          </a:prstGeom>
        </p:spPr>
      </p:pic>
      <p:sp>
        <p:nvSpPr>
          <p:cNvPr id="5" name="Text 2"/>
          <p:cNvSpPr/>
          <p:nvPr/>
        </p:nvSpPr>
        <p:spPr>
          <a:xfrm>
            <a:off x="1097280" y="3401568"/>
            <a:ext cx="8595360" cy="566928"/>
          </a:xfrm>
          <a:prstGeom prst="rect">
            <a:avLst/>
          </a:prstGeom>
          <a:noFill/>
          <a:ln/>
        </p:spPr>
        <p:txBody>
          <a:bodyPr wrap="square" lIns="0" tIns="0" rIns="0" bIns="0" rtlCol="0" anchor="ctr"/>
          <a:lstStyle/>
          <a:p>
            <a:pPr marL="0" indent="0">
              <a:buNone/>
            </a:pPr>
            <a:r>
              <a:rPr lang="en-US" sz="1500" dirty="0">
                <a:solidFill>
                  <a:srgbClr val="C3CDDA"/>
                </a:solidFill>
                <a:latin typeface="Microsoft YaHei" pitchFamily="34" charset="0"/>
                <a:ea typeface="Microsoft YaHei" pitchFamily="34" charset="-122"/>
                <a:cs typeface="Microsoft YaHei" pitchFamily="34" charset="-120"/>
              </a:rPr>
              <a:t>以《世界技能博物馆》英文解说转写稿为语料：6 组高频句式骨架 + 12 个核心词汇的音标与释义</a:t>
            </a:r>
            <a:endParaRPr lang="en-US" sz="1500" dirty="0"/>
          </a:p>
        </p:txBody>
      </p:sp>
      <p:sp>
        <p:nvSpPr>
          <p:cNvPr id="6" name="Text 3"/>
          <p:cNvSpPr/>
          <p:nvPr/>
        </p:nvSpPr>
        <p:spPr>
          <a:xfrm>
            <a:off x="1097280" y="1188720"/>
            <a:ext cx="8229600" cy="292608"/>
          </a:xfrm>
          <a:prstGeom prst="rect">
            <a:avLst/>
          </a:prstGeom>
          <a:noFill/>
          <a:ln/>
        </p:spPr>
        <p:txBody>
          <a:bodyPr wrap="square" lIns="0" tIns="0" rIns="0" bIns="0" rtlCol="0" anchor="ctr"/>
          <a:lstStyle/>
          <a:p>
            <a:pPr marL="0" indent="0">
              <a:buNone/>
            </a:pPr>
            <a:r>
              <a:rPr lang="en-US" sz="1300" b="1" kern="0" spc="200" dirty="0">
                <a:solidFill>
                  <a:srgbClr val="7FD3C4"/>
                </a:solidFill>
                <a:latin typeface="Microsoft YaHei" pitchFamily="34" charset="0"/>
                <a:ea typeface="Microsoft YaHei" pitchFamily="34" charset="-122"/>
                <a:cs typeface="Microsoft YaHei" pitchFamily="34" charset="-120"/>
              </a:rPr>
              <a:t>地道句式拆解 · 举一反三 · 词汇音标</a:t>
            </a:r>
            <a:endParaRPr lang="en-US" sz="1300" dirty="0"/>
          </a:p>
        </p:txBody>
      </p:sp>
      <p:sp>
        <p:nvSpPr>
          <p:cNvPr id="7" name="Text 4"/>
          <p:cNvSpPr/>
          <p:nvPr/>
        </p:nvSpPr>
        <p:spPr>
          <a:xfrm>
            <a:off x="1097280" y="1572768"/>
            <a:ext cx="8778240" cy="1499616"/>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Microsoft YaHei" pitchFamily="34" charset="0"/>
                <a:ea typeface="Microsoft YaHei" pitchFamily="34" charset="-122"/>
                <a:cs typeface="Microsoft YaHei" pitchFamily="34" charset="-120"/>
              </a:rPr>
              <a:t>把高频句式</a:t>
            </a:r>
            <a:endParaRPr lang="en-US" sz="4200" dirty="0"/>
          </a:p>
          <a:p>
            <a:pPr marL="0" indent="0">
              <a:lnSpc>
                <a:spcPct val="105000"/>
              </a:lnSpc>
              <a:buNone/>
            </a:pPr>
            <a:r>
              <a:rPr lang="en-US" sz="4200" b="1" dirty="0">
                <a:solidFill>
                  <a:srgbClr val="FFFFFF"/>
                </a:solidFill>
                <a:latin typeface="Microsoft YaHei" pitchFamily="34" charset="0"/>
                <a:ea typeface="Microsoft YaHei" pitchFamily="34" charset="-122"/>
                <a:cs typeface="Microsoft YaHei" pitchFamily="34" charset="-120"/>
              </a:rPr>
              <a:t>变成你的模板</a:t>
            </a:r>
            <a:endParaRPr lang="en-US" sz="4200" dirty="0"/>
          </a:p>
        </p:txBody>
      </p:sp>
      <p:sp>
        <p:nvSpPr>
          <p:cNvPr id="8" name="Shape 5"/>
          <p:cNvSpPr/>
          <p:nvPr/>
        </p:nvSpPr>
        <p:spPr>
          <a:xfrm>
            <a:off x="1097280" y="4224528"/>
            <a:ext cx="3840480" cy="18288"/>
          </a:xfrm>
          <a:prstGeom prst="rect">
            <a:avLst/>
          </a:prstGeom>
          <a:solidFill>
            <a:srgbClr val="7FD3C4"/>
          </a:solidFill>
          <a:ln w="12700">
            <a:solidFill>
              <a:srgbClr val="7FD3C4"/>
            </a:solidFill>
            <a:prstDash val="solid"/>
          </a:ln>
        </p:spPr>
      </p:sp>
      <p:sp>
        <p:nvSpPr>
          <p:cNvPr id="9" name="Text 6"/>
          <p:cNvSpPr/>
          <p:nvPr/>
        </p:nvSpPr>
        <p:spPr>
          <a:xfrm>
            <a:off x="1097280" y="4526280"/>
            <a:ext cx="8778240" cy="457200"/>
          </a:xfrm>
          <a:prstGeom prst="rect">
            <a:avLst/>
          </a:prstGeom>
          <a:noFill/>
          <a:ln/>
        </p:spPr>
        <p:txBody>
          <a:bodyPr wrap="square" lIns="0" tIns="0" rIns="0" bIns="0" rtlCol="0" anchor="ctr"/>
          <a:lstStyle/>
          <a:p>
            <a:pPr marL="0" indent="0">
              <a:buNone/>
            </a:pPr>
            <a:r>
              <a:rPr lang="en-US" sz="2600" b="1" dirty="0">
                <a:solidFill>
                  <a:srgbClr val="7FD3C4"/>
                </a:solidFill>
                <a:latin typeface="Arial" pitchFamily="34" charset="0"/>
                <a:ea typeface="Arial" pitchFamily="34" charset="-122"/>
                <a:cs typeface="Arial" pitchFamily="34" charset="-120"/>
              </a:rPr>
              <a:t>6 </a:t>
            </a:r>
            <a:r>
              <a:rPr lang="en-US" sz="1200" dirty="0">
                <a:solidFill>
                  <a:srgbClr val="C3CDDA"/>
                </a:solidFill>
                <a:latin typeface="Microsoft YaHei" pitchFamily="34" charset="0"/>
                <a:ea typeface="Microsoft YaHei" pitchFamily="34" charset="-122"/>
                <a:cs typeface="Microsoft YaHei" pitchFamily="34" charset="-120"/>
              </a:rPr>
              <a:t>组句式骨架</a:t>
            </a:r>
            <a:r>
              <a:rPr lang="en-US" sz="2600" b="1" dirty="0">
                <a:solidFill>
                  <a:srgbClr val="7FD3C4"/>
                </a:solidFill>
                <a:latin typeface="Arial" pitchFamily="34" charset="0"/>
                <a:ea typeface="Arial" pitchFamily="34" charset="-122"/>
                <a:cs typeface="Arial" pitchFamily="34" charset="-120"/>
              </a:rPr>
              <a:t>   12 </a:t>
            </a:r>
            <a:r>
              <a:rPr lang="en-US" sz="1200" dirty="0">
                <a:solidFill>
                  <a:srgbClr val="C3CDDA"/>
                </a:solidFill>
                <a:latin typeface="Microsoft YaHei" pitchFamily="34" charset="0"/>
                <a:ea typeface="Microsoft YaHei" pitchFamily="34" charset="-122"/>
                <a:cs typeface="Microsoft YaHei" pitchFamily="34" charset="-120"/>
              </a:rPr>
              <a:t>个重点词汇</a:t>
            </a:r>
            <a:r>
              <a:rPr lang="en-US" sz="2600" b="1" dirty="0">
                <a:solidFill>
                  <a:srgbClr val="7FD3C4"/>
                </a:solidFill>
                <a:latin typeface="Arial" pitchFamily="34" charset="0"/>
                <a:ea typeface="Arial" pitchFamily="34" charset="-122"/>
                <a:cs typeface="Arial" pitchFamily="34" charset="-120"/>
              </a:rPr>
              <a:t>   130 </a:t>
            </a:r>
            <a:r>
              <a:rPr lang="en-US" sz="1200" dirty="0">
                <a:solidFill>
                  <a:srgbClr val="C3CDDA"/>
                </a:solidFill>
                <a:latin typeface="Microsoft YaHei" pitchFamily="34" charset="0"/>
                <a:ea typeface="Microsoft YaHei" pitchFamily="34" charset="-122"/>
                <a:cs typeface="Microsoft YaHei" pitchFamily="34" charset="-120"/>
              </a:rPr>
              <a:t>秒真实语料</a:t>
            </a:r>
            <a:endParaRPr lang="en-US" sz="2600" dirty="0"/>
          </a:p>
        </p:txBody>
      </p:sp>
      <p:sp>
        <p:nvSpPr>
          <p:cNvPr id="10" name="Text 7"/>
          <p:cNvSpPr/>
          <p:nvPr/>
        </p:nvSpPr>
        <p:spPr>
          <a:xfrm>
            <a:off x="1097280" y="5943600"/>
            <a:ext cx="8778240" cy="274320"/>
          </a:xfrm>
          <a:prstGeom prst="rect">
            <a:avLst/>
          </a:prstGeom>
          <a:noFill/>
          <a:ln/>
        </p:spPr>
        <p:txBody>
          <a:bodyPr wrap="square" lIns="0" tIns="0" rIns="0" bIns="0" rtlCol="0" anchor="ctr"/>
          <a:lstStyle/>
          <a:p>
            <a:pPr marL="0" indent="0">
              <a:buNone/>
            </a:pPr>
            <a:r>
              <a:rPr lang="en-US" sz="1050" dirty="0">
                <a:solidFill>
                  <a:srgbClr val="94A3B4"/>
                </a:solidFill>
                <a:latin typeface="Microsoft YaHei" pitchFamily="34" charset="0"/>
                <a:ea typeface="Microsoft YaHei" pitchFamily="34" charset="-122"/>
                <a:cs typeface="Microsoft YaHei" pitchFamily="34" charset="-120"/>
              </a:rPr>
              <a:t>语料来源：世界技能博物馆视频英文转写稿（中英对照），129.8 秒，23 句解说。</a:t>
            </a:r>
            <a:endParaRPr lang="en-US" sz="1050" dirty="0"/>
          </a:p>
        </p:txBody>
      </p:sp>
      <p:pic>
        <p:nvPicPr>
          <p:cNvPr id="11" name="PPTClaw Watermark 1"/>
          <p:cNvPicPr>
            <a:picLocks noChangeAspect="1"/>
          </p:cNvPicPr>
          <p:nvPr/>
        </p:nvPicPr>
        <p:blipFill>
          <a:blip r:embed="rId4"/>
          <a:stretch>
            <a:fillRect/>
          </a:stretch>
        </p:blipFill>
        <p:spPr>
          <a:xfrm>
            <a:off x="10982294" y="6446520"/>
            <a:ext cx="1141126" cy="342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buNone/>
            </a:pPr>
            <a:r>
              <a:rPr lang="en-US" sz="1200" b="1" kern="0" spc="160" dirty="0">
                <a:solidFill>
                  <a:srgbClr val="0E6F63"/>
                </a:solidFill>
                <a:latin typeface="Microsoft YaHei" pitchFamily="34" charset="0"/>
                <a:ea typeface="Microsoft YaHei" pitchFamily="34" charset="-122"/>
                <a:cs typeface="Microsoft YaHei" pitchFamily="34" charset="-120"/>
              </a:rPr>
              <a:t>LEARNING METHOD</a:t>
            </a:r>
            <a:endParaRPr lang="en-US" sz="1200" dirty="0"/>
          </a:p>
        </p:txBody>
      </p:sp>
      <p:sp>
        <p:nvSpPr>
          <p:cNvPr id="3" name="Text 1"/>
          <p:cNvSpPr/>
          <p:nvPr/>
        </p:nvSpPr>
        <p:spPr>
          <a:xfrm>
            <a:off x="548640" y="713232"/>
            <a:ext cx="10424160" cy="566928"/>
          </a:xfrm>
          <a:prstGeom prst="rect">
            <a:avLst/>
          </a:prstGeom>
          <a:noFill/>
          <a:ln/>
        </p:spPr>
        <p:txBody>
          <a:bodyPr wrap="square" lIns="0" tIns="0" rIns="0" bIns="0" rtlCol="0" anchor="ctr"/>
          <a:lstStyle/>
          <a:p>
            <a:pPr marL="0" indent="0">
              <a:buNone/>
            </a:pPr>
            <a:r>
              <a:rPr lang="en-US" sz="3000" b="1" dirty="0">
                <a:solidFill>
                  <a:srgbClr val="16233A"/>
                </a:solidFill>
                <a:latin typeface="Microsoft YaHei" pitchFamily="34" charset="0"/>
                <a:ea typeface="Microsoft YaHei" pitchFamily="34" charset="-122"/>
                <a:cs typeface="Microsoft YaHei" pitchFamily="34" charset="-120"/>
              </a:rPr>
              <a:t>三步拆解法：先拆骨架，再换内容</a:t>
            </a:r>
            <a:endParaRPr lang="en-US" sz="3000" dirty="0"/>
          </a:p>
        </p:txBody>
      </p:sp>
      <p:sp>
        <p:nvSpPr>
          <p:cNvPr id="4" name="Shape 2"/>
          <p:cNvSpPr/>
          <p:nvPr/>
        </p:nvSpPr>
        <p:spPr>
          <a:xfrm>
            <a:off x="548640" y="1371600"/>
            <a:ext cx="11091672" cy="18288"/>
          </a:xfrm>
          <a:prstGeom prst="rect">
            <a:avLst/>
          </a:prstGeom>
          <a:solidFill>
            <a:srgbClr val="0E6F63"/>
          </a:solidFill>
          <a:ln w="12700">
            <a:solidFill>
              <a:srgbClr val="0E6F63"/>
            </a:solidFill>
            <a:prstDash val="solid"/>
          </a:ln>
        </p:spPr>
      </p:sp>
      <p:sp>
        <p:nvSpPr>
          <p:cNvPr id="5" name="Text 3"/>
          <p:cNvSpPr/>
          <p:nvPr/>
        </p:nvSpPr>
        <p:spPr>
          <a:xfrm>
            <a:off x="11109960" y="384048"/>
            <a:ext cx="548640" cy="310896"/>
          </a:xfrm>
          <a:prstGeom prst="rect">
            <a:avLst/>
          </a:prstGeom>
          <a:noFill/>
          <a:ln/>
        </p:spPr>
        <p:txBody>
          <a:bodyPr wrap="square" lIns="0" tIns="0" rIns="0" bIns="0" rtlCol="0" anchor="ctr"/>
          <a:lstStyle/>
          <a:p>
            <a:pPr marL="0" indent="0" algn="r">
              <a:buNone/>
            </a:pPr>
            <a:r>
              <a:rPr lang="en-US" sz="1600" b="1" dirty="0">
                <a:solidFill>
                  <a:srgbClr val="5B6B80"/>
                </a:solidFill>
                <a:latin typeface="Microsoft YaHei" pitchFamily="34" charset="0"/>
                <a:ea typeface="Microsoft YaHei" pitchFamily="34" charset="-122"/>
                <a:cs typeface="Microsoft YaHei" pitchFamily="34" charset="-120"/>
              </a:rPr>
              <a:t>02</a:t>
            </a:r>
            <a:endParaRPr lang="en-US" sz="1600" dirty="0"/>
          </a:p>
        </p:txBody>
      </p:sp>
      <p:sp>
        <p:nvSpPr>
          <p:cNvPr id="6" name="Text 4"/>
          <p:cNvSpPr/>
          <p:nvPr/>
        </p:nvSpPr>
        <p:spPr>
          <a:xfrm>
            <a:off x="548640" y="1536192"/>
            <a:ext cx="11091672" cy="329184"/>
          </a:xfrm>
          <a:prstGeom prst="rect">
            <a:avLst/>
          </a:prstGeom>
          <a:noFill/>
          <a:ln/>
        </p:spPr>
        <p:txBody>
          <a:bodyPr wrap="square" lIns="0" tIns="0" rIns="0" bIns="0" rtlCol="0" anchor="ctr"/>
          <a:lstStyle/>
          <a:p>
            <a:pPr marL="0" indent="0">
              <a:buNone/>
            </a:pPr>
            <a:r>
              <a:rPr lang="en-US" sz="1400" dirty="0">
                <a:solidFill>
                  <a:srgbClr val="5B6B80"/>
                </a:solidFill>
                <a:latin typeface="Microsoft YaHei" pitchFamily="34" charset="0"/>
                <a:ea typeface="Microsoft YaHei" pitchFamily="34" charset="-122"/>
                <a:cs typeface="Microsoft YaHei" pitchFamily="34" charset="-120"/>
              </a:rPr>
              <a:t>解说词是学句式的高效语料：句子短、重复率高、场景具体。看一句地道的解说，可以拆出能反复套用的结构。</a:t>
            </a:r>
            <a:endParaRPr lang="en-US" sz="1400" dirty="0"/>
          </a:p>
        </p:txBody>
      </p:sp>
      <p:sp>
        <p:nvSpPr>
          <p:cNvPr id="7" name="Shape 5"/>
          <p:cNvSpPr/>
          <p:nvPr/>
        </p:nvSpPr>
        <p:spPr>
          <a:xfrm>
            <a:off x="548640" y="2103120"/>
            <a:ext cx="3511296" cy="2194560"/>
          </a:xfrm>
          <a:prstGeom prst="roundRect">
            <a:avLst>
              <a:gd name="adj" fmla="val 1667"/>
            </a:avLst>
          </a:prstGeom>
          <a:solidFill>
            <a:srgbClr val="F2F5F9"/>
          </a:solidFill>
          <a:ln w="9525">
            <a:solidFill>
              <a:srgbClr val="D8DEE7"/>
            </a:solidFill>
            <a:prstDash val="solid"/>
          </a:ln>
        </p:spPr>
      </p:sp>
      <p:pic>
        <p:nvPicPr>
          <p:cNvPr id="8" name="Image 0" descr="拆骨架"/>
          <p:cNvPicPr>
            <a:picLocks noChangeAspect="1"/>
          </p:cNvPicPr>
          <p:nvPr/>
        </p:nvPicPr>
        <p:blipFill>
          <a:blip r:embed="rId3"/>
          <a:stretch>
            <a:fillRect/>
          </a:stretch>
        </p:blipFill>
        <p:spPr>
          <a:xfrm>
            <a:off x="841248" y="2340864"/>
            <a:ext cx="402336" cy="402336"/>
          </a:xfrm>
          <a:prstGeom prst="rect">
            <a:avLst/>
          </a:prstGeom>
        </p:spPr>
      </p:pic>
      <p:sp>
        <p:nvSpPr>
          <p:cNvPr id="9" name="Text 6"/>
          <p:cNvSpPr/>
          <p:nvPr/>
        </p:nvSpPr>
        <p:spPr>
          <a:xfrm>
            <a:off x="841248" y="2852928"/>
            <a:ext cx="2926080" cy="329184"/>
          </a:xfrm>
          <a:prstGeom prst="rect">
            <a:avLst/>
          </a:prstGeom>
          <a:noFill/>
          <a:ln/>
        </p:spPr>
        <p:txBody>
          <a:bodyPr wrap="square" lIns="0" tIns="0" rIns="0" bIns="0" rtlCol="0" anchor="ctr"/>
          <a:lstStyle/>
          <a:p>
            <a:pPr marL="0" indent="0">
              <a:buNone/>
            </a:pPr>
            <a:r>
              <a:rPr lang="en-US" sz="1900" b="1" dirty="0">
                <a:solidFill>
                  <a:srgbClr val="16233A"/>
                </a:solidFill>
                <a:latin typeface="Microsoft YaHei" pitchFamily="34" charset="0"/>
                <a:ea typeface="Microsoft YaHei" pitchFamily="34" charset="-122"/>
                <a:cs typeface="Microsoft YaHei" pitchFamily="34" charset="-120"/>
              </a:rPr>
              <a:t>① 拆骨架</a:t>
            </a:r>
            <a:endParaRPr lang="en-US" sz="1900" dirty="0"/>
          </a:p>
        </p:txBody>
      </p:sp>
      <p:sp>
        <p:nvSpPr>
          <p:cNvPr id="10" name="Text 7"/>
          <p:cNvSpPr/>
          <p:nvPr/>
        </p:nvSpPr>
        <p:spPr>
          <a:xfrm>
            <a:off x="841248" y="3273552"/>
            <a:ext cx="2926080" cy="914400"/>
          </a:xfrm>
          <a:prstGeom prst="rect">
            <a:avLst/>
          </a:prstGeom>
          <a:noFill/>
          <a:ln/>
        </p:spPr>
        <p:txBody>
          <a:bodyPr wrap="square" lIns="0" tIns="0" rIns="0" bIns="0" rtlCol="0" anchor="ctr"/>
          <a:lstStyle/>
          <a:p>
            <a:pPr marL="0" indent="0">
              <a:buNone/>
            </a:pPr>
            <a:r>
              <a:rPr lang="en-US" sz="1250" dirty="0">
                <a:solidFill>
                  <a:srgbClr val="5B6B80"/>
                </a:solidFill>
                <a:latin typeface="Microsoft YaHei" pitchFamily="34" charset="0"/>
                <a:ea typeface="Microsoft YaHei" pitchFamily="34" charset="-122"/>
                <a:cs typeface="Microsoft YaHei" pitchFamily="34" charset="-120"/>
              </a:rPr>
              <a:t>去掉专有名词与修饰语，只留句型框架和功能词：让步加反问、地点强调、对照并列。</a:t>
            </a:r>
            <a:endParaRPr lang="en-US" sz="1250" dirty="0"/>
          </a:p>
        </p:txBody>
      </p:sp>
      <p:sp>
        <p:nvSpPr>
          <p:cNvPr id="11" name="Shape 8"/>
          <p:cNvSpPr/>
          <p:nvPr/>
        </p:nvSpPr>
        <p:spPr>
          <a:xfrm>
            <a:off x="4334256" y="2103120"/>
            <a:ext cx="3511296" cy="2194560"/>
          </a:xfrm>
          <a:prstGeom prst="roundRect">
            <a:avLst>
              <a:gd name="adj" fmla="val 1667"/>
            </a:avLst>
          </a:prstGeom>
          <a:solidFill>
            <a:srgbClr val="F2F5F9"/>
          </a:solidFill>
          <a:ln w="9525">
            <a:solidFill>
              <a:srgbClr val="D8DEE7"/>
            </a:solidFill>
            <a:prstDash val="solid"/>
          </a:ln>
        </p:spPr>
      </p:sp>
      <p:pic>
        <p:nvPicPr>
          <p:cNvPr id="12" name="Image 1" descr="换槽位"/>
          <p:cNvPicPr>
            <a:picLocks noChangeAspect="1"/>
          </p:cNvPicPr>
          <p:nvPr/>
        </p:nvPicPr>
        <p:blipFill>
          <a:blip r:embed="rId4"/>
          <a:stretch>
            <a:fillRect/>
          </a:stretch>
        </p:blipFill>
        <p:spPr>
          <a:xfrm>
            <a:off x="4626864" y="2340864"/>
            <a:ext cx="402336" cy="402336"/>
          </a:xfrm>
          <a:prstGeom prst="rect">
            <a:avLst/>
          </a:prstGeom>
        </p:spPr>
      </p:pic>
      <p:sp>
        <p:nvSpPr>
          <p:cNvPr id="13" name="Text 9"/>
          <p:cNvSpPr/>
          <p:nvPr/>
        </p:nvSpPr>
        <p:spPr>
          <a:xfrm>
            <a:off x="4626864" y="2852928"/>
            <a:ext cx="2926080" cy="329184"/>
          </a:xfrm>
          <a:prstGeom prst="rect">
            <a:avLst/>
          </a:prstGeom>
          <a:noFill/>
          <a:ln/>
        </p:spPr>
        <p:txBody>
          <a:bodyPr wrap="square" lIns="0" tIns="0" rIns="0" bIns="0" rtlCol="0" anchor="ctr"/>
          <a:lstStyle/>
          <a:p>
            <a:pPr marL="0" indent="0">
              <a:buNone/>
            </a:pPr>
            <a:r>
              <a:rPr lang="en-US" sz="1900" b="1" dirty="0">
                <a:solidFill>
                  <a:srgbClr val="16233A"/>
                </a:solidFill>
                <a:latin typeface="Microsoft YaHei" pitchFamily="34" charset="0"/>
                <a:ea typeface="Microsoft YaHei" pitchFamily="34" charset="-122"/>
                <a:cs typeface="Microsoft YaHei" pitchFamily="34" charset="-120"/>
              </a:rPr>
              <a:t>② 换槽位</a:t>
            </a:r>
            <a:endParaRPr lang="en-US" sz="1900" dirty="0"/>
          </a:p>
        </p:txBody>
      </p:sp>
      <p:sp>
        <p:nvSpPr>
          <p:cNvPr id="14" name="Text 10"/>
          <p:cNvSpPr/>
          <p:nvPr/>
        </p:nvSpPr>
        <p:spPr>
          <a:xfrm>
            <a:off x="4626864" y="3273552"/>
            <a:ext cx="2926080" cy="914400"/>
          </a:xfrm>
          <a:prstGeom prst="rect">
            <a:avLst/>
          </a:prstGeom>
          <a:noFill/>
          <a:ln/>
        </p:spPr>
        <p:txBody>
          <a:bodyPr wrap="square" lIns="0" tIns="0" rIns="0" bIns="0" rtlCol="0" anchor="ctr"/>
          <a:lstStyle/>
          <a:p>
            <a:pPr marL="0" indent="0">
              <a:buNone/>
            </a:pPr>
            <a:r>
              <a:rPr lang="en-US" sz="1250" dirty="0">
                <a:solidFill>
                  <a:srgbClr val="5B6B80"/>
                </a:solidFill>
                <a:latin typeface="Microsoft YaHei" pitchFamily="34" charset="0"/>
                <a:ea typeface="Microsoft YaHei" pitchFamily="34" charset="-122"/>
                <a:cs typeface="Microsoft YaHei" pitchFamily="34" charset="-120"/>
              </a:rPr>
              <a:t>把 A、B、时间、地点这些空位换成自己的内容，一次只换一个槽位，保持结构不变。</a:t>
            </a:r>
            <a:endParaRPr lang="en-US" sz="1250" dirty="0"/>
          </a:p>
        </p:txBody>
      </p:sp>
      <p:sp>
        <p:nvSpPr>
          <p:cNvPr id="15" name="Shape 11"/>
          <p:cNvSpPr/>
          <p:nvPr/>
        </p:nvSpPr>
        <p:spPr>
          <a:xfrm>
            <a:off x="8119872" y="2103120"/>
            <a:ext cx="3511296" cy="2194560"/>
          </a:xfrm>
          <a:prstGeom prst="roundRect">
            <a:avLst>
              <a:gd name="adj" fmla="val 1667"/>
            </a:avLst>
          </a:prstGeom>
          <a:solidFill>
            <a:srgbClr val="F2F5F9"/>
          </a:solidFill>
          <a:ln w="9525">
            <a:solidFill>
              <a:srgbClr val="D8DEE7"/>
            </a:solidFill>
            <a:prstDash val="solid"/>
          </a:ln>
        </p:spPr>
      </p:sp>
      <p:pic>
        <p:nvPicPr>
          <p:cNvPr id="16" name="Image 2" descr="造三句"/>
          <p:cNvPicPr>
            <a:picLocks noChangeAspect="1"/>
          </p:cNvPicPr>
          <p:nvPr/>
        </p:nvPicPr>
        <p:blipFill>
          <a:blip r:embed="rId5"/>
          <a:stretch>
            <a:fillRect/>
          </a:stretch>
        </p:blipFill>
        <p:spPr>
          <a:xfrm>
            <a:off x="8412480" y="2340864"/>
            <a:ext cx="402336" cy="402336"/>
          </a:xfrm>
          <a:prstGeom prst="rect">
            <a:avLst/>
          </a:prstGeom>
        </p:spPr>
      </p:pic>
      <p:sp>
        <p:nvSpPr>
          <p:cNvPr id="17" name="Text 12"/>
          <p:cNvSpPr/>
          <p:nvPr/>
        </p:nvSpPr>
        <p:spPr>
          <a:xfrm>
            <a:off x="8412480" y="2852928"/>
            <a:ext cx="2926080" cy="329184"/>
          </a:xfrm>
          <a:prstGeom prst="rect">
            <a:avLst/>
          </a:prstGeom>
          <a:noFill/>
          <a:ln/>
        </p:spPr>
        <p:txBody>
          <a:bodyPr wrap="square" lIns="0" tIns="0" rIns="0" bIns="0" rtlCol="0" anchor="ctr"/>
          <a:lstStyle/>
          <a:p>
            <a:pPr marL="0" indent="0">
              <a:buNone/>
            </a:pPr>
            <a:r>
              <a:rPr lang="en-US" sz="1900" b="1" dirty="0">
                <a:solidFill>
                  <a:srgbClr val="16233A"/>
                </a:solidFill>
                <a:latin typeface="Microsoft YaHei" pitchFamily="34" charset="0"/>
                <a:ea typeface="Microsoft YaHei" pitchFamily="34" charset="-122"/>
                <a:cs typeface="Microsoft YaHei" pitchFamily="34" charset="-120"/>
              </a:rPr>
              <a:t>③ 造三句</a:t>
            </a:r>
            <a:endParaRPr lang="en-US" sz="1900" dirty="0"/>
          </a:p>
        </p:txBody>
      </p:sp>
      <p:sp>
        <p:nvSpPr>
          <p:cNvPr id="18" name="Text 13"/>
          <p:cNvSpPr/>
          <p:nvPr/>
        </p:nvSpPr>
        <p:spPr>
          <a:xfrm>
            <a:off x="8412480" y="3273552"/>
            <a:ext cx="2926080" cy="914400"/>
          </a:xfrm>
          <a:prstGeom prst="rect">
            <a:avLst/>
          </a:prstGeom>
          <a:noFill/>
          <a:ln/>
        </p:spPr>
        <p:txBody>
          <a:bodyPr wrap="square" lIns="0" tIns="0" rIns="0" bIns="0" rtlCol="0" anchor="ctr"/>
          <a:lstStyle/>
          <a:p>
            <a:pPr marL="0" indent="0">
              <a:buNone/>
            </a:pPr>
            <a:r>
              <a:rPr lang="en-US" sz="1250" dirty="0">
                <a:solidFill>
                  <a:srgbClr val="5B6B80"/>
                </a:solidFill>
                <a:latin typeface="Microsoft YaHei" pitchFamily="34" charset="0"/>
                <a:ea typeface="Microsoft YaHei" pitchFamily="34" charset="-122"/>
                <a:cs typeface="Microsoft YaHei" pitchFamily="34" charset="-120"/>
              </a:rPr>
              <a:t>同一骨架连续造三句不同场景的句子，说出口，再录音回听，把模板变成条件反射。</a:t>
            </a:r>
            <a:endParaRPr lang="en-US" sz="1250" dirty="0"/>
          </a:p>
        </p:txBody>
      </p:sp>
      <p:sp>
        <p:nvSpPr>
          <p:cNvPr id="19" name="Shape 14"/>
          <p:cNvSpPr/>
          <p:nvPr/>
        </p:nvSpPr>
        <p:spPr>
          <a:xfrm>
            <a:off x="548640" y="4572000"/>
            <a:ext cx="11091672" cy="1572768"/>
          </a:xfrm>
          <a:prstGeom prst="roundRect">
            <a:avLst>
              <a:gd name="adj" fmla="val 2326"/>
            </a:avLst>
          </a:prstGeom>
          <a:solidFill>
            <a:srgbClr val="E7F2EF"/>
          </a:solidFill>
          <a:ln w="9525">
            <a:solidFill>
              <a:srgbClr val="CFE3DE"/>
            </a:solidFill>
            <a:prstDash val="solid"/>
          </a:ln>
        </p:spPr>
      </p:sp>
      <p:pic>
        <p:nvPicPr>
          <p:cNvPr id="20" name="Image 3" descr="自查清单"/>
          <p:cNvPicPr>
            <a:picLocks noChangeAspect="1"/>
          </p:cNvPicPr>
          <p:nvPr/>
        </p:nvPicPr>
        <p:blipFill>
          <a:blip r:embed="rId6"/>
          <a:stretch>
            <a:fillRect/>
          </a:stretch>
        </p:blipFill>
        <p:spPr>
          <a:xfrm>
            <a:off x="841248" y="4809744"/>
            <a:ext cx="365760" cy="365760"/>
          </a:xfrm>
          <a:prstGeom prst="rect">
            <a:avLst/>
          </a:prstGeom>
        </p:spPr>
      </p:pic>
      <p:sp>
        <p:nvSpPr>
          <p:cNvPr id="21" name="Text 15"/>
          <p:cNvSpPr/>
          <p:nvPr/>
        </p:nvSpPr>
        <p:spPr>
          <a:xfrm>
            <a:off x="1371600" y="4791456"/>
            <a:ext cx="4572000" cy="292608"/>
          </a:xfrm>
          <a:prstGeom prst="rect">
            <a:avLst/>
          </a:prstGeom>
          <a:noFill/>
          <a:ln/>
        </p:spPr>
        <p:txBody>
          <a:bodyPr wrap="square" lIns="0" tIns="0" rIns="0" bIns="0" rtlCol="0" anchor="ctr"/>
          <a:lstStyle/>
          <a:p>
            <a:pPr marL="0" indent="0">
              <a:buNone/>
            </a:pPr>
            <a:r>
              <a:rPr lang="en-US" sz="1500" b="1" dirty="0">
                <a:solidFill>
                  <a:srgbClr val="0B4F46"/>
                </a:solidFill>
                <a:latin typeface="Microsoft YaHei" pitchFamily="34" charset="0"/>
                <a:ea typeface="Microsoft YaHei" pitchFamily="34" charset="-122"/>
                <a:cs typeface="Microsoft YaHei" pitchFamily="34" charset="-120"/>
              </a:rPr>
              <a:t>每个句式的固定动作</a:t>
            </a:r>
            <a:endParaRPr lang="en-US" sz="1500" dirty="0"/>
          </a:p>
        </p:txBody>
      </p:sp>
      <p:sp>
        <p:nvSpPr>
          <p:cNvPr id="22" name="Text 16"/>
          <p:cNvSpPr/>
          <p:nvPr/>
        </p:nvSpPr>
        <p:spPr>
          <a:xfrm>
            <a:off x="1371600" y="5175504"/>
            <a:ext cx="9966960" cy="292608"/>
          </a:xfrm>
          <a:prstGeom prst="rect">
            <a:avLst/>
          </a:prstGeom>
          <a:noFill/>
          <a:ln/>
        </p:spPr>
        <p:txBody>
          <a:bodyPr wrap="square" lIns="0" tIns="0" rIns="0" bIns="0" rtlCol="0" anchor="ctr"/>
          <a:lstStyle/>
          <a:p>
            <a:pPr marL="0" indent="0">
              <a:buNone/>
            </a:pPr>
            <a:r>
              <a:rPr lang="en-US" sz="1250" dirty="0">
                <a:solidFill>
                  <a:srgbClr val="0B4F46"/>
                </a:solidFill>
                <a:latin typeface="Microsoft YaHei" pitchFamily="34" charset="0"/>
                <a:ea typeface="Microsoft YaHei" pitchFamily="34" charset="-122"/>
                <a:cs typeface="Microsoft YaHei" pitchFamily="34" charset="-120"/>
              </a:rPr>
              <a:t>① 抄一遍原句，念出重音与连读　② 写出骨架，用方括号标出可替换槽位</a:t>
            </a:r>
            <a:endParaRPr lang="en-US" sz="1250" dirty="0"/>
          </a:p>
        </p:txBody>
      </p:sp>
      <p:sp>
        <p:nvSpPr>
          <p:cNvPr id="23" name="Text 17"/>
          <p:cNvSpPr/>
          <p:nvPr/>
        </p:nvSpPr>
        <p:spPr>
          <a:xfrm>
            <a:off x="1371600" y="5522976"/>
            <a:ext cx="9966960" cy="292608"/>
          </a:xfrm>
          <a:prstGeom prst="rect">
            <a:avLst/>
          </a:prstGeom>
          <a:noFill/>
          <a:ln/>
        </p:spPr>
        <p:txBody>
          <a:bodyPr wrap="square" lIns="0" tIns="0" rIns="0" bIns="0" rtlCol="0" anchor="ctr"/>
          <a:lstStyle/>
          <a:p>
            <a:pPr marL="0" indent="0">
              <a:buNone/>
            </a:pPr>
            <a:r>
              <a:rPr lang="en-US" sz="1250" dirty="0">
                <a:solidFill>
                  <a:srgbClr val="0B4F46"/>
                </a:solidFill>
                <a:latin typeface="Microsoft YaHei" pitchFamily="34" charset="0"/>
                <a:ea typeface="Microsoft YaHei" pitchFamily="34" charset="-122"/>
                <a:cs typeface="Microsoft YaHei" pitchFamily="34" charset="-120"/>
              </a:rPr>
              <a:t>③ 换主语或地点造两句　④ 标注一个重点词的音标与一句搭配</a:t>
            </a:r>
            <a:endParaRPr lang="en-US" sz="1250" dirty="0"/>
          </a:p>
        </p:txBody>
      </p:sp>
      <p:sp>
        <p:nvSpPr>
          <p:cNvPr id="24" name="Text 18"/>
          <p:cNvSpPr/>
          <p:nvPr/>
        </p:nvSpPr>
        <p:spPr>
          <a:xfrm>
            <a:off x="548640" y="6364224"/>
            <a:ext cx="11091672" cy="274320"/>
          </a:xfrm>
          <a:prstGeom prst="rect">
            <a:avLst/>
          </a:prstGeom>
          <a:noFill/>
          <a:ln/>
        </p:spPr>
        <p:txBody>
          <a:bodyPr wrap="square" lIns="0" tIns="0" rIns="0" bIns="0" rtlCol="0" anchor="ctr"/>
          <a:lstStyle/>
          <a:p>
            <a:pPr marL="0" indent="0">
              <a:buNone/>
            </a:pPr>
            <a:r>
              <a:rPr lang="en-US" sz="1000" dirty="0">
                <a:solidFill>
                  <a:srgbClr val="5B6B80"/>
                </a:solidFill>
                <a:latin typeface="Microsoft YaHei" pitchFamily="34" charset="0"/>
                <a:ea typeface="Microsoft YaHei" pitchFamily="34" charset="-122"/>
                <a:cs typeface="Microsoft YaHei" pitchFamily="34" charset="-120"/>
              </a:rPr>
              <a:t>页面节奏：先方法，再逐个句式拆解，最后集中记词与套用训练。</a:t>
            </a:r>
            <a:endParaRPr lang="en-US" sz="1000" dirty="0"/>
          </a:p>
        </p:txBody>
      </p:sp>
      <p:pic>
        <p:nvPicPr>
          <p:cNvPr id="25" name="PPTClaw Watermark 1"/>
          <p:cNvPicPr>
            <a:picLocks noChangeAspect="1"/>
          </p:cNvPicPr>
          <p:nvPr/>
        </p:nvPicPr>
        <p:blipFill>
          <a:blip r:embed="rId7"/>
          <a:stretch>
            <a:fillRect/>
          </a:stretch>
        </p:blipFill>
        <p:spPr>
          <a:xfrm>
            <a:off x="10982294" y="6446520"/>
            <a:ext cx="1141126" cy="342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buNone/>
            </a:pPr>
            <a:r>
              <a:rPr lang="en-US" sz="1200" b="1" kern="0" spc="160" dirty="0">
                <a:solidFill>
                  <a:srgbClr val="0E6F63"/>
                </a:solidFill>
                <a:latin typeface="Microsoft YaHei" pitchFamily="34" charset="0"/>
                <a:ea typeface="Microsoft YaHei" pitchFamily="34" charset="-122"/>
                <a:cs typeface="Microsoft YaHei" pitchFamily="34" charset="-120"/>
              </a:rPr>
              <a:t>PATTERN 01 · 开场设问</a:t>
            </a:r>
            <a:endParaRPr lang="en-US" sz="1200" dirty="0"/>
          </a:p>
        </p:txBody>
      </p:sp>
      <p:sp>
        <p:nvSpPr>
          <p:cNvPr id="3" name="Text 1"/>
          <p:cNvSpPr/>
          <p:nvPr/>
        </p:nvSpPr>
        <p:spPr>
          <a:xfrm>
            <a:off x="548640" y="713232"/>
            <a:ext cx="10424160" cy="566928"/>
          </a:xfrm>
          <a:prstGeom prst="rect">
            <a:avLst/>
          </a:prstGeom>
          <a:noFill/>
          <a:ln/>
        </p:spPr>
        <p:txBody>
          <a:bodyPr wrap="square" lIns="0" tIns="0" rIns="0" bIns="0" rtlCol="0" anchor="ctr"/>
          <a:lstStyle/>
          <a:p>
            <a:pPr marL="0" indent="0">
              <a:buNone/>
            </a:pPr>
            <a:r>
              <a:rPr lang="en-US" sz="3000" b="1" dirty="0">
                <a:solidFill>
                  <a:srgbClr val="16233A"/>
                </a:solidFill>
                <a:latin typeface="Microsoft YaHei" pitchFamily="34" charset="0"/>
                <a:ea typeface="Microsoft YaHei" pitchFamily="34" charset="-122"/>
                <a:cs typeface="Microsoft YaHei" pitchFamily="34" charset="-120"/>
              </a:rPr>
              <a:t>先用让步垫场，再用反问开场</a:t>
            </a:r>
            <a:endParaRPr lang="en-US" sz="3000" dirty="0"/>
          </a:p>
        </p:txBody>
      </p:sp>
      <p:sp>
        <p:nvSpPr>
          <p:cNvPr id="4" name="Shape 2"/>
          <p:cNvSpPr/>
          <p:nvPr/>
        </p:nvSpPr>
        <p:spPr>
          <a:xfrm>
            <a:off x="548640" y="1371600"/>
            <a:ext cx="11091672" cy="18288"/>
          </a:xfrm>
          <a:prstGeom prst="rect">
            <a:avLst/>
          </a:prstGeom>
          <a:solidFill>
            <a:srgbClr val="0E6F63"/>
          </a:solidFill>
          <a:ln w="12700">
            <a:solidFill>
              <a:srgbClr val="0E6F63"/>
            </a:solidFill>
            <a:prstDash val="solid"/>
          </a:ln>
        </p:spPr>
      </p:sp>
      <p:sp>
        <p:nvSpPr>
          <p:cNvPr id="5" name="Text 3"/>
          <p:cNvSpPr/>
          <p:nvPr/>
        </p:nvSpPr>
        <p:spPr>
          <a:xfrm>
            <a:off x="11109960" y="384048"/>
            <a:ext cx="548640" cy="310896"/>
          </a:xfrm>
          <a:prstGeom prst="rect">
            <a:avLst/>
          </a:prstGeom>
          <a:noFill/>
          <a:ln/>
        </p:spPr>
        <p:txBody>
          <a:bodyPr wrap="square" lIns="0" tIns="0" rIns="0" bIns="0" rtlCol="0" anchor="ctr"/>
          <a:lstStyle/>
          <a:p>
            <a:pPr marL="0" indent="0" algn="r">
              <a:buNone/>
            </a:pPr>
            <a:r>
              <a:rPr lang="en-US" sz="1600" b="1" dirty="0">
                <a:solidFill>
                  <a:srgbClr val="5B6B80"/>
                </a:solidFill>
                <a:latin typeface="Microsoft YaHei" pitchFamily="34" charset="0"/>
                <a:ea typeface="Microsoft YaHei" pitchFamily="34" charset="-122"/>
                <a:cs typeface="Microsoft YaHei" pitchFamily="34" charset="-120"/>
              </a:rPr>
              <a:t>03</a:t>
            </a:r>
            <a:endParaRPr lang="en-US" sz="1600" dirty="0"/>
          </a:p>
        </p:txBody>
      </p:sp>
      <p:sp>
        <p:nvSpPr>
          <p:cNvPr id="6" name="Shape 4"/>
          <p:cNvSpPr/>
          <p:nvPr/>
        </p:nvSpPr>
        <p:spPr>
          <a:xfrm>
            <a:off x="548640" y="1481328"/>
            <a:ext cx="6903720" cy="1426464"/>
          </a:xfrm>
          <a:prstGeom prst="roundRect">
            <a:avLst>
              <a:gd name="adj" fmla="val 2564"/>
            </a:avLst>
          </a:prstGeom>
          <a:solidFill>
            <a:srgbClr val="E7F2EF"/>
          </a:solidFill>
          <a:ln w="9525">
            <a:solidFill>
              <a:srgbClr val="CFE3DE"/>
            </a:solidFill>
            <a:prstDash val="solid"/>
          </a:ln>
        </p:spPr>
      </p:sp>
      <p:pic>
        <p:nvPicPr>
          <p:cNvPr id="7" name="Image 0" descr="原句"/>
          <p:cNvPicPr>
            <a:picLocks noChangeAspect="1"/>
          </p:cNvPicPr>
          <p:nvPr/>
        </p:nvPicPr>
        <p:blipFill>
          <a:blip r:embed="rId3"/>
          <a:stretch>
            <a:fillRect/>
          </a:stretch>
        </p:blipFill>
        <p:spPr>
          <a:xfrm>
            <a:off x="749808" y="1627632"/>
            <a:ext cx="292608" cy="292608"/>
          </a:xfrm>
          <a:prstGeom prst="rect">
            <a:avLst/>
          </a:prstGeom>
        </p:spPr>
      </p:pic>
      <p:sp>
        <p:nvSpPr>
          <p:cNvPr id="8" name="Text 5"/>
          <p:cNvSpPr/>
          <p:nvPr/>
        </p:nvSpPr>
        <p:spPr>
          <a:xfrm>
            <a:off x="1170432" y="1627632"/>
            <a:ext cx="6108192" cy="658368"/>
          </a:xfrm>
          <a:prstGeom prst="rect">
            <a:avLst/>
          </a:prstGeom>
          <a:noFill/>
          <a:ln/>
        </p:spPr>
        <p:txBody>
          <a:bodyPr wrap="square" lIns="0" tIns="0" rIns="0" bIns="0" rtlCol="0" anchor="ctr"/>
          <a:lstStyle/>
          <a:p>
            <a:pPr marL="0" indent="0">
              <a:buNone/>
            </a:pPr>
            <a:r>
              <a:rPr lang="en-US" sz="1350" b="1" dirty="0">
                <a:solidFill>
                  <a:srgbClr val="0B4F46"/>
                </a:solidFill>
                <a:latin typeface="Arial" pitchFamily="34" charset="0"/>
                <a:ea typeface="Arial" pitchFamily="34" charset="-122"/>
                <a:cs typeface="Arial" pitchFamily="34" charset="-120"/>
              </a:rPr>
              <a:t>You may have been to the history museums…, but have you ever been to a museum that is all about human skills?</a:t>
            </a:r>
            <a:endParaRPr lang="en-US" sz="1350" dirty="0"/>
          </a:p>
        </p:txBody>
      </p:sp>
      <p:sp>
        <p:nvSpPr>
          <p:cNvPr id="9" name="Text 6"/>
          <p:cNvSpPr/>
          <p:nvPr/>
        </p:nvSpPr>
        <p:spPr>
          <a:xfrm>
            <a:off x="1170432" y="2322576"/>
            <a:ext cx="6108192" cy="457200"/>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你可能去过历史博物馆……但你有没有去过一座完全关于人类技能的博物馆？</a:t>
            </a:r>
            <a:endParaRPr lang="en-US" sz="1150" dirty="0"/>
          </a:p>
        </p:txBody>
      </p:sp>
      <p:sp>
        <p:nvSpPr>
          <p:cNvPr id="10" name="Text 7"/>
          <p:cNvSpPr/>
          <p:nvPr/>
        </p:nvSpPr>
        <p:spPr>
          <a:xfrm>
            <a:off x="548640" y="2999232"/>
            <a:ext cx="4023360" cy="237744"/>
          </a:xfrm>
          <a:prstGeom prst="rect">
            <a:avLst/>
          </a:prstGeom>
          <a:noFill/>
          <a:ln/>
        </p:spPr>
        <p:txBody>
          <a:bodyPr wrap="square" lIns="0" tIns="0" rIns="0" bIns="0" rtlCol="0" anchor="ctr"/>
          <a:lstStyle/>
          <a:p>
            <a:pPr marL="0" indent="0">
              <a:buNone/>
            </a:pPr>
            <a:r>
              <a:rPr lang="en-US" sz="1200" b="1" kern="0" spc="120" dirty="0">
                <a:solidFill>
                  <a:srgbClr val="0E6F63"/>
                </a:solidFill>
                <a:latin typeface="Microsoft YaHei" pitchFamily="34" charset="0"/>
                <a:ea typeface="Microsoft YaHei" pitchFamily="34" charset="-122"/>
                <a:cs typeface="Microsoft YaHei" pitchFamily="34" charset="-120"/>
              </a:rPr>
              <a:t>骨架：让步 → 反问</a:t>
            </a:r>
            <a:endParaRPr lang="en-US" sz="1200" dirty="0"/>
          </a:p>
        </p:txBody>
      </p:sp>
      <p:sp>
        <p:nvSpPr>
          <p:cNvPr id="11" name="Text 8"/>
          <p:cNvSpPr/>
          <p:nvPr/>
        </p:nvSpPr>
        <p:spPr>
          <a:xfrm>
            <a:off x="548640" y="3255264"/>
            <a:ext cx="6903720" cy="384048"/>
          </a:xfrm>
          <a:prstGeom prst="rect">
            <a:avLst/>
          </a:prstGeom>
          <a:noFill/>
          <a:ln/>
        </p:spPr>
        <p:txBody>
          <a:bodyPr wrap="square" lIns="0" tIns="0" rIns="0" bIns="0" rtlCol="0" anchor="ctr"/>
          <a:lstStyle/>
          <a:p>
            <a:pPr marL="0" indent="0">
              <a:buNone/>
            </a:pPr>
            <a:r>
              <a:rPr lang="en-US" sz="1600" b="1" dirty="0">
                <a:solidFill>
                  <a:srgbClr val="0B4F46"/>
                </a:solidFill>
                <a:latin typeface="Arial" pitchFamily="34" charset="0"/>
                <a:ea typeface="Arial" pitchFamily="34" charset="-122"/>
                <a:cs typeface="Arial" pitchFamily="34" charset="-120"/>
              </a:rPr>
              <a:t>[You may have been to A], but have you ever been to [B]?</a:t>
            </a:r>
            <a:endParaRPr lang="en-US" sz="1600" dirty="0"/>
          </a:p>
        </p:txBody>
      </p:sp>
      <p:sp>
        <p:nvSpPr>
          <p:cNvPr id="12" name="Text 9"/>
          <p:cNvSpPr/>
          <p:nvPr/>
        </p:nvSpPr>
        <p:spPr>
          <a:xfrm>
            <a:off x="548640" y="3675888"/>
            <a:ext cx="6903720" cy="402336"/>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A 是听众熟悉的事物，B 是你要介绍的新事物；may have been to 表示「也许去过」，语气客气，不冒犯听众。</a:t>
            </a:r>
            <a:endParaRPr lang="en-US" sz="1150" dirty="0"/>
          </a:p>
        </p:txBody>
      </p:sp>
      <p:sp>
        <p:nvSpPr>
          <p:cNvPr id="13" name="Text 10"/>
          <p:cNvSpPr/>
          <p:nvPr/>
        </p:nvSpPr>
        <p:spPr>
          <a:xfrm>
            <a:off x="548640" y="4169664"/>
            <a:ext cx="6903720"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举一反三 · 换主语 / 换地点 / 换对象</a:t>
            </a:r>
            <a:endParaRPr lang="en-US" sz="1200" dirty="0"/>
          </a:p>
        </p:txBody>
      </p:sp>
      <p:pic>
        <p:nvPicPr>
          <p:cNvPr id="14" name="Image 1" descr="示例"/>
          <p:cNvPicPr>
            <a:picLocks noChangeAspect="1"/>
          </p:cNvPicPr>
          <p:nvPr/>
        </p:nvPicPr>
        <p:blipFill>
          <a:blip r:embed="rId4"/>
          <a:stretch>
            <a:fillRect/>
          </a:stretch>
        </p:blipFill>
        <p:spPr>
          <a:xfrm>
            <a:off x="548640" y="4480560"/>
            <a:ext cx="201168" cy="201168"/>
          </a:xfrm>
          <a:prstGeom prst="rect">
            <a:avLst/>
          </a:prstGeom>
        </p:spPr>
      </p:pic>
      <p:sp>
        <p:nvSpPr>
          <p:cNvPr id="15" name="Text 11"/>
          <p:cNvSpPr/>
          <p:nvPr/>
        </p:nvSpPr>
        <p:spPr>
          <a:xfrm>
            <a:off x="822960" y="4443984"/>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You may have been to a concert, but have you ever been to a guitar workshop?</a:t>
            </a:r>
            <a:endParaRPr lang="en-US" sz="1200" dirty="0"/>
          </a:p>
        </p:txBody>
      </p:sp>
      <p:sp>
        <p:nvSpPr>
          <p:cNvPr id="16" name="Text 12"/>
          <p:cNvSpPr/>
          <p:nvPr/>
        </p:nvSpPr>
        <p:spPr>
          <a:xfrm>
            <a:off x="822960" y="4663440"/>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你可能去过音乐会，但你有没有去过吉他工坊？</a:t>
            </a:r>
            <a:endParaRPr lang="en-US" sz="1050" dirty="0"/>
          </a:p>
        </p:txBody>
      </p:sp>
      <p:pic>
        <p:nvPicPr>
          <p:cNvPr id="17" name="Image 2" descr="示例"/>
          <p:cNvPicPr>
            <a:picLocks noChangeAspect="1"/>
          </p:cNvPicPr>
          <p:nvPr/>
        </p:nvPicPr>
        <p:blipFill>
          <a:blip r:embed="rId4"/>
          <a:stretch>
            <a:fillRect/>
          </a:stretch>
        </p:blipFill>
        <p:spPr>
          <a:xfrm>
            <a:off x="548640" y="5047488"/>
            <a:ext cx="201168" cy="201168"/>
          </a:xfrm>
          <a:prstGeom prst="rect">
            <a:avLst/>
          </a:prstGeom>
        </p:spPr>
      </p:pic>
      <p:sp>
        <p:nvSpPr>
          <p:cNvPr id="18" name="Text 13"/>
          <p:cNvSpPr/>
          <p:nvPr/>
        </p:nvSpPr>
        <p:spPr>
          <a:xfrm>
            <a:off x="822960" y="5010912"/>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We may have read about this craft, but have we ever tried it ourselves?</a:t>
            </a:r>
            <a:endParaRPr lang="en-US" sz="1200" dirty="0"/>
          </a:p>
        </p:txBody>
      </p:sp>
      <p:sp>
        <p:nvSpPr>
          <p:cNvPr id="19" name="Text 14"/>
          <p:cNvSpPr/>
          <p:nvPr/>
        </p:nvSpPr>
        <p:spPr>
          <a:xfrm>
            <a:off x="822960" y="5230368"/>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我们也许读过这门手艺，但有没有亲手试过？</a:t>
            </a:r>
            <a:endParaRPr lang="en-US" sz="1050" dirty="0"/>
          </a:p>
        </p:txBody>
      </p:sp>
      <p:pic>
        <p:nvPicPr>
          <p:cNvPr id="20" name="Image 3" descr="示例"/>
          <p:cNvPicPr>
            <a:picLocks noChangeAspect="1"/>
          </p:cNvPicPr>
          <p:nvPr/>
        </p:nvPicPr>
        <p:blipFill>
          <a:blip r:embed="rId4"/>
          <a:stretch>
            <a:fillRect/>
          </a:stretch>
        </p:blipFill>
        <p:spPr>
          <a:xfrm>
            <a:off x="548640" y="5614416"/>
            <a:ext cx="201168" cy="201168"/>
          </a:xfrm>
          <a:prstGeom prst="rect">
            <a:avLst/>
          </a:prstGeom>
        </p:spPr>
      </p:pic>
      <p:sp>
        <p:nvSpPr>
          <p:cNvPr id="21" name="Text 15"/>
          <p:cNvSpPr/>
          <p:nvPr/>
        </p:nvSpPr>
        <p:spPr>
          <a:xfrm>
            <a:off x="822960" y="5577840"/>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She may have been to many cities, but has she ever been to a bike city?</a:t>
            </a:r>
            <a:endParaRPr lang="en-US" sz="1200" dirty="0"/>
          </a:p>
        </p:txBody>
      </p:sp>
      <p:sp>
        <p:nvSpPr>
          <p:cNvPr id="22" name="Text 16"/>
          <p:cNvSpPr/>
          <p:nvPr/>
        </p:nvSpPr>
        <p:spPr>
          <a:xfrm>
            <a:off x="822960" y="5797296"/>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她也许去过很多城市，但有没有去过自行车之城？</a:t>
            </a:r>
            <a:endParaRPr lang="en-US" sz="1050" dirty="0"/>
          </a:p>
        </p:txBody>
      </p:sp>
      <p:sp>
        <p:nvSpPr>
          <p:cNvPr id="23" name="Text 17"/>
          <p:cNvSpPr/>
          <p:nvPr/>
        </p:nvSpPr>
        <p:spPr>
          <a:xfrm>
            <a:off x="7772400" y="1481328"/>
            <a:ext cx="3867912"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重点词汇 · 音标 · 释义 · 模板</a:t>
            </a:r>
            <a:endParaRPr lang="en-US" sz="1200" dirty="0"/>
          </a:p>
        </p:txBody>
      </p:sp>
      <p:sp>
        <p:nvSpPr>
          <p:cNvPr id="24" name="Shape 18"/>
          <p:cNvSpPr/>
          <p:nvPr/>
        </p:nvSpPr>
        <p:spPr>
          <a:xfrm>
            <a:off x="7772400" y="1792224"/>
            <a:ext cx="3867912" cy="1517904"/>
          </a:xfrm>
          <a:prstGeom prst="roundRect">
            <a:avLst>
              <a:gd name="adj" fmla="val 2410"/>
            </a:avLst>
          </a:prstGeom>
          <a:solidFill>
            <a:srgbClr val="FDF1E3"/>
          </a:solidFill>
          <a:ln w="9525">
            <a:solidFill>
              <a:srgbClr val="F0DFC7"/>
            </a:solidFill>
            <a:prstDash val="solid"/>
          </a:ln>
        </p:spPr>
      </p:sp>
      <p:sp>
        <p:nvSpPr>
          <p:cNvPr id="25" name="Text 19"/>
          <p:cNvSpPr/>
          <p:nvPr/>
        </p:nvSpPr>
        <p:spPr>
          <a:xfrm>
            <a:off x="7991856" y="190195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gallery</a:t>
            </a:r>
            <a:endParaRPr lang="en-US" sz="1800" dirty="0"/>
          </a:p>
        </p:txBody>
      </p:sp>
      <p:sp>
        <p:nvSpPr>
          <p:cNvPr id="26" name="Text 20"/>
          <p:cNvSpPr/>
          <p:nvPr/>
        </p:nvSpPr>
        <p:spPr>
          <a:xfrm>
            <a:off x="7991856" y="217627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n. </a:t>
            </a:r>
            <a:r>
              <a:rPr lang="en-US" sz="1200" dirty="0">
                <a:solidFill>
                  <a:srgbClr val="5B6B80"/>
                </a:solidFill>
                <a:latin typeface="Arial" pitchFamily="34" charset="0"/>
                <a:ea typeface="Arial" pitchFamily="34" charset="-122"/>
                <a:cs typeface="Arial" pitchFamily="34" charset="-120"/>
              </a:rPr>
              <a:t>/ˈɡæləri/</a:t>
            </a:r>
            <a:endParaRPr lang="en-US" sz="1150" dirty="0"/>
          </a:p>
        </p:txBody>
      </p:sp>
      <p:sp>
        <p:nvSpPr>
          <p:cNvPr id="27" name="Text 21"/>
          <p:cNvSpPr/>
          <p:nvPr/>
        </p:nvSpPr>
        <p:spPr>
          <a:xfrm>
            <a:off x="7991856" y="239572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美术馆，画廊</a:t>
            </a:r>
            <a:endParaRPr lang="en-US" sz="1300" dirty="0"/>
          </a:p>
        </p:txBody>
      </p:sp>
      <p:sp>
        <p:nvSpPr>
          <p:cNvPr id="28" name="Text 22"/>
          <p:cNvSpPr/>
          <p:nvPr/>
        </p:nvSpPr>
        <p:spPr>
          <a:xfrm>
            <a:off x="7991856" y="265176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art gallery 美术馆</a:t>
            </a:r>
            <a:endParaRPr lang="en-US" sz="1050" dirty="0"/>
          </a:p>
        </p:txBody>
      </p:sp>
      <p:sp>
        <p:nvSpPr>
          <p:cNvPr id="29" name="Text 23"/>
          <p:cNvSpPr/>
          <p:nvPr/>
        </p:nvSpPr>
        <p:spPr>
          <a:xfrm>
            <a:off x="7991856" y="285292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art galleries and science centers</a:t>
            </a:r>
            <a:endParaRPr lang="en-US" sz="1050" dirty="0"/>
          </a:p>
        </p:txBody>
      </p:sp>
      <p:sp>
        <p:nvSpPr>
          <p:cNvPr id="30" name="Shape 24"/>
          <p:cNvSpPr/>
          <p:nvPr/>
        </p:nvSpPr>
        <p:spPr>
          <a:xfrm>
            <a:off x="7772400" y="3438144"/>
            <a:ext cx="3867912" cy="1517904"/>
          </a:xfrm>
          <a:prstGeom prst="roundRect">
            <a:avLst>
              <a:gd name="adj" fmla="val 2410"/>
            </a:avLst>
          </a:prstGeom>
          <a:solidFill>
            <a:srgbClr val="FDF1E3"/>
          </a:solidFill>
          <a:ln w="9525">
            <a:solidFill>
              <a:srgbClr val="F0DFC7"/>
            </a:solidFill>
            <a:prstDash val="solid"/>
          </a:ln>
        </p:spPr>
      </p:sp>
      <p:sp>
        <p:nvSpPr>
          <p:cNvPr id="31" name="Text 25"/>
          <p:cNvSpPr/>
          <p:nvPr/>
        </p:nvSpPr>
        <p:spPr>
          <a:xfrm>
            <a:off x="7991856" y="354787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ever</a:t>
            </a:r>
            <a:endParaRPr lang="en-US" sz="1800" dirty="0"/>
          </a:p>
        </p:txBody>
      </p:sp>
      <p:sp>
        <p:nvSpPr>
          <p:cNvPr id="32" name="Text 26"/>
          <p:cNvSpPr/>
          <p:nvPr/>
        </p:nvSpPr>
        <p:spPr>
          <a:xfrm>
            <a:off x="7991856" y="382219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adv. </a:t>
            </a:r>
            <a:r>
              <a:rPr lang="en-US" sz="1200" dirty="0">
                <a:solidFill>
                  <a:srgbClr val="5B6B80"/>
                </a:solidFill>
                <a:latin typeface="Arial" pitchFamily="34" charset="0"/>
                <a:ea typeface="Arial" pitchFamily="34" charset="-122"/>
                <a:cs typeface="Arial" pitchFamily="34" charset="-120"/>
              </a:rPr>
              <a:t>/ˈevə(r)/</a:t>
            </a:r>
            <a:endParaRPr lang="en-US" sz="1150" dirty="0"/>
          </a:p>
        </p:txBody>
      </p:sp>
      <p:sp>
        <p:nvSpPr>
          <p:cNvPr id="33" name="Text 27"/>
          <p:cNvSpPr/>
          <p:nvPr/>
        </p:nvSpPr>
        <p:spPr>
          <a:xfrm>
            <a:off x="7991856" y="404164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曾经，在任何时候</a:t>
            </a:r>
            <a:endParaRPr lang="en-US" sz="1300" dirty="0"/>
          </a:p>
        </p:txBody>
      </p:sp>
      <p:sp>
        <p:nvSpPr>
          <p:cNvPr id="34" name="Text 28"/>
          <p:cNvSpPr/>
          <p:nvPr/>
        </p:nvSpPr>
        <p:spPr>
          <a:xfrm>
            <a:off x="7991856" y="429768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问经历专用</a:t>
            </a:r>
            <a:endParaRPr lang="en-US" sz="1050" dirty="0"/>
          </a:p>
        </p:txBody>
      </p:sp>
      <p:sp>
        <p:nvSpPr>
          <p:cNvPr id="35" name="Text 29"/>
          <p:cNvSpPr/>
          <p:nvPr/>
        </p:nvSpPr>
        <p:spPr>
          <a:xfrm>
            <a:off x="7991856" y="449884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have you ever + 过去分词?</a:t>
            </a:r>
            <a:endParaRPr lang="en-US" sz="1050" dirty="0"/>
          </a:p>
        </p:txBody>
      </p:sp>
      <p:sp>
        <p:nvSpPr>
          <p:cNvPr id="36" name="Shape 30"/>
          <p:cNvSpPr/>
          <p:nvPr/>
        </p:nvSpPr>
        <p:spPr>
          <a:xfrm>
            <a:off x="7772400" y="5084064"/>
            <a:ext cx="3867912" cy="786384"/>
          </a:xfrm>
          <a:prstGeom prst="roundRect">
            <a:avLst>
              <a:gd name="adj" fmla="val 4651"/>
            </a:avLst>
          </a:prstGeom>
          <a:solidFill>
            <a:srgbClr val="F2F5F9"/>
          </a:solidFill>
          <a:ln w="9525">
            <a:solidFill>
              <a:srgbClr val="D8DEE7"/>
            </a:solidFill>
            <a:prstDash val="solid"/>
          </a:ln>
        </p:spPr>
      </p:sp>
      <p:pic>
        <p:nvPicPr>
          <p:cNvPr id="37" name="Image 4" descr="提示"/>
          <p:cNvPicPr>
            <a:picLocks noChangeAspect="1"/>
          </p:cNvPicPr>
          <p:nvPr/>
        </p:nvPicPr>
        <p:blipFill>
          <a:blip r:embed="rId5"/>
          <a:stretch>
            <a:fillRect/>
          </a:stretch>
        </p:blipFill>
        <p:spPr>
          <a:xfrm>
            <a:off x="7991856" y="5358384"/>
            <a:ext cx="237744" cy="237744"/>
          </a:xfrm>
          <a:prstGeom prst="rect">
            <a:avLst/>
          </a:prstGeom>
        </p:spPr>
      </p:pic>
      <p:sp>
        <p:nvSpPr>
          <p:cNvPr id="38" name="Text 31"/>
          <p:cNvSpPr/>
          <p:nvPr/>
        </p:nvSpPr>
        <p:spPr>
          <a:xfrm>
            <a:off x="8321040" y="5212080"/>
            <a:ext cx="3099816" cy="548640"/>
          </a:xfrm>
          <a:prstGeom prst="rect">
            <a:avLst/>
          </a:prstGeom>
          <a:noFill/>
          <a:ln/>
        </p:spPr>
        <p:txBody>
          <a:bodyPr wrap="square" lIns="0" tIns="0" rIns="0" bIns="0" rtlCol="0" anchor="ctr"/>
          <a:lstStyle/>
          <a:p>
            <a:pPr marL="0" indent="0">
              <a:buNone/>
            </a:pPr>
            <a:r>
              <a:rPr lang="en-US" sz="1100" dirty="0">
                <a:solidFill>
                  <a:srgbClr val="5B6B80"/>
                </a:solidFill>
                <a:latin typeface="Microsoft YaHei" pitchFamily="34" charset="0"/>
                <a:ea typeface="Microsoft YaHei" pitchFamily="34" charset="-122"/>
                <a:cs typeface="Microsoft YaHei" pitchFamily="34" charset="-120"/>
              </a:rPr>
              <a:t>have you ever been to 问的是「去过某地」，have you ever done 问的是「做过某事」，两者不要混用。</a:t>
            </a:r>
            <a:endParaRPr lang="en-US" sz="1100" dirty="0"/>
          </a:p>
        </p:txBody>
      </p:sp>
      <p:sp>
        <p:nvSpPr>
          <p:cNvPr id="39" name="Text 32"/>
          <p:cNvSpPr/>
          <p:nvPr/>
        </p:nvSpPr>
        <p:spPr>
          <a:xfrm>
            <a:off x="548640" y="6364224"/>
            <a:ext cx="11091672" cy="274320"/>
          </a:xfrm>
          <a:prstGeom prst="rect">
            <a:avLst/>
          </a:prstGeom>
          <a:noFill/>
          <a:ln/>
        </p:spPr>
        <p:txBody>
          <a:bodyPr wrap="square" lIns="0" tIns="0" rIns="0" bIns="0" rtlCol="0" anchor="ctr"/>
          <a:lstStyle/>
          <a:p>
            <a:pPr marL="0" indent="0">
              <a:buNone/>
            </a:pPr>
            <a:r>
              <a:rPr lang="en-US" sz="1000" dirty="0">
                <a:solidFill>
                  <a:srgbClr val="5B6B80"/>
                </a:solidFill>
                <a:latin typeface="Microsoft YaHei" pitchFamily="34" charset="0"/>
                <a:ea typeface="Microsoft YaHei" pitchFamily="34" charset="-122"/>
                <a:cs typeface="Microsoft YaHei" pitchFamily="34" charset="-120"/>
              </a:rPr>
              <a:t>语料：[00:05] You may have been to the history museums, art galleries…</a:t>
            </a:r>
            <a:endParaRPr lang="en-US" sz="1000" dirty="0"/>
          </a:p>
        </p:txBody>
      </p:sp>
      <p:pic>
        <p:nvPicPr>
          <p:cNvPr id="40" name="PPTClaw Watermark 1"/>
          <p:cNvPicPr>
            <a:picLocks noChangeAspect="1"/>
          </p:cNvPicPr>
          <p:nvPr/>
        </p:nvPicPr>
        <p:blipFill>
          <a:blip r:embed="rId6"/>
          <a:stretch>
            <a:fillRect/>
          </a:stretch>
        </p:blipFill>
        <p:spPr>
          <a:xfrm>
            <a:off x="10982294" y="6446520"/>
            <a:ext cx="1141126" cy="3429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buNone/>
            </a:pPr>
            <a:r>
              <a:rPr lang="en-US" sz="1200" b="1" kern="0" spc="160" dirty="0">
                <a:solidFill>
                  <a:srgbClr val="0E6F63"/>
                </a:solidFill>
                <a:latin typeface="Microsoft YaHei" pitchFamily="34" charset="0"/>
                <a:ea typeface="Microsoft YaHei" pitchFamily="34" charset="-122"/>
                <a:cs typeface="Microsoft YaHei" pitchFamily="34" charset="-120"/>
              </a:rPr>
              <a:t>PATTERN 02 · 地点强调</a:t>
            </a:r>
            <a:endParaRPr lang="en-US" sz="1200" dirty="0"/>
          </a:p>
        </p:txBody>
      </p:sp>
      <p:sp>
        <p:nvSpPr>
          <p:cNvPr id="3" name="Text 1"/>
          <p:cNvSpPr/>
          <p:nvPr/>
        </p:nvSpPr>
        <p:spPr>
          <a:xfrm>
            <a:off x="548640" y="713232"/>
            <a:ext cx="10424160" cy="566928"/>
          </a:xfrm>
          <a:prstGeom prst="rect">
            <a:avLst/>
          </a:prstGeom>
          <a:noFill/>
          <a:ln/>
        </p:spPr>
        <p:txBody>
          <a:bodyPr wrap="square" lIns="0" tIns="0" rIns="0" bIns="0" rtlCol="0" anchor="ctr"/>
          <a:lstStyle/>
          <a:p>
            <a:pPr marL="0" indent="0">
              <a:buNone/>
            </a:pPr>
            <a:r>
              <a:rPr lang="en-US" sz="3000" b="1" dirty="0">
                <a:solidFill>
                  <a:srgbClr val="16233A"/>
                </a:solidFill>
                <a:latin typeface="Microsoft YaHei" pitchFamily="34" charset="0"/>
                <a:ea typeface="Microsoft YaHei" pitchFamily="34" charset="-122"/>
                <a:cs typeface="Microsoft YaHei" pitchFamily="34" charset="-120"/>
              </a:rPr>
              <a:t>把地点前置，凸显唯一性</a:t>
            </a:r>
            <a:endParaRPr lang="en-US" sz="3000" dirty="0"/>
          </a:p>
        </p:txBody>
      </p:sp>
      <p:sp>
        <p:nvSpPr>
          <p:cNvPr id="4" name="Shape 2"/>
          <p:cNvSpPr/>
          <p:nvPr/>
        </p:nvSpPr>
        <p:spPr>
          <a:xfrm>
            <a:off x="548640" y="1371600"/>
            <a:ext cx="11091672" cy="18288"/>
          </a:xfrm>
          <a:prstGeom prst="rect">
            <a:avLst/>
          </a:prstGeom>
          <a:solidFill>
            <a:srgbClr val="0E6F63"/>
          </a:solidFill>
          <a:ln w="12700">
            <a:solidFill>
              <a:srgbClr val="0E6F63"/>
            </a:solidFill>
            <a:prstDash val="solid"/>
          </a:ln>
        </p:spPr>
      </p:sp>
      <p:sp>
        <p:nvSpPr>
          <p:cNvPr id="5" name="Text 3"/>
          <p:cNvSpPr/>
          <p:nvPr/>
        </p:nvSpPr>
        <p:spPr>
          <a:xfrm>
            <a:off x="11109960" y="384048"/>
            <a:ext cx="548640" cy="310896"/>
          </a:xfrm>
          <a:prstGeom prst="rect">
            <a:avLst/>
          </a:prstGeom>
          <a:noFill/>
          <a:ln/>
        </p:spPr>
        <p:txBody>
          <a:bodyPr wrap="square" lIns="0" tIns="0" rIns="0" bIns="0" rtlCol="0" anchor="ctr"/>
          <a:lstStyle/>
          <a:p>
            <a:pPr marL="0" indent="0" algn="r">
              <a:buNone/>
            </a:pPr>
            <a:r>
              <a:rPr lang="en-US" sz="1600" b="1" dirty="0">
                <a:solidFill>
                  <a:srgbClr val="5B6B80"/>
                </a:solidFill>
                <a:latin typeface="Microsoft YaHei" pitchFamily="34" charset="0"/>
                <a:ea typeface="Microsoft YaHei" pitchFamily="34" charset="-122"/>
                <a:cs typeface="Microsoft YaHei" pitchFamily="34" charset="-120"/>
              </a:rPr>
              <a:t>04</a:t>
            </a:r>
            <a:endParaRPr lang="en-US" sz="1600" dirty="0"/>
          </a:p>
        </p:txBody>
      </p:sp>
      <p:sp>
        <p:nvSpPr>
          <p:cNvPr id="6" name="Shape 4"/>
          <p:cNvSpPr/>
          <p:nvPr/>
        </p:nvSpPr>
        <p:spPr>
          <a:xfrm>
            <a:off x="548640" y="1481328"/>
            <a:ext cx="6903720" cy="1426464"/>
          </a:xfrm>
          <a:prstGeom prst="roundRect">
            <a:avLst>
              <a:gd name="adj" fmla="val 2564"/>
            </a:avLst>
          </a:prstGeom>
          <a:solidFill>
            <a:srgbClr val="E7F2EF"/>
          </a:solidFill>
          <a:ln w="9525">
            <a:solidFill>
              <a:srgbClr val="CFE3DE"/>
            </a:solidFill>
            <a:prstDash val="solid"/>
          </a:ln>
        </p:spPr>
      </p:sp>
      <p:pic>
        <p:nvPicPr>
          <p:cNvPr id="7" name="Image 0" descr="原句"/>
          <p:cNvPicPr>
            <a:picLocks noChangeAspect="1"/>
          </p:cNvPicPr>
          <p:nvPr/>
        </p:nvPicPr>
        <p:blipFill>
          <a:blip r:embed="rId3"/>
          <a:stretch>
            <a:fillRect/>
          </a:stretch>
        </p:blipFill>
        <p:spPr>
          <a:xfrm>
            <a:off x="749808" y="1627632"/>
            <a:ext cx="292608" cy="292608"/>
          </a:xfrm>
          <a:prstGeom prst="rect">
            <a:avLst/>
          </a:prstGeom>
        </p:spPr>
      </p:pic>
      <p:sp>
        <p:nvSpPr>
          <p:cNvPr id="8" name="Text 5"/>
          <p:cNvSpPr/>
          <p:nvPr/>
        </p:nvSpPr>
        <p:spPr>
          <a:xfrm>
            <a:off x="1170432" y="1627632"/>
            <a:ext cx="6108192" cy="658368"/>
          </a:xfrm>
          <a:prstGeom prst="rect">
            <a:avLst/>
          </a:prstGeom>
          <a:noFill/>
          <a:ln/>
        </p:spPr>
        <p:txBody>
          <a:bodyPr wrap="square" lIns="0" tIns="0" rIns="0" bIns="0" rtlCol="0" anchor="ctr"/>
          <a:lstStyle/>
          <a:p>
            <a:pPr marL="0" indent="0">
              <a:buNone/>
            </a:pPr>
            <a:r>
              <a:rPr lang="en-US" sz="1350" b="1" dirty="0">
                <a:solidFill>
                  <a:srgbClr val="0B4F46"/>
                </a:solidFill>
                <a:latin typeface="Arial" pitchFamily="34" charset="0"/>
                <a:ea typeface="Arial" pitchFamily="34" charset="-122"/>
                <a:cs typeface="Arial" pitchFamily="34" charset="-120"/>
              </a:rPr>
              <a:t>Well, right here in Shanghai, the host city of the upcoming 48th WorldSkills Competition, is the world's only official WorldSkills Museum.</a:t>
            </a:r>
            <a:endParaRPr lang="en-US" sz="1350" dirty="0"/>
          </a:p>
        </p:txBody>
      </p:sp>
      <p:sp>
        <p:nvSpPr>
          <p:cNvPr id="9" name="Text 6"/>
          <p:cNvSpPr/>
          <p:nvPr/>
        </p:nvSpPr>
        <p:spPr>
          <a:xfrm>
            <a:off x="1170432" y="2322576"/>
            <a:ext cx="6108192" cy="457200"/>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而在即将举办第 48 届世界技能大赛的主办城市——上海，就有全球唯一一座官方世界技能博物馆。</a:t>
            </a:r>
            <a:endParaRPr lang="en-US" sz="1150" dirty="0"/>
          </a:p>
        </p:txBody>
      </p:sp>
      <p:sp>
        <p:nvSpPr>
          <p:cNvPr id="10" name="Text 7"/>
          <p:cNvSpPr/>
          <p:nvPr/>
        </p:nvSpPr>
        <p:spPr>
          <a:xfrm>
            <a:off x="548640" y="2999232"/>
            <a:ext cx="4023360" cy="237744"/>
          </a:xfrm>
          <a:prstGeom prst="rect">
            <a:avLst/>
          </a:prstGeom>
          <a:noFill/>
          <a:ln/>
        </p:spPr>
        <p:txBody>
          <a:bodyPr wrap="square" lIns="0" tIns="0" rIns="0" bIns="0" rtlCol="0" anchor="ctr"/>
          <a:lstStyle/>
          <a:p>
            <a:pPr marL="0" indent="0">
              <a:buNone/>
            </a:pPr>
            <a:r>
              <a:rPr lang="en-US" sz="1200" b="1" kern="0" spc="120" dirty="0">
                <a:solidFill>
                  <a:srgbClr val="0E6F63"/>
                </a:solidFill>
                <a:latin typeface="Microsoft YaHei" pitchFamily="34" charset="0"/>
                <a:ea typeface="Microsoft YaHei" pitchFamily="34" charset="-122"/>
                <a:cs typeface="Microsoft YaHei" pitchFamily="34" charset="-120"/>
              </a:rPr>
              <a:t>骨架：地点前置倒装</a:t>
            </a:r>
            <a:endParaRPr lang="en-US" sz="1200" dirty="0"/>
          </a:p>
        </p:txBody>
      </p:sp>
      <p:sp>
        <p:nvSpPr>
          <p:cNvPr id="11" name="Text 8"/>
          <p:cNvSpPr/>
          <p:nvPr/>
        </p:nvSpPr>
        <p:spPr>
          <a:xfrm>
            <a:off x="548640" y="3255264"/>
            <a:ext cx="6903720" cy="384048"/>
          </a:xfrm>
          <a:prstGeom prst="rect">
            <a:avLst/>
          </a:prstGeom>
          <a:noFill/>
          <a:ln/>
        </p:spPr>
        <p:txBody>
          <a:bodyPr wrap="square" lIns="0" tIns="0" rIns="0" bIns="0" rtlCol="0" anchor="ctr"/>
          <a:lstStyle/>
          <a:p>
            <a:pPr marL="0" indent="0">
              <a:buNone/>
            </a:pPr>
            <a:r>
              <a:rPr lang="en-US" sz="1600" b="1" dirty="0">
                <a:solidFill>
                  <a:srgbClr val="0B4F46"/>
                </a:solidFill>
                <a:latin typeface="Arial" pitchFamily="34" charset="0"/>
                <a:ea typeface="Arial" pitchFamily="34" charset="-122"/>
                <a:cs typeface="Arial" pitchFamily="34" charset="-120"/>
              </a:rPr>
              <a:t>[Right here in + 地点], is [the world's only + 名词].</a:t>
            </a:r>
            <a:endParaRPr lang="en-US" sz="1600" dirty="0"/>
          </a:p>
        </p:txBody>
      </p:sp>
      <p:sp>
        <p:nvSpPr>
          <p:cNvPr id="12" name="Text 9"/>
          <p:cNvSpPr/>
          <p:nvPr/>
        </p:nvSpPr>
        <p:spPr>
          <a:xfrm>
            <a:off x="548640" y="3675888"/>
            <a:ext cx="6903720" cy="402336"/>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正常语序是 A is right here in B；把地点提到句首做倒装，句子重心落到后面的名词上，强调「就在眼前」。</a:t>
            </a:r>
            <a:endParaRPr lang="en-US" sz="1150" dirty="0"/>
          </a:p>
        </p:txBody>
      </p:sp>
      <p:sp>
        <p:nvSpPr>
          <p:cNvPr id="13" name="Text 10"/>
          <p:cNvSpPr/>
          <p:nvPr/>
        </p:nvSpPr>
        <p:spPr>
          <a:xfrm>
            <a:off x="548640" y="4169664"/>
            <a:ext cx="6903720"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举一反三 · 换主语 / 换地点 / 换对象</a:t>
            </a:r>
            <a:endParaRPr lang="en-US" sz="1200" dirty="0"/>
          </a:p>
        </p:txBody>
      </p:sp>
      <p:pic>
        <p:nvPicPr>
          <p:cNvPr id="14" name="Image 1" descr="示例"/>
          <p:cNvPicPr>
            <a:picLocks noChangeAspect="1"/>
          </p:cNvPicPr>
          <p:nvPr/>
        </p:nvPicPr>
        <p:blipFill>
          <a:blip r:embed="rId4"/>
          <a:stretch>
            <a:fillRect/>
          </a:stretch>
        </p:blipFill>
        <p:spPr>
          <a:xfrm>
            <a:off x="548640" y="4480560"/>
            <a:ext cx="201168" cy="201168"/>
          </a:xfrm>
          <a:prstGeom prst="rect">
            <a:avLst/>
          </a:prstGeom>
        </p:spPr>
      </p:pic>
      <p:sp>
        <p:nvSpPr>
          <p:cNvPr id="15" name="Text 11"/>
          <p:cNvSpPr/>
          <p:nvPr/>
        </p:nvSpPr>
        <p:spPr>
          <a:xfrm>
            <a:off x="822960" y="4443984"/>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Right here in this small town is the country's only clock-making school.</a:t>
            </a:r>
            <a:endParaRPr lang="en-US" sz="1200" dirty="0"/>
          </a:p>
        </p:txBody>
      </p:sp>
      <p:sp>
        <p:nvSpPr>
          <p:cNvPr id="16" name="Text 12"/>
          <p:cNvSpPr/>
          <p:nvPr/>
        </p:nvSpPr>
        <p:spPr>
          <a:xfrm>
            <a:off x="822960" y="4663440"/>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就在这个小镇上，有全国唯一一所钟表制作学校。</a:t>
            </a:r>
            <a:endParaRPr lang="en-US" sz="1050" dirty="0"/>
          </a:p>
        </p:txBody>
      </p:sp>
      <p:pic>
        <p:nvPicPr>
          <p:cNvPr id="17" name="Image 2" descr="示例"/>
          <p:cNvPicPr>
            <a:picLocks noChangeAspect="1"/>
          </p:cNvPicPr>
          <p:nvPr/>
        </p:nvPicPr>
        <p:blipFill>
          <a:blip r:embed="rId4"/>
          <a:stretch>
            <a:fillRect/>
          </a:stretch>
        </p:blipFill>
        <p:spPr>
          <a:xfrm>
            <a:off x="548640" y="5047488"/>
            <a:ext cx="201168" cy="201168"/>
          </a:xfrm>
          <a:prstGeom prst="rect">
            <a:avLst/>
          </a:prstGeom>
        </p:spPr>
      </p:pic>
      <p:sp>
        <p:nvSpPr>
          <p:cNvPr id="18" name="Text 13"/>
          <p:cNvSpPr/>
          <p:nvPr/>
        </p:nvSpPr>
        <p:spPr>
          <a:xfrm>
            <a:off x="822960" y="5010912"/>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Right here in Shenzhen is China's first museum devoted to design.</a:t>
            </a:r>
            <a:endParaRPr lang="en-US" sz="1200" dirty="0"/>
          </a:p>
        </p:txBody>
      </p:sp>
      <p:sp>
        <p:nvSpPr>
          <p:cNvPr id="19" name="Text 14"/>
          <p:cNvSpPr/>
          <p:nvPr/>
        </p:nvSpPr>
        <p:spPr>
          <a:xfrm>
            <a:off x="822960" y="5230368"/>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就在深圳，有中国第一座以设计为主题的博物馆。</a:t>
            </a:r>
            <a:endParaRPr lang="en-US" sz="1050" dirty="0"/>
          </a:p>
        </p:txBody>
      </p:sp>
      <p:pic>
        <p:nvPicPr>
          <p:cNvPr id="20" name="Image 3" descr="示例"/>
          <p:cNvPicPr>
            <a:picLocks noChangeAspect="1"/>
          </p:cNvPicPr>
          <p:nvPr/>
        </p:nvPicPr>
        <p:blipFill>
          <a:blip r:embed="rId4"/>
          <a:stretch>
            <a:fillRect/>
          </a:stretch>
        </p:blipFill>
        <p:spPr>
          <a:xfrm>
            <a:off x="548640" y="5614416"/>
            <a:ext cx="201168" cy="201168"/>
          </a:xfrm>
          <a:prstGeom prst="rect">
            <a:avLst/>
          </a:prstGeom>
        </p:spPr>
      </p:pic>
      <p:sp>
        <p:nvSpPr>
          <p:cNvPr id="21" name="Text 15"/>
          <p:cNvSpPr/>
          <p:nvPr/>
        </p:nvSpPr>
        <p:spPr>
          <a:xfrm>
            <a:off x="822960" y="5577840"/>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Well, right here on this stage is the world's only young bakers' contest.</a:t>
            </a:r>
            <a:endParaRPr lang="en-US" sz="1200" dirty="0"/>
          </a:p>
        </p:txBody>
      </p:sp>
      <p:sp>
        <p:nvSpPr>
          <p:cNvPr id="22" name="Text 16"/>
          <p:cNvSpPr/>
          <p:nvPr/>
        </p:nvSpPr>
        <p:spPr>
          <a:xfrm>
            <a:off x="822960" y="5797296"/>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就在这个舞台上，有全球唯一一项青年烘焙师竞赛。</a:t>
            </a:r>
            <a:endParaRPr lang="en-US" sz="1050" dirty="0"/>
          </a:p>
        </p:txBody>
      </p:sp>
      <p:sp>
        <p:nvSpPr>
          <p:cNvPr id="23" name="Text 17"/>
          <p:cNvSpPr/>
          <p:nvPr/>
        </p:nvSpPr>
        <p:spPr>
          <a:xfrm>
            <a:off x="7772400" y="1481328"/>
            <a:ext cx="3867912"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重点词汇 · 音标 · 释义 · 模板</a:t>
            </a:r>
            <a:endParaRPr lang="en-US" sz="1200" dirty="0"/>
          </a:p>
        </p:txBody>
      </p:sp>
      <p:sp>
        <p:nvSpPr>
          <p:cNvPr id="24" name="Shape 18"/>
          <p:cNvSpPr/>
          <p:nvPr/>
        </p:nvSpPr>
        <p:spPr>
          <a:xfrm>
            <a:off x="7772400" y="1792224"/>
            <a:ext cx="3867912" cy="1517904"/>
          </a:xfrm>
          <a:prstGeom prst="roundRect">
            <a:avLst>
              <a:gd name="adj" fmla="val 2410"/>
            </a:avLst>
          </a:prstGeom>
          <a:solidFill>
            <a:srgbClr val="FDF1E3"/>
          </a:solidFill>
          <a:ln w="9525">
            <a:solidFill>
              <a:srgbClr val="F0DFC7"/>
            </a:solidFill>
            <a:prstDash val="solid"/>
          </a:ln>
        </p:spPr>
      </p:sp>
      <p:sp>
        <p:nvSpPr>
          <p:cNvPr id="25" name="Text 19"/>
          <p:cNvSpPr/>
          <p:nvPr/>
        </p:nvSpPr>
        <p:spPr>
          <a:xfrm>
            <a:off x="7991856" y="190195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host city</a:t>
            </a:r>
            <a:endParaRPr lang="en-US" sz="1800" dirty="0"/>
          </a:p>
        </p:txBody>
      </p:sp>
      <p:sp>
        <p:nvSpPr>
          <p:cNvPr id="26" name="Text 20"/>
          <p:cNvSpPr/>
          <p:nvPr/>
        </p:nvSpPr>
        <p:spPr>
          <a:xfrm>
            <a:off x="7991856" y="217627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n. </a:t>
            </a:r>
            <a:r>
              <a:rPr lang="en-US" sz="1200" dirty="0">
                <a:solidFill>
                  <a:srgbClr val="5B6B80"/>
                </a:solidFill>
                <a:latin typeface="Arial" pitchFamily="34" charset="0"/>
                <a:ea typeface="Arial" pitchFamily="34" charset="-122"/>
                <a:cs typeface="Arial" pitchFamily="34" charset="-120"/>
              </a:rPr>
              <a:t>/həʊst ˈsɪti/</a:t>
            </a:r>
            <a:endParaRPr lang="en-US" sz="1150" dirty="0"/>
          </a:p>
        </p:txBody>
      </p:sp>
      <p:sp>
        <p:nvSpPr>
          <p:cNvPr id="27" name="Text 21"/>
          <p:cNvSpPr/>
          <p:nvPr/>
        </p:nvSpPr>
        <p:spPr>
          <a:xfrm>
            <a:off x="7991856" y="239572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主办城市，举办城市</a:t>
            </a:r>
            <a:endParaRPr lang="en-US" sz="1300" dirty="0"/>
          </a:p>
        </p:txBody>
      </p:sp>
      <p:sp>
        <p:nvSpPr>
          <p:cNvPr id="28" name="Text 22"/>
          <p:cNvSpPr/>
          <p:nvPr/>
        </p:nvSpPr>
        <p:spPr>
          <a:xfrm>
            <a:off x="7991856" y="265176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the host city of the Games</a:t>
            </a:r>
            <a:endParaRPr lang="en-US" sz="1050" dirty="0"/>
          </a:p>
        </p:txBody>
      </p:sp>
      <p:sp>
        <p:nvSpPr>
          <p:cNvPr id="29" name="Text 23"/>
          <p:cNvSpPr/>
          <p:nvPr/>
        </p:nvSpPr>
        <p:spPr>
          <a:xfrm>
            <a:off x="7991856" y="285292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the host city of + 赛事</a:t>
            </a:r>
            <a:endParaRPr lang="en-US" sz="1050" dirty="0"/>
          </a:p>
        </p:txBody>
      </p:sp>
      <p:sp>
        <p:nvSpPr>
          <p:cNvPr id="30" name="Shape 24"/>
          <p:cNvSpPr/>
          <p:nvPr/>
        </p:nvSpPr>
        <p:spPr>
          <a:xfrm>
            <a:off x="7772400" y="3438144"/>
            <a:ext cx="3867912" cy="1517904"/>
          </a:xfrm>
          <a:prstGeom prst="roundRect">
            <a:avLst>
              <a:gd name="adj" fmla="val 2410"/>
            </a:avLst>
          </a:prstGeom>
          <a:solidFill>
            <a:srgbClr val="FDF1E3"/>
          </a:solidFill>
          <a:ln w="9525">
            <a:solidFill>
              <a:srgbClr val="F0DFC7"/>
            </a:solidFill>
            <a:prstDash val="solid"/>
          </a:ln>
        </p:spPr>
      </p:sp>
      <p:sp>
        <p:nvSpPr>
          <p:cNvPr id="31" name="Text 25"/>
          <p:cNvSpPr/>
          <p:nvPr/>
        </p:nvSpPr>
        <p:spPr>
          <a:xfrm>
            <a:off x="7991856" y="354787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official</a:t>
            </a:r>
            <a:endParaRPr lang="en-US" sz="1800" dirty="0"/>
          </a:p>
        </p:txBody>
      </p:sp>
      <p:sp>
        <p:nvSpPr>
          <p:cNvPr id="32" name="Text 26"/>
          <p:cNvSpPr/>
          <p:nvPr/>
        </p:nvSpPr>
        <p:spPr>
          <a:xfrm>
            <a:off x="7991856" y="382219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adj. </a:t>
            </a:r>
            <a:r>
              <a:rPr lang="en-US" sz="1200" dirty="0">
                <a:solidFill>
                  <a:srgbClr val="5B6B80"/>
                </a:solidFill>
                <a:latin typeface="Arial" pitchFamily="34" charset="0"/>
                <a:ea typeface="Arial" pitchFamily="34" charset="-122"/>
                <a:cs typeface="Arial" pitchFamily="34" charset="-120"/>
              </a:rPr>
              <a:t>/əˈfɪʃl/</a:t>
            </a:r>
            <a:endParaRPr lang="en-US" sz="1150" dirty="0"/>
          </a:p>
        </p:txBody>
      </p:sp>
      <p:sp>
        <p:nvSpPr>
          <p:cNvPr id="33" name="Text 27"/>
          <p:cNvSpPr/>
          <p:nvPr/>
        </p:nvSpPr>
        <p:spPr>
          <a:xfrm>
            <a:off x="7991856" y="404164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官方的，正式的</a:t>
            </a:r>
            <a:endParaRPr lang="en-US" sz="1300" dirty="0"/>
          </a:p>
        </p:txBody>
      </p:sp>
      <p:sp>
        <p:nvSpPr>
          <p:cNvPr id="34" name="Text 28"/>
          <p:cNvSpPr/>
          <p:nvPr/>
        </p:nvSpPr>
        <p:spPr>
          <a:xfrm>
            <a:off x="7991856" y="429768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officially adv. 官方地</a:t>
            </a:r>
            <a:endParaRPr lang="en-US" sz="1050" dirty="0"/>
          </a:p>
        </p:txBody>
      </p:sp>
      <p:sp>
        <p:nvSpPr>
          <p:cNvPr id="35" name="Text 29"/>
          <p:cNvSpPr/>
          <p:nvPr/>
        </p:nvSpPr>
        <p:spPr>
          <a:xfrm>
            <a:off x="7991856" y="449884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the only official + 名词</a:t>
            </a:r>
            <a:endParaRPr lang="en-US" sz="1050" dirty="0"/>
          </a:p>
        </p:txBody>
      </p:sp>
      <p:sp>
        <p:nvSpPr>
          <p:cNvPr id="36" name="Shape 30"/>
          <p:cNvSpPr/>
          <p:nvPr/>
        </p:nvSpPr>
        <p:spPr>
          <a:xfrm>
            <a:off x="7772400" y="5084064"/>
            <a:ext cx="3867912" cy="786384"/>
          </a:xfrm>
          <a:prstGeom prst="roundRect">
            <a:avLst>
              <a:gd name="adj" fmla="val 4651"/>
            </a:avLst>
          </a:prstGeom>
          <a:solidFill>
            <a:srgbClr val="F2F5F9"/>
          </a:solidFill>
          <a:ln w="9525">
            <a:solidFill>
              <a:srgbClr val="D8DEE7"/>
            </a:solidFill>
            <a:prstDash val="solid"/>
          </a:ln>
        </p:spPr>
      </p:sp>
      <p:pic>
        <p:nvPicPr>
          <p:cNvPr id="37" name="Image 4" descr="提示"/>
          <p:cNvPicPr>
            <a:picLocks noChangeAspect="1"/>
          </p:cNvPicPr>
          <p:nvPr/>
        </p:nvPicPr>
        <p:blipFill>
          <a:blip r:embed="rId5"/>
          <a:stretch>
            <a:fillRect/>
          </a:stretch>
        </p:blipFill>
        <p:spPr>
          <a:xfrm>
            <a:off x="7991856" y="5358384"/>
            <a:ext cx="237744" cy="237744"/>
          </a:xfrm>
          <a:prstGeom prst="rect">
            <a:avLst/>
          </a:prstGeom>
        </p:spPr>
      </p:pic>
      <p:sp>
        <p:nvSpPr>
          <p:cNvPr id="38" name="Text 31"/>
          <p:cNvSpPr/>
          <p:nvPr/>
        </p:nvSpPr>
        <p:spPr>
          <a:xfrm>
            <a:off x="8321040" y="5212080"/>
            <a:ext cx="3099816" cy="548640"/>
          </a:xfrm>
          <a:prstGeom prst="rect">
            <a:avLst/>
          </a:prstGeom>
          <a:noFill/>
          <a:ln/>
        </p:spPr>
        <p:txBody>
          <a:bodyPr wrap="square" lIns="0" tIns="0" rIns="0" bIns="0" rtlCol="0" anchor="ctr"/>
          <a:lstStyle/>
          <a:p>
            <a:pPr marL="0" indent="0">
              <a:buNone/>
            </a:pPr>
            <a:r>
              <a:rPr lang="en-US" sz="1100" dirty="0">
                <a:solidFill>
                  <a:srgbClr val="5B6B80"/>
                </a:solidFill>
                <a:latin typeface="Microsoft YaHei" pitchFamily="34" charset="0"/>
                <a:ea typeface="Microsoft YaHei" pitchFamily="34" charset="-122"/>
                <a:cs typeface="Microsoft YaHei" pitchFamily="34" charset="-120"/>
              </a:rPr>
              <a:t>口语里句首的 well 常用来引出新信息，翻译时不必译出；套用时只换地点，其余结构不动。</a:t>
            </a:r>
            <a:endParaRPr lang="en-US" sz="1100" dirty="0"/>
          </a:p>
        </p:txBody>
      </p:sp>
      <p:sp>
        <p:nvSpPr>
          <p:cNvPr id="39" name="Text 32"/>
          <p:cNvSpPr/>
          <p:nvPr/>
        </p:nvSpPr>
        <p:spPr>
          <a:xfrm>
            <a:off x="548640" y="6364224"/>
            <a:ext cx="11091672" cy="274320"/>
          </a:xfrm>
          <a:prstGeom prst="rect">
            <a:avLst/>
          </a:prstGeom>
          <a:noFill/>
          <a:ln/>
        </p:spPr>
        <p:txBody>
          <a:bodyPr wrap="square" lIns="0" tIns="0" rIns="0" bIns="0" rtlCol="0" anchor="ctr"/>
          <a:lstStyle/>
          <a:p>
            <a:pPr marL="0" indent="0">
              <a:buNone/>
            </a:pPr>
            <a:r>
              <a:rPr lang="en-US" sz="1000" dirty="0">
                <a:solidFill>
                  <a:srgbClr val="5B6B80"/>
                </a:solidFill>
                <a:latin typeface="Microsoft YaHei" pitchFamily="34" charset="0"/>
                <a:ea typeface="Microsoft YaHei" pitchFamily="34" charset="-122"/>
                <a:cs typeface="Microsoft YaHei" pitchFamily="34" charset="-120"/>
              </a:rPr>
              <a:t>语料：[00:15] …right here in Shanghai… the world's only official museum.</a:t>
            </a:r>
            <a:endParaRPr lang="en-US" sz="1000" dirty="0"/>
          </a:p>
        </p:txBody>
      </p:sp>
      <p:pic>
        <p:nvPicPr>
          <p:cNvPr id="40" name="PPTClaw Watermark 1"/>
          <p:cNvPicPr>
            <a:picLocks noChangeAspect="1"/>
          </p:cNvPicPr>
          <p:nvPr/>
        </p:nvPicPr>
        <p:blipFill>
          <a:blip r:embed="rId6"/>
          <a:stretch>
            <a:fillRect/>
          </a:stretch>
        </p:blipFill>
        <p:spPr>
          <a:xfrm>
            <a:off x="10982294" y="6446520"/>
            <a:ext cx="1141126" cy="3429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buNone/>
            </a:pPr>
            <a:r>
              <a:rPr lang="en-US" sz="1200" b="1" kern="0" spc="160" dirty="0">
                <a:solidFill>
                  <a:srgbClr val="0E6F63"/>
                </a:solidFill>
                <a:latin typeface="Microsoft YaHei" pitchFamily="34" charset="0"/>
                <a:ea typeface="Microsoft YaHei" pitchFamily="34" charset="-122"/>
                <a:cs typeface="Microsoft YaHei" pitchFamily="34" charset="-120"/>
              </a:rPr>
              <a:t>PATTERN 03 · 对照并列</a:t>
            </a:r>
            <a:endParaRPr lang="en-US" sz="1200" dirty="0"/>
          </a:p>
        </p:txBody>
      </p:sp>
      <p:sp>
        <p:nvSpPr>
          <p:cNvPr id="3" name="Text 1"/>
          <p:cNvSpPr/>
          <p:nvPr/>
        </p:nvSpPr>
        <p:spPr>
          <a:xfrm>
            <a:off x="548640" y="713232"/>
            <a:ext cx="10424160" cy="566928"/>
          </a:xfrm>
          <a:prstGeom prst="rect">
            <a:avLst/>
          </a:prstGeom>
          <a:noFill/>
          <a:ln/>
        </p:spPr>
        <p:txBody>
          <a:bodyPr wrap="square" lIns="0" tIns="0" rIns="0" bIns="0" rtlCol="0" anchor="ctr"/>
          <a:lstStyle/>
          <a:p>
            <a:pPr marL="0" indent="0">
              <a:buNone/>
            </a:pPr>
            <a:r>
              <a:rPr lang="en-US" sz="3000" b="1" dirty="0">
                <a:solidFill>
                  <a:srgbClr val="16233A"/>
                </a:solidFill>
                <a:latin typeface="Microsoft YaHei" pitchFamily="34" charset="0"/>
                <a:ea typeface="Microsoft YaHei" pitchFamily="34" charset="-122"/>
                <a:cs typeface="Microsoft YaHei" pitchFamily="34" charset="-120"/>
              </a:rPr>
              <a:t>用 while 把两个象征并列起来</a:t>
            </a:r>
            <a:endParaRPr lang="en-US" sz="3000" dirty="0"/>
          </a:p>
        </p:txBody>
      </p:sp>
      <p:sp>
        <p:nvSpPr>
          <p:cNvPr id="4" name="Shape 2"/>
          <p:cNvSpPr/>
          <p:nvPr/>
        </p:nvSpPr>
        <p:spPr>
          <a:xfrm>
            <a:off x="548640" y="1371600"/>
            <a:ext cx="11091672" cy="18288"/>
          </a:xfrm>
          <a:prstGeom prst="rect">
            <a:avLst/>
          </a:prstGeom>
          <a:solidFill>
            <a:srgbClr val="0E6F63"/>
          </a:solidFill>
          <a:ln w="12700">
            <a:solidFill>
              <a:srgbClr val="0E6F63"/>
            </a:solidFill>
            <a:prstDash val="solid"/>
          </a:ln>
        </p:spPr>
      </p:sp>
      <p:sp>
        <p:nvSpPr>
          <p:cNvPr id="5" name="Text 3"/>
          <p:cNvSpPr/>
          <p:nvPr/>
        </p:nvSpPr>
        <p:spPr>
          <a:xfrm>
            <a:off x="11109960" y="384048"/>
            <a:ext cx="548640" cy="310896"/>
          </a:xfrm>
          <a:prstGeom prst="rect">
            <a:avLst/>
          </a:prstGeom>
          <a:noFill/>
          <a:ln/>
        </p:spPr>
        <p:txBody>
          <a:bodyPr wrap="square" lIns="0" tIns="0" rIns="0" bIns="0" rtlCol="0" anchor="ctr"/>
          <a:lstStyle/>
          <a:p>
            <a:pPr marL="0" indent="0" algn="r">
              <a:buNone/>
            </a:pPr>
            <a:r>
              <a:rPr lang="en-US" sz="1600" b="1" dirty="0">
                <a:solidFill>
                  <a:srgbClr val="5B6B80"/>
                </a:solidFill>
                <a:latin typeface="Microsoft YaHei" pitchFamily="34" charset="0"/>
                <a:ea typeface="Microsoft YaHei" pitchFamily="34" charset="-122"/>
                <a:cs typeface="Microsoft YaHei" pitchFamily="34" charset="-120"/>
              </a:rPr>
              <a:t>05</a:t>
            </a:r>
            <a:endParaRPr lang="en-US" sz="1600" dirty="0"/>
          </a:p>
        </p:txBody>
      </p:sp>
      <p:sp>
        <p:nvSpPr>
          <p:cNvPr id="6" name="Shape 4"/>
          <p:cNvSpPr/>
          <p:nvPr/>
        </p:nvSpPr>
        <p:spPr>
          <a:xfrm>
            <a:off x="548640" y="1481328"/>
            <a:ext cx="6903720" cy="1426464"/>
          </a:xfrm>
          <a:prstGeom prst="roundRect">
            <a:avLst>
              <a:gd name="adj" fmla="val 2564"/>
            </a:avLst>
          </a:prstGeom>
          <a:solidFill>
            <a:srgbClr val="E7F2EF"/>
          </a:solidFill>
          <a:ln w="9525">
            <a:solidFill>
              <a:srgbClr val="CFE3DE"/>
            </a:solidFill>
            <a:prstDash val="solid"/>
          </a:ln>
        </p:spPr>
      </p:sp>
      <p:pic>
        <p:nvPicPr>
          <p:cNvPr id="7" name="Image 0" descr="原句"/>
          <p:cNvPicPr>
            <a:picLocks noChangeAspect="1"/>
          </p:cNvPicPr>
          <p:nvPr/>
        </p:nvPicPr>
        <p:blipFill>
          <a:blip r:embed="rId3"/>
          <a:stretch>
            <a:fillRect/>
          </a:stretch>
        </p:blipFill>
        <p:spPr>
          <a:xfrm>
            <a:off x="749808" y="1627632"/>
            <a:ext cx="292608" cy="292608"/>
          </a:xfrm>
          <a:prstGeom prst="rect">
            <a:avLst/>
          </a:prstGeom>
        </p:spPr>
      </p:pic>
      <p:sp>
        <p:nvSpPr>
          <p:cNvPr id="8" name="Text 5"/>
          <p:cNvSpPr/>
          <p:nvPr/>
        </p:nvSpPr>
        <p:spPr>
          <a:xfrm>
            <a:off x="1170432" y="1627632"/>
            <a:ext cx="6108192" cy="658368"/>
          </a:xfrm>
          <a:prstGeom prst="rect">
            <a:avLst/>
          </a:prstGeom>
          <a:noFill/>
          <a:ln/>
        </p:spPr>
        <p:txBody>
          <a:bodyPr wrap="square" lIns="0" tIns="0" rIns="0" bIns="0" rtlCol="0" anchor="ctr"/>
          <a:lstStyle/>
          <a:p>
            <a:pPr marL="0" indent="0">
              <a:buNone/>
            </a:pPr>
            <a:r>
              <a:rPr lang="en-US" sz="1350" b="1" dirty="0">
                <a:solidFill>
                  <a:srgbClr val="0B4F46"/>
                </a:solidFill>
                <a:latin typeface="Arial" pitchFamily="34" charset="0"/>
                <a:ea typeface="Arial" pitchFamily="34" charset="-122"/>
                <a:cs typeface="Arial" pitchFamily="34" charset="-120"/>
              </a:rPr>
              <a:t>Its seven metal tracks represent the seven continents, while the rolling metal spheres stand for WorldSkills competition trades.</a:t>
            </a:r>
            <a:endParaRPr lang="en-US" sz="1350" dirty="0"/>
          </a:p>
        </p:txBody>
      </p:sp>
      <p:sp>
        <p:nvSpPr>
          <p:cNvPr id="9" name="Text 6"/>
          <p:cNvSpPr/>
          <p:nvPr/>
        </p:nvSpPr>
        <p:spPr>
          <a:xfrm>
            <a:off x="1170432" y="2322576"/>
            <a:ext cx="6108192" cy="457200"/>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它的七条金属轨道代表七大洲，而滚动的金属球则象征着世界技能大赛的各个比赛项目。</a:t>
            </a:r>
            <a:endParaRPr lang="en-US" sz="1150" dirty="0"/>
          </a:p>
        </p:txBody>
      </p:sp>
      <p:sp>
        <p:nvSpPr>
          <p:cNvPr id="10" name="Text 7"/>
          <p:cNvSpPr/>
          <p:nvPr/>
        </p:nvSpPr>
        <p:spPr>
          <a:xfrm>
            <a:off x="548640" y="2999232"/>
            <a:ext cx="4023360" cy="237744"/>
          </a:xfrm>
          <a:prstGeom prst="rect">
            <a:avLst/>
          </a:prstGeom>
          <a:noFill/>
          <a:ln/>
        </p:spPr>
        <p:txBody>
          <a:bodyPr wrap="square" lIns="0" tIns="0" rIns="0" bIns="0" rtlCol="0" anchor="ctr"/>
          <a:lstStyle/>
          <a:p>
            <a:pPr marL="0" indent="0">
              <a:buNone/>
            </a:pPr>
            <a:r>
              <a:rPr lang="en-US" sz="1200" b="1" kern="0" spc="120" dirty="0">
                <a:solidFill>
                  <a:srgbClr val="0E6F63"/>
                </a:solidFill>
                <a:latin typeface="Microsoft YaHei" pitchFamily="34" charset="0"/>
                <a:ea typeface="Microsoft YaHei" pitchFamily="34" charset="-122"/>
                <a:cs typeface="Microsoft YaHei" pitchFamily="34" charset="-120"/>
              </a:rPr>
              <a:t>骨架：A 代表 X，while B 象征 Y</a:t>
            </a:r>
            <a:endParaRPr lang="en-US" sz="1200" dirty="0"/>
          </a:p>
        </p:txBody>
      </p:sp>
      <p:sp>
        <p:nvSpPr>
          <p:cNvPr id="11" name="Text 8"/>
          <p:cNvSpPr/>
          <p:nvPr/>
        </p:nvSpPr>
        <p:spPr>
          <a:xfrm>
            <a:off x="548640" y="3255264"/>
            <a:ext cx="6903720" cy="384048"/>
          </a:xfrm>
          <a:prstGeom prst="rect">
            <a:avLst/>
          </a:prstGeom>
          <a:noFill/>
          <a:ln/>
        </p:spPr>
        <p:txBody>
          <a:bodyPr wrap="square" lIns="0" tIns="0" rIns="0" bIns="0" rtlCol="0" anchor="ctr"/>
          <a:lstStyle/>
          <a:p>
            <a:pPr marL="0" indent="0">
              <a:buNone/>
            </a:pPr>
            <a:r>
              <a:rPr lang="en-US" sz="1600" b="1" dirty="0">
                <a:solidFill>
                  <a:srgbClr val="0B4F46"/>
                </a:solidFill>
                <a:latin typeface="Arial" pitchFamily="34" charset="0"/>
                <a:ea typeface="Arial" pitchFamily="34" charset="-122"/>
                <a:cs typeface="Arial" pitchFamily="34" charset="-120"/>
              </a:rPr>
              <a:t>[A] represent [X], while [B] stand for [Y].</a:t>
            </a:r>
            <a:endParaRPr lang="en-US" sz="1600" dirty="0"/>
          </a:p>
        </p:txBody>
      </p:sp>
      <p:sp>
        <p:nvSpPr>
          <p:cNvPr id="12" name="Text 9"/>
          <p:cNvSpPr/>
          <p:nvPr/>
        </p:nvSpPr>
        <p:spPr>
          <a:xfrm>
            <a:off x="548640" y="3675888"/>
            <a:ext cx="6903720" cy="402336"/>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while 在这里不是「当……时候」，而是表示前后对照；represent 与 stand for 都表示「代表、象征」，可互换使用。</a:t>
            </a:r>
            <a:endParaRPr lang="en-US" sz="1150" dirty="0"/>
          </a:p>
        </p:txBody>
      </p:sp>
      <p:sp>
        <p:nvSpPr>
          <p:cNvPr id="13" name="Text 10"/>
          <p:cNvSpPr/>
          <p:nvPr/>
        </p:nvSpPr>
        <p:spPr>
          <a:xfrm>
            <a:off x="548640" y="4169664"/>
            <a:ext cx="6903720"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举一反三 · 换主语 / 换地点 / 换对象</a:t>
            </a:r>
            <a:endParaRPr lang="en-US" sz="1200" dirty="0"/>
          </a:p>
        </p:txBody>
      </p:sp>
      <p:pic>
        <p:nvPicPr>
          <p:cNvPr id="14" name="Image 1" descr="示例"/>
          <p:cNvPicPr>
            <a:picLocks noChangeAspect="1"/>
          </p:cNvPicPr>
          <p:nvPr/>
        </p:nvPicPr>
        <p:blipFill>
          <a:blip r:embed="rId4"/>
          <a:stretch>
            <a:fillRect/>
          </a:stretch>
        </p:blipFill>
        <p:spPr>
          <a:xfrm>
            <a:off x="548640" y="4480560"/>
            <a:ext cx="201168" cy="201168"/>
          </a:xfrm>
          <a:prstGeom prst="rect">
            <a:avLst/>
          </a:prstGeom>
        </p:spPr>
      </p:pic>
      <p:sp>
        <p:nvSpPr>
          <p:cNvPr id="15" name="Text 11"/>
          <p:cNvSpPr/>
          <p:nvPr/>
        </p:nvSpPr>
        <p:spPr>
          <a:xfrm>
            <a:off x="822960" y="4443984"/>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The red lines represent trade routes, while the blue circles stand for ports.</a:t>
            </a:r>
            <a:endParaRPr lang="en-US" sz="1200" dirty="0"/>
          </a:p>
        </p:txBody>
      </p:sp>
      <p:sp>
        <p:nvSpPr>
          <p:cNvPr id="16" name="Text 12"/>
          <p:cNvSpPr/>
          <p:nvPr/>
        </p:nvSpPr>
        <p:spPr>
          <a:xfrm>
            <a:off x="822960" y="4663440"/>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红线代表贸易路线，而蓝圈象征港口。</a:t>
            </a:r>
            <a:endParaRPr lang="en-US" sz="1050" dirty="0"/>
          </a:p>
        </p:txBody>
      </p:sp>
      <p:pic>
        <p:nvPicPr>
          <p:cNvPr id="17" name="Image 2" descr="示例"/>
          <p:cNvPicPr>
            <a:picLocks noChangeAspect="1"/>
          </p:cNvPicPr>
          <p:nvPr/>
        </p:nvPicPr>
        <p:blipFill>
          <a:blip r:embed="rId4"/>
          <a:stretch>
            <a:fillRect/>
          </a:stretch>
        </p:blipFill>
        <p:spPr>
          <a:xfrm>
            <a:off x="548640" y="5047488"/>
            <a:ext cx="201168" cy="201168"/>
          </a:xfrm>
          <a:prstGeom prst="rect">
            <a:avLst/>
          </a:prstGeom>
        </p:spPr>
      </p:pic>
      <p:sp>
        <p:nvSpPr>
          <p:cNvPr id="18" name="Text 13"/>
          <p:cNvSpPr/>
          <p:nvPr/>
        </p:nvSpPr>
        <p:spPr>
          <a:xfrm>
            <a:off x="822960" y="5010912"/>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Each brick stands for one apprentice, while each arch represents a skill.</a:t>
            </a:r>
            <a:endParaRPr lang="en-US" sz="1200" dirty="0"/>
          </a:p>
        </p:txBody>
      </p:sp>
      <p:sp>
        <p:nvSpPr>
          <p:cNvPr id="19" name="Text 14"/>
          <p:cNvSpPr/>
          <p:nvPr/>
        </p:nvSpPr>
        <p:spPr>
          <a:xfrm>
            <a:off x="822960" y="5230368"/>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每块砖代表一名学徒，每道拱门象征一门手艺。</a:t>
            </a:r>
            <a:endParaRPr lang="en-US" sz="1050" dirty="0"/>
          </a:p>
        </p:txBody>
      </p:sp>
      <p:pic>
        <p:nvPicPr>
          <p:cNvPr id="20" name="Image 3" descr="示例"/>
          <p:cNvPicPr>
            <a:picLocks noChangeAspect="1"/>
          </p:cNvPicPr>
          <p:nvPr/>
        </p:nvPicPr>
        <p:blipFill>
          <a:blip r:embed="rId4"/>
          <a:stretch>
            <a:fillRect/>
          </a:stretch>
        </p:blipFill>
        <p:spPr>
          <a:xfrm>
            <a:off x="548640" y="5614416"/>
            <a:ext cx="201168" cy="201168"/>
          </a:xfrm>
          <a:prstGeom prst="rect">
            <a:avLst/>
          </a:prstGeom>
        </p:spPr>
      </p:pic>
      <p:sp>
        <p:nvSpPr>
          <p:cNvPr id="21" name="Text 15"/>
          <p:cNvSpPr/>
          <p:nvPr/>
        </p:nvSpPr>
        <p:spPr>
          <a:xfrm>
            <a:off x="822960" y="5577840"/>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The wood represents tradition, while the printed parts stand for new tech.</a:t>
            </a:r>
            <a:endParaRPr lang="en-US" sz="1200" dirty="0"/>
          </a:p>
        </p:txBody>
      </p:sp>
      <p:sp>
        <p:nvSpPr>
          <p:cNvPr id="22" name="Text 16"/>
          <p:cNvSpPr/>
          <p:nvPr/>
        </p:nvSpPr>
        <p:spPr>
          <a:xfrm>
            <a:off x="822960" y="5797296"/>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木料代表传统，打印部件象征新技术。</a:t>
            </a:r>
            <a:endParaRPr lang="en-US" sz="1050" dirty="0"/>
          </a:p>
        </p:txBody>
      </p:sp>
      <p:sp>
        <p:nvSpPr>
          <p:cNvPr id="23" name="Text 17"/>
          <p:cNvSpPr/>
          <p:nvPr/>
        </p:nvSpPr>
        <p:spPr>
          <a:xfrm>
            <a:off x="7772400" y="1481328"/>
            <a:ext cx="3867912"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重点词汇 · 音标 · 释义 · 模板</a:t>
            </a:r>
            <a:endParaRPr lang="en-US" sz="1200" dirty="0"/>
          </a:p>
        </p:txBody>
      </p:sp>
      <p:sp>
        <p:nvSpPr>
          <p:cNvPr id="24" name="Shape 18"/>
          <p:cNvSpPr/>
          <p:nvPr/>
        </p:nvSpPr>
        <p:spPr>
          <a:xfrm>
            <a:off x="7772400" y="1792224"/>
            <a:ext cx="3867912" cy="1517904"/>
          </a:xfrm>
          <a:prstGeom prst="roundRect">
            <a:avLst>
              <a:gd name="adj" fmla="val 2410"/>
            </a:avLst>
          </a:prstGeom>
          <a:solidFill>
            <a:srgbClr val="FDF1E3"/>
          </a:solidFill>
          <a:ln w="9525">
            <a:solidFill>
              <a:srgbClr val="F0DFC7"/>
            </a:solidFill>
            <a:prstDash val="solid"/>
          </a:ln>
        </p:spPr>
      </p:sp>
      <p:sp>
        <p:nvSpPr>
          <p:cNvPr id="25" name="Text 19"/>
          <p:cNvSpPr/>
          <p:nvPr/>
        </p:nvSpPr>
        <p:spPr>
          <a:xfrm>
            <a:off x="7991856" y="190195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represent</a:t>
            </a:r>
            <a:endParaRPr lang="en-US" sz="1800" dirty="0"/>
          </a:p>
        </p:txBody>
      </p:sp>
      <p:sp>
        <p:nvSpPr>
          <p:cNvPr id="26" name="Text 20"/>
          <p:cNvSpPr/>
          <p:nvPr/>
        </p:nvSpPr>
        <p:spPr>
          <a:xfrm>
            <a:off x="7991856" y="217627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v. </a:t>
            </a:r>
            <a:r>
              <a:rPr lang="en-US" sz="1200" dirty="0">
                <a:solidFill>
                  <a:srgbClr val="5B6B80"/>
                </a:solidFill>
                <a:latin typeface="Arial" pitchFamily="34" charset="0"/>
                <a:ea typeface="Arial" pitchFamily="34" charset="-122"/>
                <a:cs typeface="Arial" pitchFamily="34" charset="-120"/>
              </a:rPr>
              <a:t>/ˌreprɪˈzent/</a:t>
            </a:r>
            <a:endParaRPr lang="en-US" sz="1150" dirty="0"/>
          </a:p>
        </p:txBody>
      </p:sp>
      <p:sp>
        <p:nvSpPr>
          <p:cNvPr id="27" name="Text 21"/>
          <p:cNvSpPr/>
          <p:nvPr/>
        </p:nvSpPr>
        <p:spPr>
          <a:xfrm>
            <a:off x="7991856" y="239572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代表，象征；描绘</a:t>
            </a:r>
            <a:endParaRPr lang="en-US" sz="1300" dirty="0"/>
          </a:p>
        </p:txBody>
      </p:sp>
      <p:sp>
        <p:nvSpPr>
          <p:cNvPr id="28" name="Text 22"/>
          <p:cNvSpPr/>
          <p:nvPr/>
        </p:nvSpPr>
        <p:spPr>
          <a:xfrm>
            <a:off x="7991856" y="265176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重音在最后音节</a:t>
            </a:r>
            <a:endParaRPr lang="en-US" sz="1050" dirty="0"/>
          </a:p>
        </p:txBody>
      </p:sp>
      <p:sp>
        <p:nvSpPr>
          <p:cNvPr id="29" name="Text 23"/>
          <p:cNvSpPr/>
          <p:nvPr/>
        </p:nvSpPr>
        <p:spPr>
          <a:xfrm>
            <a:off x="7991856" y="285292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[A] represent [X]</a:t>
            </a:r>
            <a:endParaRPr lang="en-US" sz="1050" dirty="0"/>
          </a:p>
        </p:txBody>
      </p:sp>
      <p:sp>
        <p:nvSpPr>
          <p:cNvPr id="30" name="Shape 24"/>
          <p:cNvSpPr/>
          <p:nvPr/>
        </p:nvSpPr>
        <p:spPr>
          <a:xfrm>
            <a:off x="7772400" y="3438144"/>
            <a:ext cx="3867912" cy="1517904"/>
          </a:xfrm>
          <a:prstGeom prst="roundRect">
            <a:avLst>
              <a:gd name="adj" fmla="val 2410"/>
            </a:avLst>
          </a:prstGeom>
          <a:solidFill>
            <a:srgbClr val="FDF1E3"/>
          </a:solidFill>
          <a:ln w="9525">
            <a:solidFill>
              <a:srgbClr val="F0DFC7"/>
            </a:solidFill>
            <a:prstDash val="solid"/>
          </a:ln>
        </p:spPr>
      </p:sp>
      <p:sp>
        <p:nvSpPr>
          <p:cNvPr id="31" name="Text 25"/>
          <p:cNvSpPr/>
          <p:nvPr/>
        </p:nvSpPr>
        <p:spPr>
          <a:xfrm>
            <a:off x="7991856" y="354787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stand for</a:t>
            </a:r>
            <a:endParaRPr lang="en-US" sz="1800" dirty="0"/>
          </a:p>
        </p:txBody>
      </p:sp>
      <p:sp>
        <p:nvSpPr>
          <p:cNvPr id="32" name="Text 26"/>
          <p:cNvSpPr/>
          <p:nvPr/>
        </p:nvSpPr>
        <p:spPr>
          <a:xfrm>
            <a:off x="7991856" y="382219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phr. v. </a:t>
            </a:r>
            <a:r>
              <a:rPr lang="en-US" sz="1200" dirty="0">
                <a:solidFill>
                  <a:srgbClr val="5B6B80"/>
                </a:solidFill>
                <a:latin typeface="Arial" pitchFamily="34" charset="0"/>
                <a:ea typeface="Arial" pitchFamily="34" charset="-122"/>
                <a:cs typeface="Arial" pitchFamily="34" charset="-120"/>
              </a:rPr>
              <a:t>/stænd fɔː(r)/</a:t>
            </a:r>
            <a:endParaRPr lang="en-US" sz="1150" dirty="0"/>
          </a:p>
        </p:txBody>
      </p:sp>
      <p:sp>
        <p:nvSpPr>
          <p:cNvPr id="33" name="Text 27"/>
          <p:cNvSpPr/>
          <p:nvPr/>
        </p:nvSpPr>
        <p:spPr>
          <a:xfrm>
            <a:off x="7991856" y="404164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代表，象征；主张</a:t>
            </a:r>
            <a:endParaRPr lang="en-US" sz="1300" dirty="0"/>
          </a:p>
        </p:txBody>
      </p:sp>
      <p:sp>
        <p:nvSpPr>
          <p:cNvPr id="34" name="Text 28"/>
          <p:cNvSpPr/>
          <p:nvPr/>
        </p:nvSpPr>
        <p:spPr>
          <a:xfrm>
            <a:off x="7991856" y="429768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可与 represent 互换</a:t>
            </a:r>
            <a:endParaRPr lang="en-US" sz="1050" dirty="0"/>
          </a:p>
        </p:txBody>
      </p:sp>
      <p:sp>
        <p:nvSpPr>
          <p:cNvPr id="35" name="Text 29"/>
          <p:cNvSpPr/>
          <p:nvPr/>
        </p:nvSpPr>
        <p:spPr>
          <a:xfrm>
            <a:off x="7991856" y="449884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[B] stand for [Y]</a:t>
            </a:r>
            <a:endParaRPr lang="en-US" sz="1050" dirty="0"/>
          </a:p>
        </p:txBody>
      </p:sp>
      <p:sp>
        <p:nvSpPr>
          <p:cNvPr id="36" name="Shape 30"/>
          <p:cNvSpPr/>
          <p:nvPr/>
        </p:nvSpPr>
        <p:spPr>
          <a:xfrm>
            <a:off x="7772400" y="5084064"/>
            <a:ext cx="3867912" cy="786384"/>
          </a:xfrm>
          <a:prstGeom prst="roundRect">
            <a:avLst>
              <a:gd name="adj" fmla="val 4651"/>
            </a:avLst>
          </a:prstGeom>
          <a:solidFill>
            <a:srgbClr val="F2F5F9"/>
          </a:solidFill>
          <a:ln w="9525">
            <a:solidFill>
              <a:srgbClr val="D8DEE7"/>
            </a:solidFill>
            <a:prstDash val="solid"/>
          </a:ln>
        </p:spPr>
      </p:sp>
      <p:pic>
        <p:nvPicPr>
          <p:cNvPr id="37" name="Image 4" descr="提示"/>
          <p:cNvPicPr>
            <a:picLocks noChangeAspect="1"/>
          </p:cNvPicPr>
          <p:nvPr/>
        </p:nvPicPr>
        <p:blipFill>
          <a:blip r:embed="rId5"/>
          <a:stretch>
            <a:fillRect/>
          </a:stretch>
        </p:blipFill>
        <p:spPr>
          <a:xfrm>
            <a:off x="7991856" y="5358384"/>
            <a:ext cx="237744" cy="237744"/>
          </a:xfrm>
          <a:prstGeom prst="rect">
            <a:avLst/>
          </a:prstGeom>
        </p:spPr>
      </p:pic>
      <p:sp>
        <p:nvSpPr>
          <p:cNvPr id="38" name="Text 31"/>
          <p:cNvSpPr/>
          <p:nvPr/>
        </p:nvSpPr>
        <p:spPr>
          <a:xfrm>
            <a:off x="8321040" y="5212080"/>
            <a:ext cx="3099816" cy="548640"/>
          </a:xfrm>
          <a:prstGeom prst="rect">
            <a:avLst/>
          </a:prstGeom>
          <a:noFill/>
          <a:ln/>
        </p:spPr>
        <p:txBody>
          <a:bodyPr wrap="square" lIns="0" tIns="0" rIns="0" bIns="0" rtlCol="0" anchor="ctr"/>
          <a:lstStyle/>
          <a:p>
            <a:pPr marL="0" indent="0">
              <a:buNone/>
            </a:pPr>
            <a:r>
              <a:rPr lang="en-US" sz="1100" dirty="0">
                <a:solidFill>
                  <a:srgbClr val="5B6B80"/>
                </a:solidFill>
                <a:latin typeface="Microsoft YaHei" pitchFamily="34" charset="0"/>
                <a:ea typeface="Microsoft YaHei" pitchFamily="34" charset="-122"/>
                <a:cs typeface="Microsoft YaHei" pitchFamily="34" charset="-120"/>
              </a:rPr>
              <a:t>语料里 stone sphere 是听感存疑处，写作时请以展品正式名称为准；represent 不要读成前面重音。</a:t>
            </a:r>
            <a:endParaRPr lang="en-US" sz="1100" dirty="0"/>
          </a:p>
        </p:txBody>
      </p:sp>
      <p:sp>
        <p:nvSpPr>
          <p:cNvPr id="39" name="Text 32"/>
          <p:cNvSpPr/>
          <p:nvPr/>
        </p:nvSpPr>
        <p:spPr>
          <a:xfrm>
            <a:off x="548640" y="6364224"/>
            <a:ext cx="11091672" cy="274320"/>
          </a:xfrm>
          <a:prstGeom prst="rect">
            <a:avLst/>
          </a:prstGeom>
          <a:noFill/>
          <a:ln/>
        </p:spPr>
        <p:txBody>
          <a:bodyPr wrap="square" lIns="0" tIns="0" rIns="0" bIns="0" rtlCol="0" anchor="ctr"/>
          <a:lstStyle/>
          <a:p>
            <a:pPr marL="0" indent="0">
              <a:buNone/>
            </a:pPr>
            <a:r>
              <a:rPr lang="en-US" sz="1000" dirty="0">
                <a:solidFill>
                  <a:srgbClr val="5B6B80"/>
                </a:solidFill>
                <a:latin typeface="Microsoft YaHei" pitchFamily="34" charset="0"/>
                <a:ea typeface="Microsoft YaHei" pitchFamily="34" charset="-122"/>
                <a:cs typeface="Microsoft YaHei" pitchFamily="34" charset="-120"/>
              </a:rPr>
              <a:t>语料：[00:30] Its seven metal tracks represent the seven continents…</a:t>
            </a:r>
            <a:endParaRPr lang="en-US" sz="1000" dirty="0"/>
          </a:p>
        </p:txBody>
      </p:sp>
      <p:pic>
        <p:nvPicPr>
          <p:cNvPr id="40" name="PPTClaw Watermark 1"/>
          <p:cNvPicPr>
            <a:picLocks noChangeAspect="1"/>
          </p:cNvPicPr>
          <p:nvPr/>
        </p:nvPicPr>
        <p:blipFill>
          <a:blip r:embed="rId6"/>
          <a:stretch>
            <a:fillRect/>
          </a:stretch>
        </p:blipFill>
        <p:spPr>
          <a:xfrm>
            <a:off x="10982294" y="6446520"/>
            <a:ext cx="1141126" cy="3429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buNone/>
            </a:pPr>
            <a:r>
              <a:rPr lang="en-US" sz="1200" b="1" kern="0" spc="160" dirty="0">
                <a:solidFill>
                  <a:srgbClr val="0E6F63"/>
                </a:solidFill>
                <a:latin typeface="Microsoft YaHei" pitchFamily="34" charset="0"/>
                <a:ea typeface="Microsoft YaHei" pitchFamily="34" charset="-122"/>
                <a:cs typeface="Microsoft YaHei" pitchFamily="34" charset="-120"/>
              </a:rPr>
              <a:t>PATTERN 04 · 惊讶反问</a:t>
            </a:r>
            <a:endParaRPr lang="en-US" sz="1200" dirty="0"/>
          </a:p>
        </p:txBody>
      </p:sp>
      <p:sp>
        <p:nvSpPr>
          <p:cNvPr id="3" name="Text 1"/>
          <p:cNvSpPr/>
          <p:nvPr/>
        </p:nvSpPr>
        <p:spPr>
          <a:xfrm>
            <a:off x="548640" y="713232"/>
            <a:ext cx="10424160" cy="566928"/>
          </a:xfrm>
          <a:prstGeom prst="rect">
            <a:avLst/>
          </a:prstGeom>
          <a:noFill/>
          <a:ln/>
        </p:spPr>
        <p:txBody>
          <a:bodyPr wrap="square" lIns="0" tIns="0" rIns="0" bIns="0" rtlCol="0" anchor="ctr"/>
          <a:lstStyle/>
          <a:p>
            <a:pPr marL="0" indent="0">
              <a:buNone/>
            </a:pPr>
            <a:r>
              <a:rPr lang="en-US" sz="3000" b="1" dirty="0">
                <a:solidFill>
                  <a:srgbClr val="16233A"/>
                </a:solidFill>
                <a:latin typeface="Microsoft YaHei" pitchFamily="34" charset="0"/>
                <a:ea typeface="Microsoft YaHei" pitchFamily="34" charset="-122"/>
                <a:cs typeface="Microsoft YaHei" pitchFamily="34" charset="-120"/>
              </a:rPr>
              <a:t>用反问句强化「难以置信」</a:t>
            </a:r>
            <a:endParaRPr lang="en-US" sz="3000" dirty="0"/>
          </a:p>
        </p:txBody>
      </p:sp>
      <p:sp>
        <p:nvSpPr>
          <p:cNvPr id="4" name="Shape 2"/>
          <p:cNvSpPr/>
          <p:nvPr/>
        </p:nvSpPr>
        <p:spPr>
          <a:xfrm>
            <a:off x="548640" y="1371600"/>
            <a:ext cx="11091672" cy="18288"/>
          </a:xfrm>
          <a:prstGeom prst="rect">
            <a:avLst/>
          </a:prstGeom>
          <a:solidFill>
            <a:srgbClr val="0E6F63"/>
          </a:solidFill>
          <a:ln w="12700">
            <a:solidFill>
              <a:srgbClr val="0E6F63"/>
            </a:solidFill>
            <a:prstDash val="solid"/>
          </a:ln>
        </p:spPr>
      </p:sp>
      <p:sp>
        <p:nvSpPr>
          <p:cNvPr id="5" name="Text 3"/>
          <p:cNvSpPr/>
          <p:nvPr/>
        </p:nvSpPr>
        <p:spPr>
          <a:xfrm>
            <a:off x="11109960" y="384048"/>
            <a:ext cx="548640" cy="310896"/>
          </a:xfrm>
          <a:prstGeom prst="rect">
            <a:avLst/>
          </a:prstGeom>
          <a:noFill/>
          <a:ln/>
        </p:spPr>
        <p:txBody>
          <a:bodyPr wrap="square" lIns="0" tIns="0" rIns="0" bIns="0" rtlCol="0" anchor="ctr"/>
          <a:lstStyle/>
          <a:p>
            <a:pPr marL="0" indent="0" algn="r">
              <a:buNone/>
            </a:pPr>
            <a:r>
              <a:rPr lang="en-US" sz="1600" b="1" dirty="0">
                <a:solidFill>
                  <a:srgbClr val="5B6B80"/>
                </a:solidFill>
                <a:latin typeface="Microsoft YaHei" pitchFamily="34" charset="0"/>
                <a:ea typeface="Microsoft YaHei" pitchFamily="34" charset="-122"/>
                <a:cs typeface="Microsoft YaHei" pitchFamily="34" charset="-120"/>
              </a:rPr>
              <a:t>06</a:t>
            </a:r>
            <a:endParaRPr lang="en-US" sz="1600" dirty="0"/>
          </a:p>
        </p:txBody>
      </p:sp>
      <p:sp>
        <p:nvSpPr>
          <p:cNvPr id="6" name="Shape 4"/>
          <p:cNvSpPr/>
          <p:nvPr/>
        </p:nvSpPr>
        <p:spPr>
          <a:xfrm>
            <a:off x="548640" y="1481328"/>
            <a:ext cx="6903720" cy="1426464"/>
          </a:xfrm>
          <a:prstGeom prst="roundRect">
            <a:avLst>
              <a:gd name="adj" fmla="val 2564"/>
            </a:avLst>
          </a:prstGeom>
          <a:solidFill>
            <a:srgbClr val="E7F2EF"/>
          </a:solidFill>
          <a:ln w="9525">
            <a:solidFill>
              <a:srgbClr val="CFE3DE"/>
            </a:solidFill>
            <a:prstDash val="solid"/>
          </a:ln>
        </p:spPr>
      </p:sp>
      <p:pic>
        <p:nvPicPr>
          <p:cNvPr id="7" name="Image 0" descr="原句"/>
          <p:cNvPicPr>
            <a:picLocks noChangeAspect="1"/>
          </p:cNvPicPr>
          <p:nvPr/>
        </p:nvPicPr>
        <p:blipFill>
          <a:blip r:embed="rId3"/>
          <a:stretch>
            <a:fillRect/>
          </a:stretch>
        </p:blipFill>
        <p:spPr>
          <a:xfrm>
            <a:off x="749808" y="1627632"/>
            <a:ext cx="292608" cy="292608"/>
          </a:xfrm>
          <a:prstGeom prst="rect">
            <a:avLst/>
          </a:prstGeom>
        </p:spPr>
      </p:pic>
      <p:sp>
        <p:nvSpPr>
          <p:cNvPr id="8" name="Text 5"/>
          <p:cNvSpPr/>
          <p:nvPr/>
        </p:nvSpPr>
        <p:spPr>
          <a:xfrm>
            <a:off x="1170432" y="1627632"/>
            <a:ext cx="6108192" cy="658368"/>
          </a:xfrm>
          <a:prstGeom prst="rect">
            <a:avLst/>
          </a:prstGeom>
          <a:noFill/>
          <a:ln/>
        </p:spPr>
        <p:txBody>
          <a:bodyPr wrap="square" lIns="0" tIns="0" rIns="0" bIns="0" rtlCol="0" anchor="ctr"/>
          <a:lstStyle/>
          <a:p>
            <a:pPr marL="0" indent="0">
              <a:buNone/>
            </a:pPr>
            <a:r>
              <a:rPr lang="en-US" sz="1350" b="1" dirty="0">
                <a:solidFill>
                  <a:srgbClr val="0B4F46"/>
                </a:solidFill>
                <a:latin typeface="Arial" pitchFamily="34" charset="0"/>
                <a:ea typeface="Arial" pitchFamily="34" charset="-122"/>
                <a:cs typeface="Arial" pitchFamily="34" charset="-120"/>
              </a:rPr>
              <a:t>Could you imagine that this work is only from an old black-and-white blueprint and a WorldSkills gold medalist recreated entirely by hand?</a:t>
            </a:r>
            <a:endParaRPr lang="en-US" sz="1350" dirty="0"/>
          </a:p>
        </p:txBody>
      </p:sp>
      <p:sp>
        <p:nvSpPr>
          <p:cNvPr id="9" name="Text 6"/>
          <p:cNvSpPr/>
          <p:nvPr/>
        </p:nvSpPr>
        <p:spPr>
          <a:xfrm>
            <a:off x="1170432" y="2322576"/>
            <a:ext cx="6108192" cy="457200"/>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你能想象吗？这件作品仅凭一张老旧的黑白图纸，由世界技能大赛的金牌选手纯手工复刻而成。</a:t>
            </a:r>
            <a:endParaRPr lang="en-US" sz="1150" dirty="0"/>
          </a:p>
        </p:txBody>
      </p:sp>
      <p:sp>
        <p:nvSpPr>
          <p:cNvPr id="10" name="Text 7"/>
          <p:cNvSpPr/>
          <p:nvPr/>
        </p:nvSpPr>
        <p:spPr>
          <a:xfrm>
            <a:off x="548640" y="2999232"/>
            <a:ext cx="4023360" cy="237744"/>
          </a:xfrm>
          <a:prstGeom prst="rect">
            <a:avLst/>
          </a:prstGeom>
          <a:noFill/>
          <a:ln/>
        </p:spPr>
        <p:txBody>
          <a:bodyPr wrap="square" lIns="0" tIns="0" rIns="0" bIns="0" rtlCol="0" anchor="ctr"/>
          <a:lstStyle/>
          <a:p>
            <a:pPr marL="0" indent="0">
              <a:buNone/>
            </a:pPr>
            <a:r>
              <a:rPr lang="en-US" sz="1200" b="1" kern="0" spc="120" dirty="0">
                <a:solidFill>
                  <a:srgbClr val="0E6F63"/>
                </a:solidFill>
                <a:latin typeface="Microsoft YaHei" pitchFamily="34" charset="0"/>
                <a:ea typeface="Microsoft YaHei" pitchFamily="34" charset="-122"/>
                <a:cs typeface="Microsoft YaHei" pitchFamily="34" charset="-120"/>
              </a:rPr>
              <a:t>骨架：反问 + only / entirely 强化</a:t>
            </a:r>
            <a:endParaRPr lang="en-US" sz="1200" dirty="0"/>
          </a:p>
        </p:txBody>
      </p:sp>
      <p:sp>
        <p:nvSpPr>
          <p:cNvPr id="11" name="Text 8"/>
          <p:cNvSpPr/>
          <p:nvPr/>
        </p:nvSpPr>
        <p:spPr>
          <a:xfrm>
            <a:off x="548640" y="3255264"/>
            <a:ext cx="6903720" cy="384048"/>
          </a:xfrm>
          <a:prstGeom prst="rect">
            <a:avLst/>
          </a:prstGeom>
          <a:noFill/>
          <a:ln/>
        </p:spPr>
        <p:txBody>
          <a:bodyPr wrap="square" lIns="0" tIns="0" rIns="0" bIns="0" rtlCol="0" anchor="ctr"/>
          <a:lstStyle/>
          <a:p>
            <a:pPr marL="0" indent="0">
              <a:buNone/>
            </a:pPr>
            <a:r>
              <a:rPr lang="en-US" sz="1600" b="1" dirty="0">
                <a:solidFill>
                  <a:srgbClr val="0B4F46"/>
                </a:solidFill>
                <a:latin typeface="Arial" pitchFamily="34" charset="0"/>
                <a:ea typeface="Arial" pitchFamily="34" charset="-122"/>
                <a:cs typeface="Arial" pitchFamily="34" charset="-120"/>
              </a:rPr>
              <a:t>Could you imagine that [结果] is only from [条件]?</a:t>
            </a:r>
            <a:endParaRPr lang="en-US" sz="1600" dirty="0"/>
          </a:p>
        </p:txBody>
      </p:sp>
      <p:sp>
        <p:nvSpPr>
          <p:cNvPr id="12" name="Text 9"/>
          <p:cNvSpPr/>
          <p:nvPr/>
        </p:nvSpPr>
        <p:spPr>
          <a:xfrm>
            <a:off x="548640" y="3675888"/>
            <a:ext cx="6903720" cy="402336"/>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用疑问形式陈述惊叹，句末可以是问号，也可以是感叹语气；only 强调条件之少，entirely 强调程度之彻底。</a:t>
            </a:r>
            <a:endParaRPr lang="en-US" sz="1150" dirty="0"/>
          </a:p>
        </p:txBody>
      </p:sp>
      <p:sp>
        <p:nvSpPr>
          <p:cNvPr id="13" name="Text 10"/>
          <p:cNvSpPr/>
          <p:nvPr/>
        </p:nvSpPr>
        <p:spPr>
          <a:xfrm>
            <a:off x="548640" y="4169664"/>
            <a:ext cx="6903720"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举一反三 · 换主语 / 换地点 / 换对象</a:t>
            </a:r>
            <a:endParaRPr lang="en-US" sz="1200" dirty="0"/>
          </a:p>
        </p:txBody>
      </p:sp>
      <p:pic>
        <p:nvPicPr>
          <p:cNvPr id="14" name="Image 1" descr="示例"/>
          <p:cNvPicPr>
            <a:picLocks noChangeAspect="1"/>
          </p:cNvPicPr>
          <p:nvPr/>
        </p:nvPicPr>
        <p:blipFill>
          <a:blip r:embed="rId4"/>
          <a:stretch>
            <a:fillRect/>
          </a:stretch>
        </p:blipFill>
        <p:spPr>
          <a:xfrm>
            <a:off x="548640" y="4480560"/>
            <a:ext cx="201168" cy="201168"/>
          </a:xfrm>
          <a:prstGeom prst="rect">
            <a:avLst/>
          </a:prstGeom>
        </p:spPr>
      </p:pic>
      <p:sp>
        <p:nvSpPr>
          <p:cNvPr id="15" name="Text 11"/>
          <p:cNvSpPr/>
          <p:nvPr/>
        </p:nvSpPr>
        <p:spPr>
          <a:xfrm>
            <a:off x="822960" y="4443984"/>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Could you imagine that this whole sculpture is only from one block of marble?</a:t>
            </a:r>
            <a:endParaRPr lang="en-US" sz="1200" dirty="0"/>
          </a:p>
        </p:txBody>
      </p:sp>
      <p:sp>
        <p:nvSpPr>
          <p:cNvPr id="16" name="Text 12"/>
          <p:cNvSpPr/>
          <p:nvPr/>
        </p:nvSpPr>
        <p:spPr>
          <a:xfrm>
            <a:off x="822960" y="4663440"/>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你能想象吗？整座雕塑仅来自一块大理石。</a:t>
            </a:r>
            <a:endParaRPr lang="en-US" sz="1050" dirty="0"/>
          </a:p>
        </p:txBody>
      </p:sp>
      <p:pic>
        <p:nvPicPr>
          <p:cNvPr id="17" name="Image 2" descr="示例"/>
          <p:cNvPicPr>
            <a:picLocks noChangeAspect="1"/>
          </p:cNvPicPr>
          <p:nvPr/>
        </p:nvPicPr>
        <p:blipFill>
          <a:blip r:embed="rId4"/>
          <a:stretch>
            <a:fillRect/>
          </a:stretch>
        </p:blipFill>
        <p:spPr>
          <a:xfrm>
            <a:off x="548640" y="5047488"/>
            <a:ext cx="201168" cy="201168"/>
          </a:xfrm>
          <a:prstGeom prst="rect">
            <a:avLst/>
          </a:prstGeom>
        </p:spPr>
      </p:pic>
      <p:sp>
        <p:nvSpPr>
          <p:cNvPr id="18" name="Text 13"/>
          <p:cNvSpPr/>
          <p:nvPr/>
        </p:nvSpPr>
        <p:spPr>
          <a:xfrm>
            <a:off x="822960" y="5010912"/>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Can you imagine that the model was built entirely without glue?</a:t>
            </a:r>
            <a:endParaRPr lang="en-US" sz="1200" dirty="0"/>
          </a:p>
        </p:txBody>
      </p:sp>
      <p:sp>
        <p:nvSpPr>
          <p:cNvPr id="19" name="Text 14"/>
          <p:cNvSpPr/>
          <p:nvPr/>
        </p:nvSpPr>
        <p:spPr>
          <a:xfrm>
            <a:off x="822960" y="5230368"/>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你能想象吗？这个模型完全没有用胶水。</a:t>
            </a:r>
            <a:endParaRPr lang="en-US" sz="1050" dirty="0"/>
          </a:p>
        </p:txBody>
      </p:sp>
      <p:pic>
        <p:nvPicPr>
          <p:cNvPr id="20" name="Image 3" descr="示例"/>
          <p:cNvPicPr>
            <a:picLocks noChangeAspect="1"/>
          </p:cNvPicPr>
          <p:nvPr/>
        </p:nvPicPr>
        <p:blipFill>
          <a:blip r:embed="rId4"/>
          <a:stretch>
            <a:fillRect/>
          </a:stretch>
        </p:blipFill>
        <p:spPr>
          <a:xfrm>
            <a:off x="548640" y="5614416"/>
            <a:ext cx="201168" cy="201168"/>
          </a:xfrm>
          <a:prstGeom prst="rect">
            <a:avLst/>
          </a:prstGeom>
        </p:spPr>
      </p:pic>
      <p:sp>
        <p:nvSpPr>
          <p:cNvPr id="21" name="Text 15"/>
          <p:cNvSpPr/>
          <p:nvPr/>
        </p:nvSpPr>
        <p:spPr>
          <a:xfrm>
            <a:off x="822960" y="5577840"/>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Could you imagine that a student team finished it in only six weeks?</a:t>
            </a:r>
            <a:endParaRPr lang="en-US" sz="1200" dirty="0"/>
          </a:p>
        </p:txBody>
      </p:sp>
      <p:sp>
        <p:nvSpPr>
          <p:cNvPr id="22" name="Text 16"/>
          <p:cNvSpPr/>
          <p:nvPr/>
        </p:nvSpPr>
        <p:spPr>
          <a:xfrm>
            <a:off x="822960" y="5797296"/>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你能想象吗？一支学生团队仅用六周完成。</a:t>
            </a:r>
            <a:endParaRPr lang="en-US" sz="1050" dirty="0"/>
          </a:p>
        </p:txBody>
      </p:sp>
      <p:sp>
        <p:nvSpPr>
          <p:cNvPr id="23" name="Text 17"/>
          <p:cNvSpPr/>
          <p:nvPr/>
        </p:nvSpPr>
        <p:spPr>
          <a:xfrm>
            <a:off x="7772400" y="1481328"/>
            <a:ext cx="3867912"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重点词汇 · 音标 · 释义 · 模板</a:t>
            </a:r>
            <a:endParaRPr lang="en-US" sz="1200" dirty="0"/>
          </a:p>
        </p:txBody>
      </p:sp>
      <p:sp>
        <p:nvSpPr>
          <p:cNvPr id="24" name="Shape 18"/>
          <p:cNvSpPr/>
          <p:nvPr/>
        </p:nvSpPr>
        <p:spPr>
          <a:xfrm>
            <a:off x="7772400" y="1792224"/>
            <a:ext cx="3867912" cy="1517904"/>
          </a:xfrm>
          <a:prstGeom prst="roundRect">
            <a:avLst>
              <a:gd name="adj" fmla="val 2410"/>
            </a:avLst>
          </a:prstGeom>
          <a:solidFill>
            <a:srgbClr val="FDF1E3"/>
          </a:solidFill>
          <a:ln w="9525">
            <a:solidFill>
              <a:srgbClr val="F0DFC7"/>
            </a:solidFill>
            <a:prstDash val="solid"/>
          </a:ln>
        </p:spPr>
      </p:sp>
      <p:sp>
        <p:nvSpPr>
          <p:cNvPr id="25" name="Text 19"/>
          <p:cNvSpPr/>
          <p:nvPr/>
        </p:nvSpPr>
        <p:spPr>
          <a:xfrm>
            <a:off x="7991856" y="190195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blueprint</a:t>
            </a:r>
            <a:endParaRPr lang="en-US" sz="1800" dirty="0"/>
          </a:p>
        </p:txBody>
      </p:sp>
      <p:sp>
        <p:nvSpPr>
          <p:cNvPr id="26" name="Text 20"/>
          <p:cNvSpPr/>
          <p:nvPr/>
        </p:nvSpPr>
        <p:spPr>
          <a:xfrm>
            <a:off x="7991856" y="217627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n. </a:t>
            </a:r>
            <a:r>
              <a:rPr lang="en-US" sz="1200" dirty="0">
                <a:solidFill>
                  <a:srgbClr val="5B6B80"/>
                </a:solidFill>
                <a:latin typeface="Arial" pitchFamily="34" charset="0"/>
                <a:ea typeface="Arial" pitchFamily="34" charset="-122"/>
                <a:cs typeface="Arial" pitchFamily="34" charset="-120"/>
              </a:rPr>
              <a:t>/ˈbluːprɪnt/</a:t>
            </a:r>
            <a:endParaRPr lang="en-US" sz="1150" dirty="0"/>
          </a:p>
        </p:txBody>
      </p:sp>
      <p:sp>
        <p:nvSpPr>
          <p:cNvPr id="27" name="Text 21"/>
          <p:cNvSpPr/>
          <p:nvPr/>
        </p:nvSpPr>
        <p:spPr>
          <a:xfrm>
            <a:off x="7991856" y="239572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蓝图，图纸；方案</a:t>
            </a:r>
            <a:endParaRPr lang="en-US" sz="1300" dirty="0"/>
          </a:p>
        </p:txBody>
      </p:sp>
      <p:sp>
        <p:nvSpPr>
          <p:cNvPr id="28" name="Text 22"/>
          <p:cNvSpPr/>
          <p:nvPr/>
        </p:nvSpPr>
        <p:spPr>
          <a:xfrm>
            <a:off x="7991856" y="265176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a blueprint for reform 改革蓝图</a:t>
            </a:r>
            <a:endParaRPr lang="en-US" sz="1050" dirty="0"/>
          </a:p>
        </p:txBody>
      </p:sp>
      <p:sp>
        <p:nvSpPr>
          <p:cNvPr id="29" name="Text 23"/>
          <p:cNvSpPr/>
          <p:nvPr/>
        </p:nvSpPr>
        <p:spPr>
          <a:xfrm>
            <a:off x="7991856" y="285292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only from an old [blueprint]</a:t>
            </a:r>
            <a:endParaRPr lang="en-US" sz="1050" dirty="0"/>
          </a:p>
        </p:txBody>
      </p:sp>
      <p:sp>
        <p:nvSpPr>
          <p:cNvPr id="30" name="Shape 24"/>
          <p:cNvSpPr/>
          <p:nvPr/>
        </p:nvSpPr>
        <p:spPr>
          <a:xfrm>
            <a:off x="7772400" y="3438144"/>
            <a:ext cx="3867912" cy="1517904"/>
          </a:xfrm>
          <a:prstGeom prst="roundRect">
            <a:avLst>
              <a:gd name="adj" fmla="val 2410"/>
            </a:avLst>
          </a:prstGeom>
          <a:solidFill>
            <a:srgbClr val="FDF1E3"/>
          </a:solidFill>
          <a:ln w="9525">
            <a:solidFill>
              <a:srgbClr val="F0DFC7"/>
            </a:solidFill>
            <a:prstDash val="solid"/>
          </a:ln>
        </p:spPr>
      </p:sp>
      <p:sp>
        <p:nvSpPr>
          <p:cNvPr id="31" name="Text 25"/>
          <p:cNvSpPr/>
          <p:nvPr/>
        </p:nvSpPr>
        <p:spPr>
          <a:xfrm>
            <a:off x="7991856" y="354787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entirely</a:t>
            </a:r>
            <a:endParaRPr lang="en-US" sz="1800" dirty="0"/>
          </a:p>
        </p:txBody>
      </p:sp>
      <p:sp>
        <p:nvSpPr>
          <p:cNvPr id="32" name="Text 26"/>
          <p:cNvSpPr/>
          <p:nvPr/>
        </p:nvSpPr>
        <p:spPr>
          <a:xfrm>
            <a:off x="7991856" y="382219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adv. </a:t>
            </a:r>
            <a:r>
              <a:rPr lang="en-US" sz="1200" dirty="0">
                <a:solidFill>
                  <a:srgbClr val="5B6B80"/>
                </a:solidFill>
                <a:latin typeface="Arial" pitchFamily="34" charset="0"/>
                <a:ea typeface="Arial" pitchFamily="34" charset="-122"/>
                <a:cs typeface="Arial" pitchFamily="34" charset="-120"/>
              </a:rPr>
              <a:t>/ɪnˈtaɪəli/</a:t>
            </a:r>
            <a:endParaRPr lang="en-US" sz="1150" dirty="0"/>
          </a:p>
        </p:txBody>
      </p:sp>
      <p:sp>
        <p:nvSpPr>
          <p:cNvPr id="33" name="Text 27"/>
          <p:cNvSpPr/>
          <p:nvPr/>
        </p:nvSpPr>
        <p:spPr>
          <a:xfrm>
            <a:off x="7991856" y="404164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完全地，全部地</a:t>
            </a:r>
            <a:endParaRPr lang="en-US" sz="1300" dirty="0"/>
          </a:p>
        </p:txBody>
      </p:sp>
      <p:sp>
        <p:nvSpPr>
          <p:cNvPr id="34" name="Text 28"/>
          <p:cNvSpPr/>
          <p:nvPr/>
        </p:nvSpPr>
        <p:spPr>
          <a:xfrm>
            <a:off x="7991856" y="429768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entire adj. 整个的</a:t>
            </a:r>
            <a:endParaRPr lang="en-US" sz="1050" dirty="0"/>
          </a:p>
        </p:txBody>
      </p:sp>
      <p:sp>
        <p:nvSpPr>
          <p:cNvPr id="35" name="Text 29"/>
          <p:cNvSpPr/>
          <p:nvPr/>
        </p:nvSpPr>
        <p:spPr>
          <a:xfrm>
            <a:off x="7991856" y="449884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[result] entirely by hand</a:t>
            </a:r>
            <a:endParaRPr lang="en-US" sz="1050" dirty="0"/>
          </a:p>
        </p:txBody>
      </p:sp>
      <p:sp>
        <p:nvSpPr>
          <p:cNvPr id="36" name="Shape 30"/>
          <p:cNvSpPr/>
          <p:nvPr/>
        </p:nvSpPr>
        <p:spPr>
          <a:xfrm>
            <a:off x="7772400" y="5084064"/>
            <a:ext cx="3867912" cy="786384"/>
          </a:xfrm>
          <a:prstGeom prst="roundRect">
            <a:avLst>
              <a:gd name="adj" fmla="val 4651"/>
            </a:avLst>
          </a:prstGeom>
          <a:solidFill>
            <a:srgbClr val="F2F5F9"/>
          </a:solidFill>
          <a:ln w="9525">
            <a:solidFill>
              <a:srgbClr val="D8DEE7"/>
            </a:solidFill>
            <a:prstDash val="solid"/>
          </a:ln>
        </p:spPr>
      </p:sp>
      <p:pic>
        <p:nvPicPr>
          <p:cNvPr id="37" name="Image 4" descr="提示"/>
          <p:cNvPicPr>
            <a:picLocks noChangeAspect="1"/>
          </p:cNvPicPr>
          <p:nvPr/>
        </p:nvPicPr>
        <p:blipFill>
          <a:blip r:embed="rId5"/>
          <a:stretch>
            <a:fillRect/>
          </a:stretch>
        </p:blipFill>
        <p:spPr>
          <a:xfrm>
            <a:off x="7991856" y="5358384"/>
            <a:ext cx="237744" cy="237744"/>
          </a:xfrm>
          <a:prstGeom prst="rect">
            <a:avLst/>
          </a:prstGeom>
        </p:spPr>
      </p:pic>
      <p:sp>
        <p:nvSpPr>
          <p:cNvPr id="38" name="Text 31"/>
          <p:cNvSpPr/>
          <p:nvPr/>
        </p:nvSpPr>
        <p:spPr>
          <a:xfrm>
            <a:off x="8321040" y="5212080"/>
            <a:ext cx="3099816" cy="548640"/>
          </a:xfrm>
          <a:prstGeom prst="rect">
            <a:avLst/>
          </a:prstGeom>
          <a:noFill/>
          <a:ln/>
        </p:spPr>
        <p:txBody>
          <a:bodyPr wrap="square" lIns="0" tIns="0" rIns="0" bIns="0" rtlCol="0" anchor="ctr"/>
          <a:lstStyle/>
          <a:p>
            <a:pPr marL="0" indent="0">
              <a:buNone/>
            </a:pPr>
            <a:r>
              <a:rPr lang="en-US" sz="1100" dirty="0">
                <a:solidFill>
                  <a:srgbClr val="5B6B80"/>
                </a:solidFill>
                <a:latin typeface="Microsoft YaHei" pitchFamily="34" charset="0"/>
                <a:ea typeface="Microsoft YaHei" pitchFamily="34" charset="-122"/>
                <a:cs typeface="Microsoft YaHei" pitchFamily="34" charset="-120"/>
              </a:rPr>
              <a:t>同类强化副词还有 just、merely，放在被强调成分前面，语气立刻变重。</a:t>
            </a:r>
            <a:endParaRPr lang="en-US" sz="1100" dirty="0"/>
          </a:p>
        </p:txBody>
      </p:sp>
      <p:sp>
        <p:nvSpPr>
          <p:cNvPr id="39" name="Text 32"/>
          <p:cNvSpPr/>
          <p:nvPr/>
        </p:nvSpPr>
        <p:spPr>
          <a:xfrm>
            <a:off x="548640" y="6364224"/>
            <a:ext cx="11091672" cy="274320"/>
          </a:xfrm>
          <a:prstGeom prst="rect">
            <a:avLst/>
          </a:prstGeom>
          <a:noFill/>
          <a:ln/>
        </p:spPr>
        <p:txBody>
          <a:bodyPr wrap="square" lIns="0" tIns="0" rIns="0" bIns="0" rtlCol="0" anchor="ctr"/>
          <a:lstStyle/>
          <a:p>
            <a:pPr marL="0" indent="0">
              <a:buNone/>
            </a:pPr>
            <a:r>
              <a:rPr lang="en-US" sz="1000" dirty="0">
                <a:solidFill>
                  <a:srgbClr val="5B6B80"/>
                </a:solidFill>
                <a:latin typeface="Microsoft YaHei" pitchFamily="34" charset="0"/>
                <a:ea typeface="Microsoft YaHei" pitchFamily="34" charset="-122"/>
                <a:cs typeface="Microsoft YaHei" pitchFamily="34" charset="-120"/>
              </a:rPr>
              <a:t>语料：[01:03] Could you imagine that this work is only from an old blueprint?</a:t>
            </a:r>
            <a:endParaRPr lang="en-US" sz="1000" dirty="0"/>
          </a:p>
        </p:txBody>
      </p:sp>
      <p:pic>
        <p:nvPicPr>
          <p:cNvPr id="40" name="PPTClaw Watermark 1"/>
          <p:cNvPicPr>
            <a:picLocks noChangeAspect="1"/>
          </p:cNvPicPr>
          <p:nvPr/>
        </p:nvPicPr>
        <p:blipFill>
          <a:blip r:embed="rId6"/>
          <a:stretch>
            <a:fillRect/>
          </a:stretch>
        </p:blipFill>
        <p:spPr>
          <a:xfrm>
            <a:off x="10982294" y="6446520"/>
            <a:ext cx="1141126" cy="3429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buNone/>
            </a:pPr>
            <a:r>
              <a:rPr lang="en-US" sz="1200" b="1" kern="0" spc="160" dirty="0">
                <a:solidFill>
                  <a:srgbClr val="0E6F63"/>
                </a:solidFill>
                <a:latin typeface="Microsoft YaHei" pitchFamily="34" charset="0"/>
                <a:ea typeface="Microsoft YaHei" pitchFamily="34" charset="-122"/>
                <a:cs typeface="Microsoft YaHei" pitchFamily="34" charset="-120"/>
              </a:rPr>
              <a:t>PATTERN 05 · 意义阐述</a:t>
            </a:r>
            <a:endParaRPr lang="en-US" sz="1200" dirty="0"/>
          </a:p>
        </p:txBody>
      </p:sp>
      <p:sp>
        <p:nvSpPr>
          <p:cNvPr id="3" name="Text 1"/>
          <p:cNvSpPr/>
          <p:nvPr/>
        </p:nvSpPr>
        <p:spPr>
          <a:xfrm>
            <a:off x="548640" y="713232"/>
            <a:ext cx="10424160" cy="566928"/>
          </a:xfrm>
          <a:prstGeom prst="rect">
            <a:avLst/>
          </a:prstGeom>
          <a:noFill/>
          <a:ln/>
        </p:spPr>
        <p:txBody>
          <a:bodyPr wrap="square" lIns="0" tIns="0" rIns="0" bIns="0" rtlCol="0" anchor="ctr"/>
          <a:lstStyle/>
          <a:p>
            <a:pPr marL="0" indent="0">
              <a:buNone/>
            </a:pPr>
            <a:r>
              <a:rPr lang="en-US" sz="3000" b="1" dirty="0">
                <a:solidFill>
                  <a:srgbClr val="16233A"/>
                </a:solidFill>
                <a:latin typeface="Microsoft YaHei" pitchFamily="34" charset="0"/>
                <a:ea typeface="Microsoft YaHei" pitchFamily="34" charset="-122"/>
                <a:cs typeface="Microsoft YaHei" pitchFamily="34" charset="-120"/>
              </a:rPr>
              <a:t>用 demonstrate how 讲清价值</a:t>
            </a:r>
            <a:endParaRPr lang="en-US" sz="3000" dirty="0"/>
          </a:p>
        </p:txBody>
      </p:sp>
      <p:sp>
        <p:nvSpPr>
          <p:cNvPr id="4" name="Shape 2"/>
          <p:cNvSpPr/>
          <p:nvPr/>
        </p:nvSpPr>
        <p:spPr>
          <a:xfrm>
            <a:off x="548640" y="1371600"/>
            <a:ext cx="11091672" cy="18288"/>
          </a:xfrm>
          <a:prstGeom prst="rect">
            <a:avLst/>
          </a:prstGeom>
          <a:solidFill>
            <a:srgbClr val="0E6F63"/>
          </a:solidFill>
          <a:ln w="12700">
            <a:solidFill>
              <a:srgbClr val="0E6F63"/>
            </a:solidFill>
            <a:prstDash val="solid"/>
          </a:ln>
        </p:spPr>
      </p:sp>
      <p:sp>
        <p:nvSpPr>
          <p:cNvPr id="5" name="Text 3"/>
          <p:cNvSpPr/>
          <p:nvPr/>
        </p:nvSpPr>
        <p:spPr>
          <a:xfrm>
            <a:off x="11109960" y="384048"/>
            <a:ext cx="548640" cy="310896"/>
          </a:xfrm>
          <a:prstGeom prst="rect">
            <a:avLst/>
          </a:prstGeom>
          <a:noFill/>
          <a:ln/>
        </p:spPr>
        <p:txBody>
          <a:bodyPr wrap="square" lIns="0" tIns="0" rIns="0" bIns="0" rtlCol="0" anchor="ctr"/>
          <a:lstStyle/>
          <a:p>
            <a:pPr marL="0" indent="0" algn="r">
              <a:buNone/>
            </a:pPr>
            <a:r>
              <a:rPr lang="en-US" sz="1600" b="1" dirty="0">
                <a:solidFill>
                  <a:srgbClr val="5B6B80"/>
                </a:solidFill>
                <a:latin typeface="Microsoft YaHei" pitchFamily="34" charset="0"/>
                <a:ea typeface="Microsoft YaHei" pitchFamily="34" charset="-122"/>
                <a:cs typeface="Microsoft YaHei" pitchFamily="34" charset="-120"/>
              </a:rPr>
              <a:t>07</a:t>
            </a:r>
            <a:endParaRPr lang="en-US" sz="1600" dirty="0"/>
          </a:p>
        </p:txBody>
      </p:sp>
      <p:sp>
        <p:nvSpPr>
          <p:cNvPr id="6" name="Shape 4"/>
          <p:cNvSpPr/>
          <p:nvPr/>
        </p:nvSpPr>
        <p:spPr>
          <a:xfrm>
            <a:off x="548640" y="1481328"/>
            <a:ext cx="6903720" cy="1426464"/>
          </a:xfrm>
          <a:prstGeom prst="roundRect">
            <a:avLst>
              <a:gd name="adj" fmla="val 2564"/>
            </a:avLst>
          </a:prstGeom>
          <a:solidFill>
            <a:srgbClr val="E7F2EF"/>
          </a:solidFill>
          <a:ln w="9525">
            <a:solidFill>
              <a:srgbClr val="CFE3DE"/>
            </a:solidFill>
            <a:prstDash val="solid"/>
          </a:ln>
        </p:spPr>
      </p:sp>
      <p:pic>
        <p:nvPicPr>
          <p:cNvPr id="7" name="Image 0" descr="原句"/>
          <p:cNvPicPr>
            <a:picLocks noChangeAspect="1"/>
          </p:cNvPicPr>
          <p:nvPr/>
        </p:nvPicPr>
        <p:blipFill>
          <a:blip r:embed="rId3"/>
          <a:stretch>
            <a:fillRect/>
          </a:stretch>
        </p:blipFill>
        <p:spPr>
          <a:xfrm>
            <a:off x="749808" y="1627632"/>
            <a:ext cx="292608" cy="292608"/>
          </a:xfrm>
          <a:prstGeom prst="rect">
            <a:avLst/>
          </a:prstGeom>
        </p:spPr>
      </p:pic>
      <p:sp>
        <p:nvSpPr>
          <p:cNvPr id="8" name="Text 5"/>
          <p:cNvSpPr/>
          <p:nvPr/>
        </p:nvSpPr>
        <p:spPr>
          <a:xfrm>
            <a:off x="1170432" y="1627632"/>
            <a:ext cx="6108192" cy="658368"/>
          </a:xfrm>
          <a:prstGeom prst="rect">
            <a:avLst/>
          </a:prstGeom>
          <a:noFill/>
          <a:ln/>
        </p:spPr>
        <p:txBody>
          <a:bodyPr wrap="square" lIns="0" tIns="0" rIns="0" bIns="0" rtlCol="0" anchor="ctr"/>
          <a:lstStyle/>
          <a:p>
            <a:pPr marL="0" indent="0">
              <a:buNone/>
            </a:pPr>
            <a:r>
              <a:rPr lang="en-US" sz="1350" b="1" dirty="0">
                <a:solidFill>
                  <a:srgbClr val="0B4F46"/>
                </a:solidFill>
                <a:latin typeface="Arial" pitchFamily="34" charset="0"/>
                <a:ea typeface="Arial" pitchFamily="34" charset="-122"/>
                <a:cs typeface="Arial" pitchFamily="34" charset="-120"/>
              </a:rPr>
              <a:t>It demonstrates how additive manufacturing can produce low-cost custom limbs for children living with disabilities.</a:t>
            </a:r>
            <a:endParaRPr lang="en-US" sz="1350" dirty="0"/>
          </a:p>
        </p:txBody>
      </p:sp>
      <p:sp>
        <p:nvSpPr>
          <p:cNvPr id="9" name="Text 6"/>
          <p:cNvSpPr/>
          <p:nvPr/>
        </p:nvSpPr>
        <p:spPr>
          <a:xfrm>
            <a:off x="1170432" y="2322576"/>
            <a:ext cx="6108192" cy="457200"/>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它展示了增材制造（3D 打印）如何为残障儿童制造低成本的定制假肢。</a:t>
            </a:r>
            <a:endParaRPr lang="en-US" sz="1150" dirty="0"/>
          </a:p>
        </p:txBody>
      </p:sp>
      <p:sp>
        <p:nvSpPr>
          <p:cNvPr id="10" name="Text 7"/>
          <p:cNvSpPr/>
          <p:nvPr/>
        </p:nvSpPr>
        <p:spPr>
          <a:xfrm>
            <a:off x="548640" y="2999232"/>
            <a:ext cx="4023360" cy="237744"/>
          </a:xfrm>
          <a:prstGeom prst="rect">
            <a:avLst/>
          </a:prstGeom>
          <a:noFill/>
          <a:ln/>
        </p:spPr>
        <p:txBody>
          <a:bodyPr wrap="square" lIns="0" tIns="0" rIns="0" bIns="0" rtlCol="0" anchor="ctr"/>
          <a:lstStyle/>
          <a:p>
            <a:pPr marL="0" indent="0">
              <a:buNone/>
            </a:pPr>
            <a:r>
              <a:rPr lang="en-US" sz="1200" b="1" kern="0" spc="120" dirty="0">
                <a:solidFill>
                  <a:srgbClr val="0E6F63"/>
                </a:solidFill>
                <a:latin typeface="Microsoft YaHei" pitchFamily="34" charset="0"/>
                <a:ea typeface="Microsoft YaHei" pitchFamily="34" charset="-122"/>
                <a:cs typeface="Microsoft YaHei" pitchFamily="34" charset="-120"/>
              </a:rPr>
              <a:t>骨架：说明对象 + how + 能力</a:t>
            </a:r>
            <a:endParaRPr lang="en-US" sz="1200" dirty="0"/>
          </a:p>
        </p:txBody>
      </p:sp>
      <p:sp>
        <p:nvSpPr>
          <p:cNvPr id="11" name="Text 8"/>
          <p:cNvSpPr/>
          <p:nvPr/>
        </p:nvSpPr>
        <p:spPr>
          <a:xfrm>
            <a:off x="548640" y="3255264"/>
            <a:ext cx="6903720" cy="384048"/>
          </a:xfrm>
          <a:prstGeom prst="rect">
            <a:avLst/>
          </a:prstGeom>
          <a:noFill/>
          <a:ln/>
        </p:spPr>
        <p:txBody>
          <a:bodyPr wrap="square" lIns="0" tIns="0" rIns="0" bIns="0" rtlCol="0" anchor="ctr"/>
          <a:lstStyle/>
          <a:p>
            <a:pPr marL="0" indent="0">
              <a:buNone/>
            </a:pPr>
            <a:r>
              <a:rPr lang="en-US" sz="1600" b="1" dirty="0">
                <a:solidFill>
                  <a:srgbClr val="0B4F46"/>
                </a:solidFill>
                <a:latin typeface="Arial" pitchFamily="34" charset="0"/>
                <a:ea typeface="Arial" pitchFamily="34" charset="-122"/>
                <a:cs typeface="Arial" pitchFamily="34" charset="-120"/>
              </a:rPr>
              <a:t>It demonstrates how [方法] can [结果] for [对象].</a:t>
            </a:r>
            <a:endParaRPr lang="en-US" sz="1600" dirty="0"/>
          </a:p>
        </p:txBody>
      </p:sp>
      <p:sp>
        <p:nvSpPr>
          <p:cNvPr id="12" name="Text 9"/>
          <p:cNvSpPr/>
          <p:nvPr/>
        </p:nvSpPr>
        <p:spPr>
          <a:xfrm>
            <a:off x="548640" y="3675888"/>
            <a:ext cx="6903720" cy="402336"/>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demonstrate / show 后接 how 从句，解释「怎么做到」；can 表示能力与可能性，for 引出受益对象。</a:t>
            </a:r>
            <a:endParaRPr lang="en-US" sz="1150" dirty="0"/>
          </a:p>
        </p:txBody>
      </p:sp>
      <p:sp>
        <p:nvSpPr>
          <p:cNvPr id="13" name="Text 10"/>
          <p:cNvSpPr/>
          <p:nvPr/>
        </p:nvSpPr>
        <p:spPr>
          <a:xfrm>
            <a:off x="548640" y="4169664"/>
            <a:ext cx="6903720"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举一反三 · 换主语 / 换地点 / 换对象</a:t>
            </a:r>
            <a:endParaRPr lang="en-US" sz="1200" dirty="0"/>
          </a:p>
        </p:txBody>
      </p:sp>
      <p:pic>
        <p:nvPicPr>
          <p:cNvPr id="14" name="Image 1" descr="示例"/>
          <p:cNvPicPr>
            <a:picLocks noChangeAspect="1"/>
          </p:cNvPicPr>
          <p:nvPr/>
        </p:nvPicPr>
        <p:blipFill>
          <a:blip r:embed="rId4"/>
          <a:stretch>
            <a:fillRect/>
          </a:stretch>
        </p:blipFill>
        <p:spPr>
          <a:xfrm>
            <a:off x="548640" y="4480560"/>
            <a:ext cx="201168" cy="201168"/>
          </a:xfrm>
          <a:prstGeom prst="rect">
            <a:avLst/>
          </a:prstGeom>
        </p:spPr>
      </p:pic>
      <p:sp>
        <p:nvSpPr>
          <p:cNvPr id="15" name="Text 11"/>
          <p:cNvSpPr/>
          <p:nvPr/>
        </p:nvSpPr>
        <p:spPr>
          <a:xfrm>
            <a:off x="822960" y="4443984"/>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This project shows how training can open doors for rural students.</a:t>
            </a:r>
            <a:endParaRPr lang="en-US" sz="1200" dirty="0"/>
          </a:p>
        </p:txBody>
      </p:sp>
      <p:sp>
        <p:nvSpPr>
          <p:cNvPr id="16" name="Text 12"/>
          <p:cNvSpPr/>
          <p:nvPr/>
        </p:nvSpPr>
        <p:spPr>
          <a:xfrm>
            <a:off x="822960" y="4663440"/>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这个项目展示培训如何为农村学生打开大门。</a:t>
            </a:r>
            <a:endParaRPr lang="en-US" sz="1050" dirty="0"/>
          </a:p>
        </p:txBody>
      </p:sp>
      <p:pic>
        <p:nvPicPr>
          <p:cNvPr id="17" name="Image 2" descr="示例"/>
          <p:cNvPicPr>
            <a:picLocks noChangeAspect="1"/>
          </p:cNvPicPr>
          <p:nvPr/>
        </p:nvPicPr>
        <p:blipFill>
          <a:blip r:embed="rId4"/>
          <a:stretch>
            <a:fillRect/>
          </a:stretch>
        </p:blipFill>
        <p:spPr>
          <a:xfrm>
            <a:off x="548640" y="5047488"/>
            <a:ext cx="201168" cy="201168"/>
          </a:xfrm>
          <a:prstGeom prst="rect">
            <a:avLst/>
          </a:prstGeom>
        </p:spPr>
      </p:pic>
      <p:sp>
        <p:nvSpPr>
          <p:cNvPr id="18" name="Text 13"/>
          <p:cNvSpPr/>
          <p:nvPr/>
        </p:nvSpPr>
        <p:spPr>
          <a:xfrm>
            <a:off x="822960" y="5010912"/>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The exhibit demonstrates how waste plastic can become classroom desks.</a:t>
            </a:r>
            <a:endParaRPr lang="en-US" sz="1200" dirty="0"/>
          </a:p>
        </p:txBody>
      </p:sp>
      <p:sp>
        <p:nvSpPr>
          <p:cNvPr id="19" name="Text 14"/>
          <p:cNvSpPr/>
          <p:nvPr/>
        </p:nvSpPr>
        <p:spPr>
          <a:xfrm>
            <a:off x="822960" y="5230368"/>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这件展品展示废塑料如何变成课桌。</a:t>
            </a:r>
            <a:endParaRPr lang="en-US" sz="1050" dirty="0"/>
          </a:p>
        </p:txBody>
      </p:sp>
      <p:pic>
        <p:nvPicPr>
          <p:cNvPr id="20" name="Image 3" descr="示例"/>
          <p:cNvPicPr>
            <a:picLocks noChangeAspect="1"/>
          </p:cNvPicPr>
          <p:nvPr/>
        </p:nvPicPr>
        <p:blipFill>
          <a:blip r:embed="rId4"/>
          <a:stretch>
            <a:fillRect/>
          </a:stretch>
        </p:blipFill>
        <p:spPr>
          <a:xfrm>
            <a:off x="548640" y="5614416"/>
            <a:ext cx="201168" cy="201168"/>
          </a:xfrm>
          <a:prstGeom prst="rect">
            <a:avLst/>
          </a:prstGeom>
        </p:spPr>
      </p:pic>
      <p:sp>
        <p:nvSpPr>
          <p:cNvPr id="21" name="Text 15"/>
          <p:cNvSpPr/>
          <p:nvPr/>
        </p:nvSpPr>
        <p:spPr>
          <a:xfrm>
            <a:off x="822960" y="5577840"/>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It proves how small teams can solve problems once left to big labs.</a:t>
            </a:r>
            <a:endParaRPr lang="en-US" sz="1200" dirty="0"/>
          </a:p>
        </p:txBody>
      </p:sp>
      <p:sp>
        <p:nvSpPr>
          <p:cNvPr id="22" name="Text 16"/>
          <p:cNvSpPr/>
          <p:nvPr/>
        </p:nvSpPr>
        <p:spPr>
          <a:xfrm>
            <a:off x="822960" y="5797296"/>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它证明小团队如何解决过去交给大实验室的问题。</a:t>
            </a:r>
            <a:endParaRPr lang="en-US" sz="1050" dirty="0"/>
          </a:p>
        </p:txBody>
      </p:sp>
      <p:sp>
        <p:nvSpPr>
          <p:cNvPr id="23" name="Text 17"/>
          <p:cNvSpPr/>
          <p:nvPr/>
        </p:nvSpPr>
        <p:spPr>
          <a:xfrm>
            <a:off x="7772400" y="1481328"/>
            <a:ext cx="3867912"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重点词汇 · 音标 · 释义 · 模板</a:t>
            </a:r>
            <a:endParaRPr lang="en-US" sz="1200" dirty="0"/>
          </a:p>
        </p:txBody>
      </p:sp>
      <p:sp>
        <p:nvSpPr>
          <p:cNvPr id="24" name="Shape 18"/>
          <p:cNvSpPr/>
          <p:nvPr/>
        </p:nvSpPr>
        <p:spPr>
          <a:xfrm>
            <a:off x="7772400" y="1792224"/>
            <a:ext cx="3867912" cy="1517904"/>
          </a:xfrm>
          <a:prstGeom prst="roundRect">
            <a:avLst>
              <a:gd name="adj" fmla="val 2410"/>
            </a:avLst>
          </a:prstGeom>
          <a:solidFill>
            <a:srgbClr val="FDF1E3"/>
          </a:solidFill>
          <a:ln w="9525">
            <a:solidFill>
              <a:srgbClr val="F0DFC7"/>
            </a:solidFill>
            <a:prstDash val="solid"/>
          </a:ln>
        </p:spPr>
      </p:sp>
      <p:sp>
        <p:nvSpPr>
          <p:cNvPr id="25" name="Text 19"/>
          <p:cNvSpPr/>
          <p:nvPr/>
        </p:nvSpPr>
        <p:spPr>
          <a:xfrm>
            <a:off x="7991856" y="190195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demonstrate</a:t>
            </a:r>
            <a:endParaRPr lang="en-US" sz="1800" dirty="0"/>
          </a:p>
        </p:txBody>
      </p:sp>
      <p:sp>
        <p:nvSpPr>
          <p:cNvPr id="26" name="Text 20"/>
          <p:cNvSpPr/>
          <p:nvPr/>
        </p:nvSpPr>
        <p:spPr>
          <a:xfrm>
            <a:off x="7991856" y="217627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v. </a:t>
            </a:r>
            <a:r>
              <a:rPr lang="en-US" sz="1200" dirty="0">
                <a:solidFill>
                  <a:srgbClr val="5B6B80"/>
                </a:solidFill>
                <a:latin typeface="Arial" pitchFamily="34" charset="0"/>
                <a:ea typeface="Arial" pitchFamily="34" charset="-122"/>
                <a:cs typeface="Arial" pitchFamily="34" charset="-120"/>
              </a:rPr>
              <a:t>/ˈdemənstreɪt/</a:t>
            </a:r>
            <a:endParaRPr lang="en-US" sz="1150" dirty="0"/>
          </a:p>
        </p:txBody>
      </p:sp>
      <p:sp>
        <p:nvSpPr>
          <p:cNvPr id="27" name="Text 21"/>
          <p:cNvSpPr/>
          <p:nvPr/>
        </p:nvSpPr>
        <p:spPr>
          <a:xfrm>
            <a:off x="7991856" y="239572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展示，演示；证明</a:t>
            </a:r>
            <a:endParaRPr lang="en-US" sz="1300" dirty="0"/>
          </a:p>
        </p:txBody>
      </p:sp>
      <p:sp>
        <p:nvSpPr>
          <p:cNvPr id="28" name="Text 22"/>
          <p:cNvSpPr/>
          <p:nvPr/>
        </p:nvSpPr>
        <p:spPr>
          <a:xfrm>
            <a:off x="7991856" y="265176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demonstration n. 展示</a:t>
            </a:r>
            <a:endParaRPr lang="en-US" sz="1050" dirty="0"/>
          </a:p>
        </p:txBody>
      </p:sp>
      <p:sp>
        <p:nvSpPr>
          <p:cNvPr id="29" name="Text 23"/>
          <p:cNvSpPr/>
          <p:nvPr/>
        </p:nvSpPr>
        <p:spPr>
          <a:xfrm>
            <a:off x="7991856" y="285292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It demonstrates how [方法] can [结果]</a:t>
            </a:r>
            <a:endParaRPr lang="en-US" sz="1050" dirty="0"/>
          </a:p>
        </p:txBody>
      </p:sp>
      <p:sp>
        <p:nvSpPr>
          <p:cNvPr id="30" name="Shape 24"/>
          <p:cNvSpPr/>
          <p:nvPr/>
        </p:nvSpPr>
        <p:spPr>
          <a:xfrm>
            <a:off x="7772400" y="3438144"/>
            <a:ext cx="3867912" cy="1517904"/>
          </a:xfrm>
          <a:prstGeom prst="roundRect">
            <a:avLst>
              <a:gd name="adj" fmla="val 2410"/>
            </a:avLst>
          </a:prstGeom>
          <a:solidFill>
            <a:srgbClr val="FDF1E3"/>
          </a:solidFill>
          <a:ln w="9525">
            <a:solidFill>
              <a:srgbClr val="F0DFC7"/>
            </a:solidFill>
            <a:prstDash val="solid"/>
          </a:ln>
        </p:spPr>
      </p:sp>
      <p:sp>
        <p:nvSpPr>
          <p:cNvPr id="31" name="Text 25"/>
          <p:cNvSpPr/>
          <p:nvPr/>
        </p:nvSpPr>
        <p:spPr>
          <a:xfrm>
            <a:off x="7991856" y="354787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limb</a:t>
            </a:r>
            <a:endParaRPr lang="en-US" sz="1800" dirty="0"/>
          </a:p>
        </p:txBody>
      </p:sp>
      <p:sp>
        <p:nvSpPr>
          <p:cNvPr id="32" name="Text 26"/>
          <p:cNvSpPr/>
          <p:nvPr/>
        </p:nvSpPr>
        <p:spPr>
          <a:xfrm>
            <a:off x="7991856" y="382219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n. </a:t>
            </a:r>
            <a:r>
              <a:rPr lang="en-US" sz="1200" dirty="0">
                <a:solidFill>
                  <a:srgbClr val="5B6B80"/>
                </a:solidFill>
                <a:latin typeface="Arial" pitchFamily="34" charset="0"/>
                <a:ea typeface="Arial" pitchFamily="34" charset="-122"/>
                <a:cs typeface="Arial" pitchFamily="34" charset="-120"/>
              </a:rPr>
              <a:t>/lɪm/</a:t>
            </a:r>
            <a:endParaRPr lang="en-US" sz="1150" dirty="0"/>
          </a:p>
        </p:txBody>
      </p:sp>
      <p:sp>
        <p:nvSpPr>
          <p:cNvPr id="33" name="Text 27"/>
          <p:cNvSpPr/>
          <p:nvPr/>
        </p:nvSpPr>
        <p:spPr>
          <a:xfrm>
            <a:off x="7991856" y="404164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肢，手臂或腿；假肢</a:t>
            </a:r>
            <a:endParaRPr lang="en-US" sz="1300" dirty="0"/>
          </a:p>
        </p:txBody>
      </p:sp>
      <p:sp>
        <p:nvSpPr>
          <p:cNvPr id="34" name="Text 28"/>
          <p:cNvSpPr/>
          <p:nvPr/>
        </p:nvSpPr>
        <p:spPr>
          <a:xfrm>
            <a:off x="7991856" y="429768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an artificial limb 假肢</a:t>
            </a:r>
            <a:endParaRPr lang="en-US" sz="1050" dirty="0"/>
          </a:p>
        </p:txBody>
      </p:sp>
      <p:sp>
        <p:nvSpPr>
          <p:cNvPr id="35" name="Text 29"/>
          <p:cNvSpPr/>
          <p:nvPr/>
        </p:nvSpPr>
        <p:spPr>
          <a:xfrm>
            <a:off x="7991856" y="449884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custom limbs for [对象]</a:t>
            </a:r>
            <a:endParaRPr lang="en-US" sz="1050" dirty="0"/>
          </a:p>
        </p:txBody>
      </p:sp>
      <p:sp>
        <p:nvSpPr>
          <p:cNvPr id="36" name="Shape 30"/>
          <p:cNvSpPr/>
          <p:nvPr/>
        </p:nvSpPr>
        <p:spPr>
          <a:xfrm>
            <a:off x="7772400" y="5084064"/>
            <a:ext cx="3867912" cy="786384"/>
          </a:xfrm>
          <a:prstGeom prst="roundRect">
            <a:avLst>
              <a:gd name="adj" fmla="val 4651"/>
            </a:avLst>
          </a:prstGeom>
          <a:solidFill>
            <a:srgbClr val="F2F5F9"/>
          </a:solidFill>
          <a:ln w="9525">
            <a:solidFill>
              <a:srgbClr val="D8DEE7"/>
            </a:solidFill>
            <a:prstDash val="solid"/>
          </a:ln>
        </p:spPr>
      </p:sp>
      <p:pic>
        <p:nvPicPr>
          <p:cNvPr id="37" name="Image 4" descr="提示"/>
          <p:cNvPicPr>
            <a:picLocks noChangeAspect="1"/>
          </p:cNvPicPr>
          <p:nvPr/>
        </p:nvPicPr>
        <p:blipFill>
          <a:blip r:embed="rId5"/>
          <a:stretch>
            <a:fillRect/>
          </a:stretch>
        </p:blipFill>
        <p:spPr>
          <a:xfrm>
            <a:off x="7991856" y="5358384"/>
            <a:ext cx="237744" cy="237744"/>
          </a:xfrm>
          <a:prstGeom prst="rect">
            <a:avLst/>
          </a:prstGeom>
        </p:spPr>
      </p:pic>
      <p:sp>
        <p:nvSpPr>
          <p:cNvPr id="38" name="Text 31"/>
          <p:cNvSpPr/>
          <p:nvPr/>
        </p:nvSpPr>
        <p:spPr>
          <a:xfrm>
            <a:off x="8321040" y="5212080"/>
            <a:ext cx="3099816" cy="548640"/>
          </a:xfrm>
          <a:prstGeom prst="rect">
            <a:avLst/>
          </a:prstGeom>
          <a:noFill/>
          <a:ln/>
        </p:spPr>
        <p:txBody>
          <a:bodyPr wrap="square" lIns="0" tIns="0" rIns="0" bIns="0" rtlCol="0" anchor="ctr"/>
          <a:lstStyle/>
          <a:p>
            <a:pPr marL="0" indent="0">
              <a:buNone/>
            </a:pPr>
            <a:r>
              <a:rPr lang="en-US" sz="1100" dirty="0">
                <a:solidFill>
                  <a:srgbClr val="5B6B80"/>
                </a:solidFill>
                <a:latin typeface="Microsoft YaHei" pitchFamily="34" charset="0"/>
                <a:ea typeface="Microsoft YaHei" pitchFamily="34" charset="-122"/>
                <a:cs typeface="Microsoft YaHei" pitchFamily="34" charset="-120"/>
              </a:rPr>
              <a:t>「为……做某事」用 for + 对象，比 to 更强调受益关系：produce low-cost limbs for children。</a:t>
            </a:r>
            <a:endParaRPr lang="en-US" sz="1100" dirty="0"/>
          </a:p>
        </p:txBody>
      </p:sp>
      <p:sp>
        <p:nvSpPr>
          <p:cNvPr id="39" name="Text 32"/>
          <p:cNvSpPr/>
          <p:nvPr/>
        </p:nvSpPr>
        <p:spPr>
          <a:xfrm>
            <a:off x="548640" y="6364224"/>
            <a:ext cx="11091672" cy="274320"/>
          </a:xfrm>
          <a:prstGeom prst="rect">
            <a:avLst/>
          </a:prstGeom>
          <a:noFill/>
          <a:ln/>
        </p:spPr>
        <p:txBody>
          <a:bodyPr wrap="square" lIns="0" tIns="0" rIns="0" bIns="0" rtlCol="0" anchor="ctr"/>
          <a:lstStyle/>
          <a:p>
            <a:pPr marL="0" indent="0">
              <a:buNone/>
            </a:pPr>
            <a:r>
              <a:rPr lang="en-US" sz="1000" dirty="0">
                <a:solidFill>
                  <a:srgbClr val="5B6B80"/>
                </a:solidFill>
                <a:latin typeface="Microsoft YaHei" pitchFamily="34" charset="0"/>
                <a:ea typeface="Microsoft YaHei" pitchFamily="34" charset="-122"/>
                <a:cs typeface="Microsoft YaHei" pitchFamily="34" charset="-120"/>
              </a:rPr>
              <a:t>语料：[01:37] It demonstrates how additive manufacturing can produce low-cost limbs.</a:t>
            </a:r>
            <a:endParaRPr lang="en-US" sz="1000" dirty="0"/>
          </a:p>
        </p:txBody>
      </p:sp>
      <p:pic>
        <p:nvPicPr>
          <p:cNvPr id="40" name="PPTClaw Watermark 1"/>
          <p:cNvPicPr>
            <a:picLocks noChangeAspect="1"/>
          </p:cNvPicPr>
          <p:nvPr/>
        </p:nvPicPr>
        <p:blipFill>
          <a:blip r:embed="rId6"/>
          <a:stretch>
            <a:fillRect/>
          </a:stretch>
        </p:blipFill>
        <p:spPr>
          <a:xfrm>
            <a:off x="10982294" y="6446520"/>
            <a:ext cx="1141126" cy="3429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buNone/>
            </a:pPr>
            <a:r>
              <a:rPr lang="en-US" sz="1200" b="1" kern="0" spc="160" dirty="0">
                <a:solidFill>
                  <a:srgbClr val="0E6F63"/>
                </a:solidFill>
                <a:latin typeface="Microsoft YaHei" pitchFamily="34" charset="0"/>
                <a:ea typeface="Microsoft YaHei" pitchFamily="34" charset="-122"/>
                <a:cs typeface="Microsoft YaHei" pitchFamily="34" charset="-120"/>
              </a:rPr>
              <a:t>PATTERN 06 · 转化与融合</a:t>
            </a:r>
            <a:endParaRPr lang="en-US" sz="1200" dirty="0"/>
          </a:p>
        </p:txBody>
      </p:sp>
      <p:sp>
        <p:nvSpPr>
          <p:cNvPr id="3" name="Text 1"/>
          <p:cNvSpPr/>
          <p:nvPr/>
        </p:nvSpPr>
        <p:spPr>
          <a:xfrm>
            <a:off x="548640" y="713232"/>
            <a:ext cx="10424160" cy="566928"/>
          </a:xfrm>
          <a:prstGeom prst="rect">
            <a:avLst/>
          </a:prstGeom>
          <a:noFill/>
          <a:ln/>
        </p:spPr>
        <p:txBody>
          <a:bodyPr wrap="square" lIns="0" tIns="0" rIns="0" bIns="0" rtlCol="0" anchor="ctr"/>
          <a:lstStyle/>
          <a:p>
            <a:pPr marL="0" indent="0">
              <a:buNone/>
            </a:pPr>
            <a:r>
              <a:rPr lang="en-US" sz="3000" b="1" dirty="0">
                <a:solidFill>
                  <a:srgbClr val="16233A"/>
                </a:solidFill>
                <a:latin typeface="Microsoft YaHei" pitchFamily="34" charset="0"/>
                <a:ea typeface="Microsoft YaHei" pitchFamily="34" charset="-122"/>
                <a:cs typeface="Microsoft YaHei" pitchFamily="34" charset="-120"/>
              </a:rPr>
              <a:t>把 A 变成 B，把 A 与 B 织在一起</a:t>
            </a:r>
            <a:endParaRPr lang="en-US" sz="3000" dirty="0"/>
          </a:p>
        </p:txBody>
      </p:sp>
      <p:sp>
        <p:nvSpPr>
          <p:cNvPr id="4" name="Shape 2"/>
          <p:cNvSpPr/>
          <p:nvPr/>
        </p:nvSpPr>
        <p:spPr>
          <a:xfrm>
            <a:off x="548640" y="1371600"/>
            <a:ext cx="11091672" cy="18288"/>
          </a:xfrm>
          <a:prstGeom prst="rect">
            <a:avLst/>
          </a:prstGeom>
          <a:solidFill>
            <a:srgbClr val="0E6F63"/>
          </a:solidFill>
          <a:ln w="12700">
            <a:solidFill>
              <a:srgbClr val="0E6F63"/>
            </a:solidFill>
            <a:prstDash val="solid"/>
          </a:ln>
        </p:spPr>
      </p:sp>
      <p:sp>
        <p:nvSpPr>
          <p:cNvPr id="5" name="Text 3"/>
          <p:cNvSpPr/>
          <p:nvPr/>
        </p:nvSpPr>
        <p:spPr>
          <a:xfrm>
            <a:off x="11109960" y="384048"/>
            <a:ext cx="548640" cy="310896"/>
          </a:xfrm>
          <a:prstGeom prst="rect">
            <a:avLst/>
          </a:prstGeom>
          <a:noFill/>
          <a:ln/>
        </p:spPr>
        <p:txBody>
          <a:bodyPr wrap="square" lIns="0" tIns="0" rIns="0" bIns="0" rtlCol="0" anchor="ctr"/>
          <a:lstStyle/>
          <a:p>
            <a:pPr marL="0" indent="0" algn="r">
              <a:buNone/>
            </a:pPr>
            <a:r>
              <a:rPr lang="en-US" sz="1600" b="1" dirty="0">
                <a:solidFill>
                  <a:srgbClr val="5B6B80"/>
                </a:solidFill>
                <a:latin typeface="Microsoft YaHei" pitchFamily="34" charset="0"/>
                <a:ea typeface="Microsoft YaHei" pitchFamily="34" charset="-122"/>
                <a:cs typeface="Microsoft YaHei" pitchFamily="34" charset="-120"/>
              </a:rPr>
              <a:t>08</a:t>
            </a:r>
            <a:endParaRPr lang="en-US" sz="1600" dirty="0"/>
          </a:p>
        </p:txBody>
      </p:sp>
      <p:sp>
        <p:nvSpPr>
          <p:cNvPr id="6" name="Shape 4"/>
          <p:cNvSpPr/>
          <p:nvPr/>
        </p:nvSpPr>
        <p:spPr>
          <a:xfrm>
            <a:off x="548640" y="1481328"/>
            <a:ext cx="6903720" cy="1426464"/>
          </a:xfrm>
          <a:prstGeom prst="roundRect">
            <a:avLst>
              <a:gd name="adj" fmla="val 2564"/>
            </a:avLst>
          </a:prstGeom>
          <a:solidFill>
            <a:srgbClr val="E7F2EF"/>
          </a:solidFill>
          <a:ln w="9525">
            <a:solidFill>
              <a:srgbClr val="CFE3DE"/>
            </a:solidFill>
            <a:prstDash val="solid"/>
          </a:ln>
        </p:spPr>
      </p:sp>
      <p:pic>
        <p:nvPicPr>
          <p:cNvPr id="7" name="Image 0" descr="原句"/>
          <p:cNvPicPr>
            <a:picLocks noChangeAspect="1"/>
          </p:cNvPicPr>
          <p:nvPr/>
        </p:nvPicPr>
        <p:blipFill>
          <a:blip r:embed="rId3"/>
          <a:stretch>
            <a:fillRect/>
          </a:stretch>
        </p:blipFill>
        <p:spPr>
          <a:xfrm>
            <a:off x="749808" y="1627632"/>
            <a:ext cx="292608" cy="292608"/>
          </a:xfrm>
          <a:prstGeom prst="rect">
            <a:avLst/>
          </a:prstGeom>
        </p:spPr>
      </p:pic>
      <p:sp>
        <p:nvSpPr>
          <p:cNvPr id="8" name="Text 5"/>
          <p:cNvSpPr/>
          <p:nvPr/>
        </p:nvSpPr>
        <p:spPr>
          <a:xfrm>
            <a:off x="1170432" y="1627632"/>
            <a:ext cx="6108192" cy="658368"/>
          </a:xfrm>
          <a:prstGeom prst="rect">
            <a:avLst/>
          </a:prstGeom>
          <a:noFill/>
          <a:ln/>
        </p:spPr>
        <p:txBody>
          <a:bodyPr wrap="square" lIns="0" tIns="0" rIns="0" bIns="0" rtlCol="0" anchor="ctr"/>
          <a:lstStyle/>
          <a:p>
            <a:pPr marL="0" indent="0">
              <a:buNone/>
            </a:pPr>
            <a:r>
              <a:rPr lang="en-US" sz="1350" b="1" dirty="0">
                <a:solidFill>
                  <a:srgbClr val="0B4F46"/>
                </a:solidFill>
                <a:latin typeface="Arial" pitchFamily="34" charset="0"/>
                <a:ea typeface="Arial" pitchFamily="34" charset="-122"/>
                <a:cs typeface="Arial" pitchFamily="34" charset="-120"/>
              </a:rPr>
              <a:t>It is a creative art form turning simple dough into stunning works of art.</a:t>
            </a:r>
            <a:endParaRPr lang="en-US" sz="1350" dirty="0"/>
          </a:p>
        </p:txBody>
      </p:sp>
      <p:sp>
        <p:nvSpPr>
          <p:cNvPr id="9" name="Text 6"/>
          <p:cNvSpPr/>
          <p:nvPr/>
        </p:nvSpPr>
        <p:spPr>
          <a:xfrm>
            <a:off x="1170432" y="2322576"/>
            <a:ext cx="6108192" cy="457200"/>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这是一种富有创意的艺术形式，把简单的面团变成了令人惊叹的艺术品。</a:t>
            </a:r>
            <a:endParaRPr lang="en-US" sz="1150" dirty="0"/>
          </a:p>
        </p:txBody>
      </p:sp>
      <p:sp>
        <p:nvSpPr>
          <p:cNvPr id="10" name="Text 7"/>
          <p:cNvSpPr/>
          <p:nvPr/>
        </p:nvSpPr>
        <p:spPr>
          <a:xfrm>
            <a:off x="548640" y="2999232"/>
            <a:ext cx="4023360" cy="237744"/>
          </a:xfrm>
          <a:prstGeom prst="rect">
            <a:avLst/>
          </a:prstGeom>
          <a:noFill/>
          <a:ln/>
        </p:spPr>
        <p:txBody>
          <a:bodyPr wrap="square" lIns="0" tIns="0" rIns="0" bIns="0" rtlCol="0" anchor="ctr"/>
          <a:lstStyle/>
          <a:p>
            <a:pPr marL="0" indent="0">
              <a:buNone/>
            </a:pPr>
            <a:r>
              <a:rPr lang="en-US" sz="1200" b="1" kern="0" spc="120" dirty="0">
                <a:solidFill>
                  <a:srgbClr val="0E6F63"/>
                </a:solidFill>
                <a:latin typeface="Microsoft YaHei" pitchFamily="34" charset="0"/>
                <a:ea typeface="Microsoft YaHei" pitchFamily="34" charset="-122"/>
                <a:cs typeface="Microsoft YaHei" pitchFamily="34" charset="-120"/>
              </a:rPr>
              <a:t>骨架：turn A into B / weave A with B</a:t>
            </a:r>
            <a:endParaRPr lang="en-US" sz="1200" dirty="0"/>
          </a:p>
        </p:txBody>
      </p:sp>
      <p:sp>
        <p:nvSpPr>
          <p:cNvPr id="11" name="Text 8"/>
          <p:cNvSpPr/>
          <p:nvPr/>
        </p:nvSpPr>
        <p:spPr>
          <a:xfrm>
            <a:off x="548640" y="3255264"/>
            <a:ext cx="6903720" cy="384048"/>
          </a:xfrm>
          <a:prstGeom prst="rect">
            <a:avLst/>
          </a:prstGeom>
          <a:noFill/>
          <a:ln/>
        </p:spPr>
        <p:txBody>
          <a:bodyPr wrap="square" lIns="0" tIns="0" rIns="0" bIns="0" rtlCol="0" anchor="ctr"/>
          <a:lstStyle/>
          <a:p>
            <a:pPr marL="0" indent="0">
              <a:buNone/>
            </a:pPr>
            <a:r>
              <a:rPr lang="en-US" sz="1600" b="1" dirty="0">
                <a:solidFill>
                  <a:srgbClr val="0B4F46"/>
                </a:solidFill>
                <a:latin typeface="Arial" pitchFamily="34" charset="0"/>
                <a:ea typeface="Arial" pitchFamily="34" charset="-122"/>
                <a:cs typeface="Arial" pitchFamily="34" charset="-120"/>
              </a:rPr>
              <a:t>[It] turn(s) [A] into [B]　·　weave(s) [A] together with [B]</a:t>
            </a:r>
            <a:endParaRPr lang="en-US" sz="1600" dirty="0"/>
          </a:p>
        </p:txBody>
      </p:sp>
      <p:sp>
        <p:nvSpPr>
          <p:cNvPr id="12" name="Text 9"/>
          <p:cNvSpPr/>
          <p:nvPr/>
        </p:nvSpPr>
        <p:spPr>
          <a:xfrm>
            <a:off x="548640" y="3675888"/>
            <a:ext cx="6903720" cy="402336"/>
          </a:xfrm>
          <a:prstGeom prst="rect">
            <a:avLst/>
          </a:prstGeom>
          <a:noFill/>
          <a:ln/>
        </p:spPr>
        <p:txBody>
          <a:bodyPr wrap="square" lIns="0" tIns="0" rIns="0" bIns="0" rtlCol="0" anchor="ctr"/>
          <a:lstStyle/>
          <a:p>
            <a:pPr marL="0" indent="0">
              <a:buNone/>
            </a:pPr>
            <a:r>
              <a:rPr lang="en-US" sz="1150" dirty="0">
                <a:solidFill>
                  <a:srgbClr val="5B6B80"/>
                </a:solidFill>
                <a:latin typeface="Microsoft YaHei" pitchFamily="34" charset="0"/>
                <a:ea typeface="Microsoft YaHei" pitchFamily="34" charset="-122"/>
                <a:cs typeface="Microsoft YaHei" pitchFamily="34" charset="-120"/>
              </a:rPr>
              <a:t>后半骨架出自 [01:56]：This museum weaves together the traditional friendship with innovations。turn 强调质变，weave 用编织比喻融合。</a:t>
            </a:r>
            <a:endParaRPr lang="en-US" sz="1150" dirty="0"/>
          </a:p>
        </p:txBody>
      </p:sp>
      <p:sp>
        <p:nvSpPr>
          <p:cNvPr id="13" name="Text 10"/>
          <p:cNvSpPr/>
          <p:nvPr/>
        </p:nvSpPr>
        <p:spPr>
          <a:xfrm>
            <a:off x="548640" y="4169664"/>
            <a:ext cx="6903720"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举一反三 · 换主语 / 换地点 / 换对象</a:t>
            </a:r>
            <a:endParaRPr lang="en-US" sz="1200" dirty="0"/>
          </a:p>
        </p:txBody>
      </p:sp>
      <p:pic>
        <p:nvPicPr>
          <p:cNvPr id="14" name="Image 1" descr="示例"/>
          <p:cNvPicPr>
            <a:picLocks noChangeAspect="1"/>
          </p:cNvPicPr>
          <p:nvPr/>
        </p:nvPicPr>
        <p:blipFill>
          <a:blip r:embed="rId4"/>
          <a:stretch>
            <a:fillRect/>
          </a:stretch>
        </p:blipFill>
        <p:spPr>
          <a:xfrm>
            <a:off x="548640" y="4480560"/>
            <a:ext cx="201168" cy="201168"/>
          </a:xfrm>
          <a:prstGeom prst="rect">
            <a:avLst/>
          </a:prstGeom>
        </p:spPr>
      </p:pic>
      <p:sp>
        <p:nvSpPr>
          <p:cNvPr id="15" name="Text 11"/>
          <p:cNvSpPr/>
          <p:nvPr/>
        </p:nvSpPr>
        <p:spPr>
          <a:xfrm>
            <a:off x="822960" y="4443984"/>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They turn bamboo into light, durable furniture.</a:t>
            </a:r>
            <a:endParaRPr lang="en-US" sz="1200" dirty="0"/>
          </a:p>
        </p:txBody>
      </p:sp>
      <p:sp>
        <p:nvSpPr>
          <p:cNvPr id="16" name="Text 12"/>
          <p:cNvSpPr/>
          <p:nvPr/>
        </p:nvSpPr>
        <p:spPr>
          <a:xfrm>
            <a:off x="822960" y="4663440"/>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他们把竹子变成轻便耐用的家具。</a:t>
            </a:r>
            <a:endParaRPr lang="en-US" sz="1050" dirty="0"/>
          </a:p>
        </p:txBody>
      </p:sp>
      <p:pic>
        <p:nvPicPr>
          <p:cNvPr id="17" name="Image 2" descr="示例"/>
          <p:cNvPicPr>
            <a:picLocks noChangeAspect="1"/>
          </p:cNvPicPr>
          <p:nvPr/>
        </p:nvPicPr>
        <p:blipFill>
          <a:blip r:embed="rId4"/>
          <a:stretch>
            <a:fillRect/>
          </a:stretch>
        </p:blipFill>
        <p:spPr>
          <a:xfrm>
            <a:off x="548640" y="5047488"/>
            <a:ext cx="201168" cy="201168"/>
          </a:xfrm>
          <a:prstGeom prst="rect">
            <a:avLst/>
          </a:prstGeom>
        </p:spPr>
      </p:pic>
      <p:sp>
        <p:nvSpPr>
          <p:cNvPr id="18" name="Text 13"/>
          <p:cNvSpPr/>
          <p:nvPr/>
        </p:nvSpPr>
        <p:spPr>
          <a:xfrm>
            <a:off x="822960" y="5010912"/>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The course turns theory into something you can hold.</a:t>
            </a:r>
            <a:endParaRPr lang="en-US" sz="1200" dirty="0"/>
          </a:p>
        </p:txBody>
      </p:sp>
      <p:sp>
        <p:nvSpPr>
          <p:cNvPr id="19" name="Text 14"/>
          <p:cNvSpPr/>
          <p:nvPr/>
        </p:nvSpPr>
        <p:spPr>
          <a:xfrm>
            <a:off x="822960" y="5230368"/>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这门课把理论变成你拿在手里的东西。</a:t>
            </a:r>
            <a:endParaRPr lang="en-US" sz="1050" dirty="0"/>
          </a:p>
        </p:txBody>
      </p:sp>
      <p:pic>
        <p:nvPicPr>
          <p:cNvPr id="20" name="Image 3" descr="示例"/>
          <p:cNvPicPr>
            <a:picLocks noChangeAspect="1"/>
          </p:cNvPicPr>
          <p:nvPr/>
        </p:nvPicPr>
        <p:blipFill>
          <a:blip r:embed="rId4"/>
          <a:stretch>
            <a:fillRect/>
          </a:stretch>
        </p:blipFill>
        <p:spPr>
          <a:xfrm>
            <a:off x="548640" y="5614416"/>
            <a:ext cx="201168" cy="201168"/>
          </a:xfrm>
          <a:prstGeom prst="rect">
            <a:avLst/>
          </a:prstGeom>
        </p:spPr>
      </p:pic>
      <p:sp>
        <p:nvSpPr>
          <p:cNvPr id="21" name="Text 15"/>
          <p:cNvSpPr/>
          <p:nvPr/>
        </p:nvSpPr>
        <p:spPr>
          <a:xfrm>
            <a:off x="822960" y="5577840"/>
            <a:ext cx="6629400" cy="219456"/>
          </a:xfrm>
          <a:prstGeom prst="rect">
            <a:avLst/>
          </a:prstGeom>
          <a:noFill/>
          <a:ln/>
        </p:spPr>
        <p:txBody>
          <a:bodyPr wrap="square" lIns="0" tIns="0" rIns="0" bIns="0" rtlCol="0" anchor="ctr"/>
          <a:lstStyle/>
          <a:p>
            <a:pPr marL="0" indent="0">
              <a:buNone/>
            </a:pPr>
            <a:r>
              <a:rPr lang="en-US" sz="1200" dirty="0">
                <a:solidFill>
                  <a:srgbClr val="16233A"/>
                </a:solidFill>
                <a:latin typeface="Arial" pitchFamily="34" charset="0"/>
                <a:ea typeface="Arial" pitchFamily="34" charset="-122"/>
                <a:cs typeface="Arial" pitchFamily="34" charset="-120"/>
              </a:rPr>
              <a:t>This city weaves tradition together with new technology.</a:t>
            </a:r>
            <a:endParaRPr lang="en-US" sz="1200" dirty="0"/>
          </a:p>
        </p:txBody>
      </p:sp>
      <p:sp>
        <p:nvSpPr>
          <p:cNvPr id="22" name="Text 16"/>
          <p:cNvSpPr/>
          <p:nvPr/>
        </p:nvSpPr>
        <p:spPr>
          <a:xfrm>
            <a:off x="822960" y="5797296"/>
            <a:ext cx="6629400" cy="219456"/>
          </a:xfrm>
          <a:prstGeom prst="rect">
            <a:avLst/>
          </a:prstGeom>
          <a:noFill/>
          <a:ln/>
        </p:spPr>
        <p:txBody>
          <a:bodyPr wrap="square" lIns="0" tIns="0" rIns="0" bIns="0" rtlCol="0" anchor="ctr"/>
          <a:lstStyle/>
          <a:p>
            <a:pPr marL="0" indent="0">
              <a:buNone/>
            </a:pPr>
            <a:r>
              <a:rPr lang="en-US" sz="1050" dirty="0">
                <a:solidFill>
                  <a:srgbClr val="5B6B80"/>
                </a:solidFill>
                <a:latin typeface="Microsoft YaHei" pitchFamily="34" charset="0"/>
                <a:ea typeface="Microsoft YaHei" pitchFamily="34" charset="-122"/>
                <a:cs typeface="Microsoft YaHei" pitchFamily="34" charset="-120"/>
              </a:rPr>
              <a:t>→ 这座城市把传统与新技术编织在一起。</a:t>
            </a:r>
            <a:endParaRPr lang="en-US" sz="1050" dirty="0"/>
          </a:p>
        </p:txBody>
      </p:sp>
      <p:sp>
        <p:nvSpPr>
          <p:cNvPr id="23" name="Text 17"/>
          <p:cNvSpPr/>
          <p:nvPr/>
        </p:nvSpPr>
        <p:spPr>
          <a:xfrm>
            <a:off x="7772400" y="1481328"/>
            <a:ext cx="3867912" cy="237744"/>
          </a:xfrm>
          <a:prstGeom prst="rect">
            <a:avLst/>
          </a:prstGeom>
          <a:noFill/>
          <a:ln/>
        </p:spPr>
        <p:txBody>
          <a:bodyPr wrap="square" lIns="0" tIns="0" rIns="0" bIns="0" rtlCol="0" anchor="ctr"/>
          <a:lstStyle/>
          <a:p>
            <a:pPr marL="0" indent="0">
              <a:buNone/>
            </a:pPr>
            <a:r>
              <a:rPr lang="en-US" sz="1200" b="1" kern="0" spc="120" dirty="0">
                <a:solidFill>
                  <a:srgbClr val="B4530A"/>
                </a:solidFill>
                <a:latin typeface="Microsoft YaHei" pitchFamily="34" charset="0"/>
                <a:ea typeface="Microsoft YaHei" pitchFamily="34" charset="-122"/>
                <a:cs typeface="Microsoft YaHei" pitchFamily="34" charset="-120"/>
              </a:rPr>
              <a:t>重点词汇 · 音标 · 释义 · 模板</a:t>
            </a:r>
            <a:endParaRPr lang="en-US" sz="1200" dirty="0"/>
          </a:p>
        </p:txBody>
      </p:sp>
      <p:sp>
        <p:nvSpPr>
          <p:cNvPr id="24" name="Shape 18"/>
          <p:cNvSpPr/>
          <p:nvPr/>
        </p:nvSpPr>
        <p:spPr>
          <a:xfrm>
            <a:off x="7772400" y="1792224"/>
            <a:ext cx="3867912" cy="1517904"/>
          </a:xfrm>
          <a:prstGeom prst="roundRect">
            <a:avLst>
              <a:gd name="adj" fmla="val 2410"/>
            </a:avLst>
          </a:prstGeom>
          <a:solidFill>
            <a:srgbClr val="FDF1E3"/>
          </a:solidFill>
          <a:ln w="9525">
            <a:solidFill>
              <a:srgbClr val="F0DFC7"/>
            </a:solidFill>
            <a:prstDash val="solid"/>
          </a:ln>
        </p:spPr>
      </p:sp>
      <p:sp>
        <p:nvSpPr>
          <p:cNvPr id="25" name="Text 19"/>
          <p:cNvSpPr/>
          <p:nvPr/>
        </p:nvSpPr>
        <p:spPr>
          <a:xfrm>
            <a:off x="7991856" y="190195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stunning</a:t>
            </a:r>
            <a:endParaRPr lang="en-US" sz="1800" dirty="0"/>
          </a:p>
        </p:txBody>
      </p:sp>
      <p:sp>
        <p:nvSpPr>
          <p:cNvPr id="26" name="Text 20"/>
          <p:cNvSpPr/>
          <p:nvPr/>
        </p:nvSpPr>
        <p:spPr>
          <a:xfrm>
            <a:off x="7991856" y="217627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adj. </a:t>
            </a:r>
            <a:r>
              <a:rPr lang="en-US" sz="1200" dirty="0">
                <a:solidFill>
                  <a:srgbClr val="5B6B80"/>
                </a:solidFill>
                <a:latin typeface="Arial" pitchFamily="34" charset="0"/>
                <a:ea typeface="Arial" pitchFamily="34" charset="-122"/>
                <a:cs typeface="Arial" pitchFamily="34" charset="-120"/>
              </a:rPr>
              <a:t>/ˈstʌnɪŋ/</a:t>
            </a:r>
            <a:endParaRPr lang="en-US" sz="1150" dirty="0"/>
          </a:p>
        </p:txBody>
      </p:sp>
      <p:sp>
        <p:nvSpPr>
          <p:cNvPr id="27" name="Text 21"/>
          <p:cNvSpPr/>
          <p:nvPr/>
        </p:nvSpPr>
        <p:spPr>
          <a:xfrm>
            <a:off x="7991856" y="239572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令人惊叹的，极美的</a:t>
            </a:r>
            <a:endParaRPr lang="en-US" sz="1300" dirty="0"/>
          </a:p>
        </p:txBody>
      </p:sp>
      <p:sp>
        <p:nvSpPr>
          <p:cNvPr id="28" name="Text 22"/>
          <p:cNvSpPr/>
          <p:nvPr/>
        </p:nvSpPr>
        <p:spPr>
          <a:xfrm>
            <a:off x="7991856" y="265176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stun v. 使震惊</a:t>
            </a:r>
            <a:endParaRPr lang="en-US" sz="1050" dirty="0"/>
          </a:p>
        </p:txBody>
      </p:sp>
      <p:sp>
        <p:nvSpPr>
          <p:cNvPr id="29" name="Text 23"/>
          <p:cNvSpPr/>
          <p:nvPr/>
        </p:nvSpPr>
        <p:spPr>
          <a:xfrm>
            <a:off x="7991856" y="285292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turn [A] into stunning [B]</a:t>
            </a:r>
            <a:endParaRPr lang="en-US" sz="1050" dirty="0"/>
          </a:p>
        </p:txBody>
      </p:sp>
      <p:sp>
        <p:nvSpPr>
          <p:cNvPr id="30" name="Shape 24"/>
          <p:cNvSpPr/>
          <p:nvPr/>
        </p:nvSpPr>
        <p:spPr>
          <a:xfrm>
            <a:off x="7772400" y="3438144"/>
            <a:ext cx="3867912" cy="1517904"/>
          </a:xfrm>
          <a:prstGeom prst="roundRect">
            <a:avLst>
              <a:gd name="adj" fmla="val 2410"/>
            </a:avLst>
          </a:prstGeom>
          <a:solidFill>
            <a:srgbClr val="FDF1E3"/>
          </a:solidFill>
          <a:ln w="9525">
            <a:solidFill>
              <a:srgbClr val="F0DFC7"/>
            </a:solidFill>
            <a:prstDash val="solid"/>
          </a:ln>
        </p:spPr>
      </p:sp>
      <p:sp>
        <p:nvSpPr>
          <p:cNvPr id="31" name="Text 25"/>
          <p:cNvSpPr/>
          <p:nvPr/>
        </p:nvSpPr>
        <p:spPr>
          <a:xfrm>
            <a:off x="7991856" y="3547872"/>
            <a:ext cx="3429000" cy="274320"/>
          </a:xfrm>
          <a:prstGeom prst="rect">
            <a:avLst/>
          </a:prstGeom>
          <a:noFill/>
          <a:ln/>
        </p:spPr>
        <p:txBody>
          <a:bodyPr wrap="square" lIns="0" tIns="0" rIns="0" bIns="0" rtlCol="0" anchor="ctr"/>
          <a:lstStyle/>
          <a:p>
            <a:pPr marL="0" indent="0">
              <a:buNone/>
            </a:pPr>
            <a:r>
              <a:rPr lang="en-US" sz="1800" b="1" dirty="0">
                <a:solidFill>
                  <a:srgbClr val="B4530A"/>
                </a:solidFill>
                <a:latin typeface="Arial" pitchFamily="34" charset="0"/>
                <a:ea typeface="Arial" pitchFamily="34" charset="-122"/>
                <a:cs typeface="Arial" pitchFamily="34" charset="-120"/>
              </a:rPr>
              <a:t>weave</a:t>
            </a:r>
            <a:endParaRPr lang="en-US" sz="1800" dirty="0"/>
          </a:p>
        </p:txBody>
      </p:sp>
      <p:sp>
        <p:nvSpPr>
          <p:cNvPr id="32" name="Text 26"/>
          <p:cNvSpPr/>
          <p:nvPr/>
        </p:nvSpPr>
        <p:spPr>
          <a:xfrm>
            <a:off x="7991856" y="3822192"/>
            <a:ext cx="3429000" cy="219456"/>
          </a:xfrm>
          <a:prstGeom prst="rect">
            <a:avLst/>
          </a:prstGeom>
          <a:noFill/>
          <a:ln/>
        </p:spPr>
        <p:txBody>
          <a:bodyPr wrap="square" lIns="0" tIns="0" rIns="0" bIns="0" rtlCol="0" anchor="ctr"/>
          <a:lstStyle/>
          <a:p>
            <a:pPr marL="0" indent="0">
              <a:buNone/>
            </a:pPr>
            <a:r>
              <a:rPr lang="en-US" sz="1150" dirty="0">
                <a:solidFill>
                  <a:srgbClr val="B4530A"/>
                </a:solidFill>
                <a:latin typeface="Arial" pitchFamily="34" charset="0"/>
                <a:ea typeface="Arial" pitchFamily="34" charset="-122"/>
                <a:cs typeface="Arial" pitchFamily="34" charset="-120"/>
              </a:rPr>
              <a:t>v. </a:t>
            </a:r>
            <a:r>
              <a:rPr lang="en-US" sz="1200" dirty="0">
                <a:solidFill>
                  <a:srgbClr val="5B6B80"/>
                </a:solidFill>
                <a:latin typeface="Arial" pitchFamily="34" charset="0"/>
                <a:ea typeface="Arial" pitchFamily="34" charset="-122"/>
                <a:cs typeface="Arial" pitchFamily="34" charset="-120"/>
              </a:rPr>
              <a:t>/wiːv/</a:t>
            </a:r>
            <a:endParaRPr lang="en-US" sz="1150" dirty="0"/>
          </a:p>
        </p:txBody>
      </p:sp>
      <p:sp>
        <p:nvSpPr>
          <p:cNvPr id="33" name="Text 27"/>
          <p:cNvSpPr/>
          <p:nvPr/>
        </p:nvSpPr>
        <p:spPr>
          <a:xfrm>
            <a:off x="7991856" y="4041648"/>
            <a:ext cx="3429000" cy="274320"/>
          </a:xfrm>
          <a:prstGeom prst="rect">
            <a:avLst/>
          </a:prstGeom>
          <a:noFill/>
          <a:ln/>
        </p:spPr>
        <p:txBody>
          <a:bodyPr wrap="square" lIns="0" tIns="0" rIns="0" bIns="0" rtlCol="0" anchor="ctr"/>
          <a:lstStyle/>
          <a:p>
            <a:pPr marL="0" indent="0">
              <a:buNone/>
            </a:pPr>
            <a:r>
              <a:rPr lang="en-US" sz="1300" dirty="0">
                <a:solidFill>
                  <a:srgbClr val="16233A"/>
                </a:solidFill>
                <a:latin typeface="Microsoft YaHei" pitchFamily="34" charset="0"/>
                <a:ea typeface="Microsoft YaHei" pitchFamily="34" charset="-122"/>
                <a:cs typeface="Microsoft YaHei" pitchFamily="34" charset="-120"/>
              </a:rPr>
              <a:t>编织；巧妙融合</a:t>
            </a:r>
            <a:endParaRPr lang="en-US" sz="1300" dirty="0"/>
          </a:p>
        </p:txBody>
      </p:sp>
      <p:sp>
        <p:nvSpPr>
          <p:cNvPr id="34" name="Text 28"/>
          <p:cNvSpPr/>
          <p:nvPr/>
        </p:nvSpPr>
        <p:spPr>
          <a:xfrm>
            <a:off x="7991856" y="4297680"/>
            <a:ext cx="3429000" cy="201168"/>
          </a:xfrm>
          <a:prstGeom prst="rect">
            <a:avLst/>
          </a:prstGeom>
          <a:noFill/>
          <a:ln/>
        </p:spPr>
        <p:txBody>
          <a:bodyPr wrap="square" lIns="0" tIns="0" rIns="0" bIns="0" rtlCol="0" anchor="ctr"/>
          <a:lstStyle/>
          <a:p>
            <a:pPr marL="0" indent="0">
              <a:buNone/>
            </a:pPr>
            <a:r>
              <a:rPr lang="en-US" sz="1050" i="1" dirty="0">
                <a:solidFill>
                  <a:srgbClr val="5B6B80"/>
                </a:solidFill>
                <a:latin typeface="Arial" pitchFamily="34" charset="0"/>
                <a:ea typeface="Arial" pitchFamily="34" charset="-122"/>
                <a:cs typeface="Arial" pitchFamily="34" charset="-120"/>
              </a:rPr>
              <a:t>过去式 wove，过去分词 woven</a:t>
            </a:r>
            <a:endParaRPr lang="en-US" sz="1050" dirty="0"/>
          </a:p>
        </p:txBody>
      </p:sp>
      <p:sp>
        <p:nvSpPr>
          <p:cNvPr id="35" name="Text 29"/>
          <p:cNvSpPr/>
          <p:nvPr/>
        </p:nvSpPr>
        <p:spPr>
          <a:xfrm>
            <a:off x="7991856" y="4498848"/>
            <a:ext cx="3429000" cy="365760"/>
          </a:xfrm>
          <a:prstGeom prst="rect">
            <a:avLst/>
          </a:prstGeom>
          <a:noFill/>
          <a:ln/>
        </p:spPr>
        <p:txBody>
          <a:bodyPr wrap="square" lIns="0" tIns="0" rIns="0" bIns="0" rtlCol="0" anchor="ctr"/>
          <a:lstStyle/>
          <a:p>
            <a:pPr marL="0" indent="0">
              <a:buNone/>
            </a:pPr>
            <a:r>
              <a:rPr lang="en-US" sz="1050" b="1" dirty="0">
                <a:solidFill>
                  <a:srgbClr val="B4530A"/>
                </a:solidFill>
                <a:latin typeface="Microsoft YaHei" pitchFamily="34" charset="0"/>
                <a:ea typeface="Microsoft YaHei" pitchFamily="34" charset="-122"/>
                <a:cs typeface="Microsoft YaHei" pitchFamily="34" charset="-120"/>
              </a:rPr>
              <a:t>模板 </a:t>
            </a:r>
            <a:r>
              <a:rPr lang="en-US" sz="1100" b="1" dirty="0">
                <a:solidFill>
                  <a:srgbClr val="0B4F46"/>
                </a:solidFill>
                <a:latin typeface="Arial" pitchFamily="34" charset="0"/>
                <a:ea typeface="Arial" pitchFamily="34" charset="-122"/>
                <a:cs typeface="Arial" pitchFamily="34" charset="-120"/>
              </a:rPr>
              <a:t>weave [A] together with [B]</a:t>
            </a:r>
            <a:endParaRPr lang="en-US" sz="1050" dirty="0"/>
          </a:p>
        </p:txBody>
      </p:sp>
      <p:sp>
        <p:nvSpPr>
          <p:cNvPr id="36" name="Shape 30"/>
          <p:cNvSpPr/>
          <p:nvPr/>
        </p:nvSpPr>
        <p:spPr>
          <a:xfrm>
            <a:off x="7772400" y="5084064"/>
            <a:ext cx="3867912" cy="786384"/>
          </a:xfrm>
          <a:prstGeom prst="roundRect">
            <a:avLst>
              <a:gd name="adj" fmla="val 4651"/>
            </a:avLst>
          </a:prstGeom>
          <a:solidFill>
            <a:srgbClr val="F2F5F9"/>
          </a:solidFill>
          <a:ln w="9525">
            <a:solidFill>
              <a:srgbClr val="D8DEE7"/>
            </a:solidFill>
            <a:prstDash val="solid"/>
          </a:ln>
        </p:spPr>
      </p:sp>
      <p:pic>
        <p:nvPicPr>
          <p:cNvPr id="37" name="Image 4" descr="提示"/>
          <p:cNvPicPr>
            <a:picLocks noChangeAspect="1"/>
          </p:cNvPicPr>
          <p:nvPr/>
        </p:nvPicPr>
        <p:blipFill>
          <a:blip r:embed="rId5"/>
          <a:stretch>
            <a:fillRect/>
          </a:stretch>
        </p:blipFill>
        <p:spPr>
          <a:xfrm>
            <a:off x="7991856" y="5358384"/>
            <a:ext cx="237744" cy="237744"/>
          </a:xfrm>
          <a:prstGeom prst="rect">
            <a:avLst/>
          </a:prstGeom>
        </p:spPr>
      </p:pic>
      <p:sp>
        <p:nvSpPr>
          <p:cNvPr id="38" name="Text 31"/>
          <p:cNvSpPr/>
          <p:nvPr/>
        </p:nvSpPr>
        <p:spPr>
          <a:xfrm>
            <a:off x="8321040" y="5212080"/>
            <a:ext cx="3099816" cy="548640"/>
          </a:xfrm>
          <a:prstGeom prst="rect">
            <a:avLst/>
          </a:prstGeom>
          <a:noFill/>
          <a:ln/>
        </p:spPr>
        <p:txBody>
          <a:bodyPr wrap="square" lIns="0" tIns="0" rIns="0" bIns="0" rtlCol="0" anchor="ctr"/>
          <a:lstStyle/>
          <a:p>
            <a:pPr marL="0" indent="0">
              <a:buNone/>
            </a:pPr>
            <a:r>
              <a:rPr lang="en-US" sz="1100" dirty="0">
                <a:solidFill>
                  <a:srgbClr val="5B6B80"/>
                </a:solidFill>
                <a:latin typeface="Microsoft YaHei" pitchFamily="34" charset="0"/>
                <a:ea typeface="Microsoft YaHei" pitchFamily="34" charset="-122"/>
                <a:cs typeface="Microsoft YaHei" pitchFamily="34" charset="-120"/>
              </a:rPr>
              <a:t>turn into 与 change into 意思接近，但 turn 更口语、更常用，日常表达优先选 turn。</a:t>
            </a:r>
            <a:endParaRPr lang="en-US" sz="1100" dirty="0"/>
          </a:p>
        </p:txBody>
      </p:sp>
      <p:sp>
        <p:nvSpPr>
          <p:cNvPr id="39" name="Text 32"/>
          <p:cNvSpPr/>
          <p:nvPr/>
        </p:nvSpPr>
        <p:spPr>
          <a:xfrm>
            <a:off x="548640" y="6364224"/>
            <a:ext cx="11091672" cy="274320"/>
          </a:xfrm>
          <a:prstGeom prst="rect">
            <a:avLst/>
          </a:prstGeom>
          <a:noFill/>
          <a:ln/>
        </p:spPr>
        <p:txBody>
          <a:bodyPr wrap="square" lIns="0" tIns="0" rIns="0" bIns="0" rtlCol="0" anchor="ctr"/>
          <a:lstStyle/>
          <a:p>
            <a:pPr marL="0" indent="0">
              <a:buNone/>
            </a:pPr>
            <a:r>
              <a:rPr lang="en-US" sz="1000" dirty="0">
                <a:solidFill>
                  <a:srgbClr val="5B6B80"/>
                </a:solidFill>
                <a:latin typeface="Microsoft YaHei" pitchFamily="34" charset="0"/>
                <a:ea typeface="Microsoft YaHei" pitchFamily="34" charset="-122"/>
                <a:cs typeface="Microsoft YaHei" pitchFamily="34" charset="-120"/>
              </a:rPr>
              <a:t>语料：[01:52] …turning simple dough into stunning works of art.</a:t>
            </a:r>
            <a:endParaRPr lang="en-US" sz="1000" dirty="0"/>
          </a:p>
        </p:txBody>
      </p:sp>
      <p:pic>
        <p:nvPicPr>
          <p:cNvPr id="40" name="PPTClaw Watermark 1"/>
          <p:cNvPicPr>
            <a:picLocks noChangeAspect="1"/>
          </p:cNvPicPr>
          <p:nvPr/>
        </p:nvPicPr>
        <p:blipFill>
          <a:blip r:embed="rId6"/>
          <a:stretch>
            <a:fillRect/>
          </a:stretch>
        </p:blipFill>
        <p:spPr>
          <a:xfrm>
            <a:off x="10982294" y="6446520"/>
            <a:ext cx="1141126" cy="3429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buNone/>
            </a:pPr>
            <a:r>
              <a:rPr lang="en-US" sz="1200" b="1" kern="0" spc="160" dirty="0">
                <a:solidFill>
                  <a:srgbClr val="0E6F63"/>
                </a:solidFill>
                <a:latin typeface="Microsoft YaHei" pitchFamily="34" charset="0"/>
                <a:ea typeface="Microsoft YaHei" pitchFamily="34" charset="-122"/>
                <a:cs typeface="Microsoft YaHei" pitchFamily="34" charset="-120"/>
              </a:rPr>
              <a:t>VOCABULARY</a:t>
            </a:r>
            <a:endParaRPr lang="en-US" sz="1200" dirty="0"/>
          </a:p>
        </p:txBody>
      </p:sp>
      <p:sp>
        <p:nvSpPr>
          <p:cNvPr id="3" name="Text 1"/>
          <p:cNvSpPr/>
          <p:nvPr/>
        </p:nvSpPr>
        <p:spPr>
          <a:xfrm>
            <a:off x="548640" y="713232"/>
            <a:ext cx="10424160" cy="566928"/>
          </a:xfrm>
          <a:prstGeom prst="rect">
            <a:avLst/>
          </a:prstGeom>
          <a:noFill/>
          <a:ln/>
        </p:spPr>
        <p:txBody>
          <a:bodyPr wrap="square" lIns="0" tIns="0" rIns="0" bIns="0" rtlCol="0" anchor="ctr"/>
          <a:lstStyle/>
          <a:p>
            <a:pPr marL="0" indent="0">
              <a:buNone/>
            </a:pPr>
            <a:r>
              <a:rPr lang="en-US" sz="3000" b="1" dirty="0">
                <a:solidFill>
                  <a:srgbClr val="16233A"/>
                </a:solidFill>
                <a:latin typeface="Microsoft YaHei" pitchFamily="34" charset="0"/>
                <a:ea typeface="Microsoft YaHei" pitchFamily="34" charset="-122"/>
                <a:cs typeface="Microsoft YaHei" pitchFamily="34" charset="-120"/>
              </a:rPr>
              <a:t>重点词汇：音标、词性、释义与搭配</a:t>
            </a:r>
            <a:endParaRPr lang="en-US" sz="3000" dirty="0"/>
          </a:p>
        </p:txBody>
      </p:sp>
      <p:sp>
        <p:nvSpPr>
          <p:cNvPr id="4" name="Shape 2"/>
          <p:cNvSpPr/>
          <p:nvPr/>
        </p:nvSpPr>
        <p:spPr>
          <a:xfrm>
            <a:off x="548640" y="1371600"/>
            <a:ext cx="11091672" cy="18288"/>
          </a:xfrm>
          <a:prstGeom prst="rect">
            <a:avLst/>
          </a:prstGeom>
          <a:solidFill>
            <a:srgbClr val="0E6F63"/>
          </a:solidFill>
          <a:ln w="12700">
            <a:solidFill>
              <a:srgbClr val="0E6F63"/>
            </a:solidFill>
            <a:prstDash val="solid"/>
          </a:ln>
        </p:spPr>
      </p:sp>
      <p:sp>
        <p:nvSpPr>
          <p:cNvPr id="5" name="Text 3"/>
          <p:cNvSpPr/>
          <p:nvPr/>
        </p:nvSpPr>
        <p:spPr>
          <a:xfrm>
            <a:off x="11109960" y="384048"/>
            <a:ext cx="548640" cy="310896"/>
          </a:xfrm>
          <a:prstGeom prst="rect">
            <a:avLst/>
          </a:prstGeom>
          <a:noFill/>
          <a:ln/>
        </p:spPr>
        <p:txBody>
          <a:bodyPr wrap="square" lIns="0" tIns="0" rIns="0" bIns="0" rtlCol="0" anchor="ctr"/>
          <a:lstStyle/>
          <a:p>
            <a:pPr marL="0" indent="0" algn="r">
              <a:buNone/>
            </a:pPr>
            <a:r>
              <a:rPr lang="en-US" sz="1600" b="1" dirty="0">
                <a:solidFill>
                  <a:srgbClr val="5B6B80"/>
                </a:solidFill>
                <a:latin typeface="Microsoft YaHei" pitchFamily="34" charset="0"/>
                <a:ea typeface="Microsoft YaHei" pitchFamily="34" charset="-122"/>
                <a:cs typeface="Microsoft YaHei" pitchFamily="34" charset="-120"/>
              </a:rPr>
              <a:t>09</a:t>
            </a:r>
            <a:endParaRPr lang="en-US" sz="1600" dirty="0"/>
          </a:p>
        </p:txBody>
      </p:sp>
      <p:sp>
        <p:nvSpPr>
          <p:cNvPr id="6" name="Text 4"/>
          <p:cNvSpPr/>
          <p:nvPr/>
        </p:nvSpPr>
        <p:spPr>
          <a:xfrm>
            <a:off x="548640" y="1517904"/>
            <a:ext cx="11091672" cy="274320"/>
          </a:xfrm>
          <a:prstGeom prst="rect">
            <a:avLst/>
          </a:prstGeom>
          <a:noFill/>
          <a:ln/>
        </p:spPr>
        <p:txBody>
          <a:bodyPr wrap="square" lIns="0" tIns="0" rIns="0" bIns="0" rtlCol="0" anchor="ctr"/>
          <a:lstStyle/>
          <a:p>
            <a:pPr marL="0" indent="0">
              <a:buNone/>
            </a:pPr>
            <a:r>
              <a:rPr lang="en-US" sz="1300" dirty="0">
                <a:solidFill>
                  <a:srgbClr val="5B6B80"/>
                </a:solidFill>
                <a:latin typeface="Microsoft YaHei" pitchFamily="34" charset="0"/>
                <a:ea typeface="Microsoft YaHei" pitchFamily="34" charset="-122"/>
                <a:cs typeface="Microsoft YaHei" pitchFamily="34" charset="-120"/>
              </a:rPr>
              <a:t>12 个核心词全部来自同一段 130 秒解说，覆盖场馆解说、工艺与技术三类场景；最后一列是可套用的句式模板。</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11091672" cy="914400"/>
        </p:xfrm>
        <a:graphic>
          <a:graphicData uri="http://schemas.openxmlformats.org/drawingml/2006/table">
            <a:tbl>
              <a:tblPr/>
              <a:tblGrid>
                <a:gridCol w="16002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gridCol w="2176272">
                  <a:extLst>
                    <a:ext uri="{9D8B030D-6E8A-4147-A177-3AD203B41FA5}">
                      <a16:colId xmlns:a16="http://schemas.microsoft.com/office/drawing/2014/main" val="20005"/>
                    </a:ext>
                  </a:extLst>
                </a:gridCol>
              </a:tblGrid>
              <a:tr h="246888">
                <a:tc>
                  <a:txBody>
                    <a:bodyPr/>
                    <a:lstStyle/>
                    <a:p>
                      <a:pPr marL="0" indent="0" algn="l">
                        <a:buNone/>
                      </a:pPr>
                      <a:r>
                        <a:rPr lang="en-US" sz="1150" b="1" dirty="0">
                          <a:solidFill>
                            <a:srgbClr val="FFFFFF"/>
                          </a:solidFill>
                          <a:latin typeface="Microsoft YaHei" pitchFamily="34" charset="0"/>
                          <a:ea typeface="Microsoft YaHei" pitchFamily="34" charset="-122"/>
                          <a:cs typeface="Microsoft YaHei" pitchFamily="34" charset="-120"/>
                        </a:rPr>
                        <a:t>词汇</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0E6F63"/>
                    </a:solidFill>
                  </a:tcPr>
                </a:tc>
                <a:tc>
                  <a:txBody>
                    <a:bodyPr/>
                    <a:lstStyle/>
                    <a:p>
                      <a:pPr marL="0" indent="0" algn="l">
                        <a:buNone/>
                      </a:pPr>
                      <a:r>
                        <a:rPr lang="en-US" sz="1150" b="1" dirty="0">
                          <a:solidFill>
                            <a:srgbClr val="FFFFFF"/>
                          </a:solidFill>
                          <a:latin typeface="Microsoft YaHei" pitchFamily="34" charset="0"/>
                          <a:ea typeface="Microsoft YaHei" pitchFamily="34" charset="-122"/>
                          <a:cs typeface="Microsoft YaHei" pitchFamily="34" charset="-120"/>
                        </a:rPr>
                        <a:t>音标</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0E6F63"/>
                    </a:solidFill>
                  </a:tcPr>
                </a:tc>
                <a:tc>
                  <a:txBody>
                    <a:bodyPr/>
                    <a:lstStyle/>
                    <a:p>
                      <a:pPr marL="0" indent="0" algn="l">
                        <a:buNone/>
                      </a:pPr>
                      <a:r>
                        <a:rPr lang="en-US" sz="1150" b="1" dirty="0">
                          <a:solidFill>
                            <a:srgbClr val="FFFFFF"/>
                          </a:solidFill>
                          <a:latin typeface="Microsoft YaHei" pitchFamily="34" charset="0"/>
                          <a:ea typeface="Microsoft YaHei" pitchFamily="34" charset="-122"/>
                          <a:cs typeface="Microsoft YaHei" pitchFamily="34" charset="-120"/>
                        </a:rPr>
                        <a:t>词性</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0E6F63"/>
                    </a:solidFill>
                  </a:tcPr>
                </a:tc>
                <a:tc>
                  <a:txBody>
                    <a:bodyPr/>
                    <a:lstStyle/>
                    <a:p>
                      <a:pPr marL="0" indent="0" algn="l">
                        <a:buNone/>
                      </a:pPr>
                      <a:r>
                        <a:rPr lang="en-US" sz="1150" b="1" dirty="0">
                          <a:solidFill>
                            <a:srgbClr val="FFFFFF"/>
                          </a:solidFill>
                          <a:latin typeface="Microsoft YaHei" pitchFamily="34" charset="0"/>
                          <a:ea typeface="Microsoft YaHei" pitchFamily="34" charset="-122"/>
                          <a:cs typeface="Microsoft YaHei" pitchFamily="34" charset="-120"/>
                        </a:rPr>
                        <a:t>中文释义</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0E6F63"/>
                    </a:solidFill>
                  </a:tcPr>
                </a:tc>
                <a:tc>
                  <a:txBody>
                    <a:bodyPr/>
                    <a:lstStyle/>
                    <a:p>
                      <a:pPr marL="0" indent="0" algn="l">
                        <a:buNone/>
                      </a:pPr>
                      <a:r>
                        <a:rPr lang="en-US" sz="1150" b="1" dirty="0">
                          <a:solidFill>
                            <a:srgbClr val="FFFFFF"/>
                          </a:solidFill>
                          <a:latin typeface="Microsoft YaHei" pitchFamily="34" charset="0"/>
                          <a:ea typeface="Microsoft YaHei" pitchFamily="34" charset="-122"/>
                          <a:cs typeface="Microsoft YaHei" pitchFamily="34" charset="-120"/>
                        </a:rPr>
                        <a:t>语料搭配</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0E6F63"/>
                    </a:solidFill>
                  </a:tcPr>
                </a:tc>
                <a:tc>
                  <a:txBody>
                    <a:bodyPr/>
                    <a:lstStyle/>
                    <a:p>
                      <a:pPr marL="0" indent="0" algn="l">
                        <a:buNone/>
                      </a:pPr>
                      <a:r>
                        <a:rPr lang="en-US" sz="1150" b="1" dirty="0">
                          <a:solidFill>
                            <a:srgbClr val="FFFFFF"/>
                          </a:solidFill>
                          <a:latin typeface="Microsoft YaHei" pitchFamily="34" charset="0"/>
                          <a:ea typeface="Microsoft YaHei" pitchFamily="34" charset="-122"/>
                          <a:cs typeface="Microsoft YaHei" pitchFamily="34" charset="-120"/>
                        </a:rPr>
                        <a:t>可套用模板</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0E6F63"/>
                    </a:solidFill>
                  </a:tcPr>
                </a:tc>
                <a:extLst>
                  <a:ext uri="{0D108BD9-81ED-4DB2-BD59-A6C34878D82A}">
                    <a16:rowId xmlns:a16="http://schemas.microsoft.com/office/drawing/2014/main" val="10000"/>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art gallery</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/ɑːt ˈɡæləri/</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n.</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美术馆</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art galleries and centers</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have you ever been to …</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host city</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/həʊst ˈsɪti/</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n.</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主办城市</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the host city of the Games</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the host city of + 赛事</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official</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/əˈfɪʃl/</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adj.</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官方的</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the only official museum</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the world's only official + 名词</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represent</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/ˌreprɪˈzent/</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v.</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代表，象征</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tracks represent continents</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[A] represent [X]</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stand for</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/stænd fɔː(r)/</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phr.</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代表，象征</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spheres stand for trades</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[B] stand for [Y]</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replica</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/ˈreplɪkə/</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n.</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复刻品</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a replica of an old tool</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a replica of + 名词</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blueprint</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/ˈbluːprɪnt/</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n.</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图纸，蓝图</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from an old blueprint</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only from + 条件</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entirely</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/ɪnˈtaɪəli/</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adv.</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完全地</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recreated entirely by hand</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[结果] entirely by hand</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demonstrate</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/ˈdemənstreɪt/</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v.</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展示，证明</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demonstrate how it works</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It demonstrates how …</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extLst>
                  <a:ext uri="{0D108BD9-81ED-4DB2-BD59-A6C34878D82A}">
                    <a16:rowId xmlns:a16="http://schemas.microsoft.com/office/drawing/2014/main" val="10009"/>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limb</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/lɪm/</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n.</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肢；假肢</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custom limbs for children</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custom limbs for + 对象</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stunning</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/ˈstʌnɪŋ/</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adj.</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令人惊叹的</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stunning works of art</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turn [A] into stunning [B]</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7F9FC"/>
                    </a:solidFill>
                  </a:tcPr>
                </a:tc>
                <a:extLst>
                  <a:ext uri="{0D108BD9-81ED-4DB2-BD59-A6C34878D82A}">
                    <a16:rowId xmlns:a16="http://schemas.microsoft.com/office/drawing/2014/main" val="10011"/>
                  </a:ext>
                </a:extLst>
              </a:tr>
              <a:tr h="246888">
                <a:tc>
                  <a:txBody>
                    <a:bodyPr/>
                    <a:lstStyle/>
                    <a:p>
                      <a:pPr marL="0" indent="0">
                        <a:buNone/>
                      </a:pPr>
                      <a:r>
                        <a:rPr lang="en-US" sz="1150" b="1" dirty="0">
                          <a:solidFill>
                            <a:srgbClr val="16233A"/>
                          </a:solidFill>
                          <a:latin typeface="Arial" pitchFamily="34" charset="0"/>
                          <a:ea typeface="Arial" pitchFamily="34" charset="-122"/>
                          <a:cs typeface="Arial" pitchFamily="34" charset="-120"/>
                        </a:rPr>
                        <a:t>weave</a:t>
                      </a:r>
                      <a:endParaRPr lang="en-US" sz="11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00" dirty="0">
                          <a:solidFill>
                            <a:srgbClr val="0B4F46"/>
                          </a:solidFill>
                          <a:latin typeface="Arial" pitchFamily="34" charset="0"/>
                          <a:ea typeface="Arial" pitchFamily="34" charset="-122"/>
                          <a:cs typeface="Arial" pitchFamily="34" charset="-120"/>
                        </a:rPr>
                        <a:t>/wiːv/</a:t>
                      </a:r>
                      <a:endParaRPr lang="en-US" sz="110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B4530A"/>
                          </a:solidFill>
                          <a:latin typeface="Arial" pitchFamily="34" charset="0"/>
                          <a:ea typeface="Arial" pitchFamily="34" charset="-122"/>
                          <a:cs typeface="Arial" pitchFamily="34" charset="-120"/>
                        </a:rPr>
                        <a:t>v.</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150" dirty="0">
                          <a:solidFill>
                            <a:srgbClr val="16233A"/>
                          </a:solidFill>
                          <a:latin typeface="Microsoft YaHei" pitchFamily="34" charset="0"/>
                          <a:ea typeface="Microsoft YaHei" pitchFamily="34" charset="-122"/>
                          <a:cs typeface="Microsoft YaHei" pitchFamily="34" charset="-120"/>
                        </a:rPr>
                        <a:t>编织；融合</a:t>
                      </a:r>
                      <a:endParaRPr lang="en-US" sz="1150" dirty="0">
                        <a:latin typeface="Microsoft YaHei" charset="0"/>
                        <a:ea typeface="Microsoft YaHei" charset="0"/>
                        <a:cs typeface="Microsoft YaHei"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5B6B80"/>
                          </a:solidFill>
                          <a:latin typeface="Arial" pitchFamily="34" charset="0"/>
                          <a:ea typeface="Arial" pitchFamily="34" charset="-122"/>
                          <a:cs typeface="Arial" pitchFamily="34" charset="-120"/>
                        </a:rPr>
                        <a:t>weave friendship with innovation</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50" dirty="0">
                          <a:solidFill>
                            <a:srgbClr val="0B4F46"/>
                          </a:solidFill>
                          <a:latin typeface="Arial" pitchFamily="34" charset="0"/>
                          <a:ea typeface="Arial" pitchFamily="34" charset="-122"/>
                          <a:cs typeface="Arial" pitchFamily="34" charset="-120"/>
                        </a:rPr>
                        <a:t>weave [A] together with [B]</a:t>
                      </a:r>
                      <a:endParaRPr lang="en-US" sz="1050" dirty="0">
                        <a:latin typeface="Arial" charset="0"/>
                        <a:ea typeface="Arial" charset="0"/>
                        <a:cs typeface="Arial" charset="0"/>
                      </a:endParaRPr>
                    </a:p>
                  </a:txBody>
                  <a:tcPr marL="54864" marR="54864" marT="54864" marB="54864"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8" name="Text 5"/>
          <p:cNvSpPr/>
          <p:nvPr/>
        </p:nvSpPr>
        <p:spPr>
          <a:xfrm>
            <a:off x="548640" y="6053328"/>
            <a:ext cx="11091672" cy="274320"/>
          </a:xfrm>
          <a:prstGeom prst="rect">
            <a:avLst/>
          </a:prstGeom>
          <a:noFill/>
          <a:ln/>
        </p:spPr>
        <p:txBody>
          <a:bodyPr wrap="square" lIns="0" tIns="0" rIns="0" bIns="0" rtlCol="0" anchor="ctr"/>
          <a:lstStyle/>
          <a:p>
            <a:pPr marL="0" indent="0">
              <a:buNone/>
            </a:pPr>
            <a:r>
              <a:rPr lang="en-US" sz="1100" dirty="0">
                <a:solidFill>
                  <a:srgbClr val="5B6B80"/>
                </a:solidFill>
                <a:latin typeface="Microsoft YaHei" pitchFamily="34" charset="0"/>
                <a:ea typeface="Microsoft YaHei" pitchFamily="34" charset="-122"/>
                <a:cs typeface="Microsoft YaHei" pitchFamily="34" charset="-120"/>
              </a:rPr>
              <a:t>朗读顺序：先读词 → 再读音标 → 连读语料搭配 → 最后用模板句造一句自己的话；每词至少三遍，重音落在正确音节上。</a:t>
            </a:r>
            <a:endParaRPr lang="en-US" sz="1100" dirty="0"/>
          </a:p>
        </p:txBody>
      </p:sp>
      <p:pic>
        <p:nvPicPr>
          <p:cNvPr id="11" name="PPTClaw Watermark 1"/>
          <p:cNvPicPr>
            <a:picLocks noChangeAspect="1"/>
          </p:cNvPicPr>
          <p:nvPr/>
        </p:nvPicPr>
        <p:blipFill>
          <a:blip r:embed="rId3"/>
          <a:stretch>
            <a:fillRect/>
          </a:stretch>
        </p:blipFill>
        <p:spPr>
          <a:xfrm>
            <a:off x="10982294" y="6446520"/>
            <a:ext cx="1141126" cy="342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buNone/>
            </a:pPr>
            <a:r>
              <a:rPr lang="en-US" sz="1200" b="1" kern="0" spc="160" dirty="0">
                <a:solidFill>
                  <a:srgbClr val="0E6F63"/>
                </a:solidFill>
                <a:latin typeface="Microsoft YaHei" pitchFamily="34" charset="0"/>
                <a:ea typeface="Microsoft YaHei" pitchFamily="34" charset="-122"/>
                <a:cs typeface="Microsoft YaHei" pitchFamily="34" charset="-120"/>
              </a:rPr>
              <a:t>PRACTICE &amp; TAKEAWAY</a:t>
            </a:r>
            <a:endParaRPr lang="en-US" sz="1200" dirty="0"/>
          </a:p>
        </p:txBody>
      </p:sp>
      <p:sp>
        <p:nvSpPr>
          <p:cNvPr id="3" name="Text 1"/>
          <p:cNvSpPr/>
          <p:nvPr/>
        </p:nvSpPr>
        <p:spPr>
          <a:xfrm>
            <a:off x="548640" y="713232"/>
            <a:ext cx="10424160" cy="566928"/>
          </a:xfrm>
          <a:prstGeom prst="rect">
            <a:avLst/>
          </a:prstGeom>
          <a:noFill/>
          <a:ln/>
        </p:spPr>
        <p:txBody>
          <a:bodyPr wrap="square" lIns="0" tIns="0" rIns="0" bIns="0" rtlCol="0" anchor="ctr"/>
          <a:lstStyle/>
          <a:p>
            <a:pPr marL="0" indent="0">
              <a:buNone/>
            </a:pPr>
            <a:r>
              <a:rPr lang="en-US" sz="3000" b="1" dirty="0">
                <a:solidFill>
                  <a:srgbClr val="16233A"/>
                </a:solidFill>
                <a:latin typeface="Microsoft YaHei" pitchFamily="34" charset="0"/>
                <a:ea typeface="Microsoft YaHei" pitchFamily="34" charset="-122"/>
                <a:cs typeface="Microsoft YaHei" pitchFamily="34" charset="-120"/>
              </a:rPr>
              <a:t>把模板练成习惯：三步套用训练</a:t>
            </a:r>
            <a:endParaRPr lang="en-US" sz="3000" dirty="0"/>
          </a:p>
        </p:txBody>
      </p:sp>
      <p:sp>
        <p:nvSpPr>
          <p:cNvPr id="4" name="Shape 2"/>
          <p:cNvSpPr/>
          <p:nvPr/>
        </p:nvSpPr>
        <p:spPr>
          <a:xfrm>
            <a:off x="548640" y="1371600"/>
            <a:ext cx="11091672" cy="18288"/>
          </a:xfrm>
          <a:prstGeom prst="rect">
            <a:avLst/>
          </a:prstGeom>
          <a:solidFill>
            <a:srgbClr val="0E6F63"/>
          </a:solidFill>
          <a:ln w="12700">
            <a:solidFill>
              <a:srgbClr val="0E6F63"/>
            </a:solidFill>
            <a:prstDash val="solid"/>
          </a:ln>
        </p:spPr>
      </p:sp>
      <p:sp>
        <p:nvSpPr>
          <p:cNvPr id="5" name="Text 3"/>
          <p:cNvSpPr/>
          <p:nvPr/>
        </p:nvSpPr>
        <p:spPr>
          <a:xfrm>
            <a:off x="11109960" y="384048"/>
            <a:ext cx="548640" cy="310896"/>
          </a:xfrm>
          <a:prstGeom prst="rect">
            <a:avLst/>
          </a:prstGeom>
          <a:noFill/>
          <a:ln/>
        </p:spPr>
        <p:txBody>
          <a:bodyPr wrap="square" lIns="0" tIns="0" rIns="0" bIns="0" rtlCol="0" anchor="ctr"/>
          <a:lstStyle/>
          <a:p>
            <a:pPr marL="0" indent="0" algn="r">
              <a:buNone/>
            </a:pPr>
            <a:r>
              <a:rPr lang="en-US" sz="1600" b="1" dirty="0">
                <a:solidFill>
                  <a:srgbClr val="5B6B80"/>
                </a:solidFill>
                <a:latin typeface="Microsoft YaHei" pitchFamily="34" charset="0"/>
                <a:ea typeface="Microsoft YaHei" pitchFamily="34" charset="-122"/>
                <a:cs typeface="Microsoft YaHei" pitchFamily="34" charset="-120"/>
              </a:rPr>
              <a:t>10</a:t>
            </a:r>
            <a:endParaRPr lang="en-US" sz="1600" dirty="0"/>
          </a:p>
        </p:txBody>
      </p:sp>
      <p:sp>
        <p:nvSpPr>
          <p:cNvPr id="6" name="Text 4"/>
          <p:cNvSpPr/>
          <p:nvPr/>
        </p:nvSpPr>
        <p:spPr>
          <a:xfrm>
            <a:off x="548640" y="1517904"/>
            <a:ext cx="11091672" cy="292608"/>
          </a:xfrm>
          <a:prstGeom prst="rect">
            <a:avLst/>
          </a:prstGeom>
          <a:noFill/>
          <a:ln/>
        </p:spPr>
        <p:txBody>
          <a:bodyPr wrap="square" lIns="0" tIns="0" rIns="0" bIns="0" rtlCol="0" anchor="ctr"/>
          <a:lstStyle/>
          <a:p>
            <a:pPr marL="0" indent="0">
              <a:buNone/>
            </a:pPr>
            <a:r>
              <a:rPr lang="en-US" sz="1350" dirty="0">
                <a:solidFill>
                  <a:srgbClr val="5B6B80"/>
                </a:solidFill>
                <a:latin typeface="Microsoft YaHei" pitchFamily="34" charset="0"/>
                <a:ea typeface="Microsoft YaHei" pitchFamily="34" charset="-122"/>
                <a:cs typeface="Microsoft YaHei" pitchFamily="34" charset="-120"/>
              </a:rPr>
              <a:t>选一个你熟悉的场景（校园、比赛、城市展馆），用下面三步把当天的六个句式全部套用一遍。</a:t>
            </a:r>
            <a:endParaRPr lang="en-US" sz="1350" dirty="0"/>
          </a:p>
        </p:txBody>
      </p:sp>
      <p:sp>
        <p:nvSpPr>
          <p:cNvPr id="7" name="Shape 5"/>
          <p:cNvSpPr/>
          <p:nvPr/>
        </p:nvSpPr>
        <p:spPr>
          <a:xfrm>
            <a:off x="548640" y="1975104"/>
            <a:ext cx="3511296" cy="1828800"/>
          </a:xfrm>
          <a:prstGeom prst="roundRect">
            <a:avLst>
              <a:gd name="adj" fmla="val 2000"/>
            </a:avLst>
          </a:prstGeom>
          <a:solidFill>
            <a:srgbClr val="F2F5F9"/>
          </a:solidFill>
          <a:ln w="9525">
            <a:solidFill>
              <a:srgbClr val="D8DEE7"/>
            </a:solidFill>
            <a:prstDash val="solid"/>
          </a:ln>
        </p:spPr>
      </p:sp>
      <p:pic>
        <p:nvPicPr>
          <p:cNvPr id="8" name="Image 0" descr="抄骨架"/>
          <p:cNvPicPr>
            <a:picLocks noChangeAspect="1"/>
          </p:cNvPicPr>
          <p:nvPr/>
        </p:nvPicPr>
        <p:blipFill>
          <a:blip r:embed="rId3"/>
          <a:stretch>
            <a:fillRect/>
          </a:stretch>
        </p:blipFill>
        <p:spPr>
          <a:xfrm>
            <a:off x="841248" y="2194560"/>
            <a:ext cx="365760" cy="365760"/>
          </a:xfrm>
          <a:prstGeom prst="rect">
            <a:avLst/>
          </a:prstGeom>
        </p:spPr>
      </p:pic>
      <p:sp>
        <p:nvSpPr>
          <p:cNvPr id="9" name="Text 6"/>
          <p:cNvSpPr/>
          <p:nvPr/>
        </p:nvSpPr>
        <p:spPr>
          <a:xfrm>
            <a:off x="841248" y="2670048"/>
            <a:ext cx="2926080" cy="310896"/>
          </a:xfrm>
          <a:prstGeom prst="rect">
            <a:avLst/>
          </a:prstGeom>
          <a:noFill/>
          <a:ln/>
        </p:spPr>
        <p:txBody>
          <a:bodyPr wrap="square" lIns="0" tIns="0" rIns="0" bIns="0" rtlCol="0" anchor="ctr"/>
          <a:lstStyle/>
          <a:p>
            <a:pPr marL="0" indent="0">
              <a:buNone/>
            </a:pPr>
            <a:r>
              <a:rPr lang="en-US" sz="1800" b="1" dirty="0">
                <a:solidFill>
                  <a:srgbClr val="16233A"/>
                </a:solidFill>
                <a:latin typeface="Microsoft YaHei" pitchFamily="34" charset="0"/>
                <a:ea typeface="Microsoft YaHei" pitchFamily="34" charset="-122"/>
                <a:cs typeface="Microsoft YaHei" pitchFamily="34" charset="-120"/>
              </a:rPr>
              <a:t>① 抄骨架</a:t>
            </a:r>
            <a:endParaRPr lang="en-US" sz="1800" dirty="0"/>
          </a:p>
        </p:txBody>
      </p:sp>
      <p:sp>
        <p:nvSpPr>
          <p:cNvPr id="10" name="Text 7"/>
          <p:cNvSpPr/>
          <p:nvPr/>
        </p:nvSpPr>
        <p:spPr>
          <a:xfrm>
            <a:off x="841248" y="3054096"/>
            <a:ext cx="2926080" cy="640080"/>
          </a:xfrm>
          <a:prstGeom prst="rect">
            <a:avLst/>
          </a:prstGeom>
          <a:noFill/>
          <a:ln/>
        </p:spPr>
        <p:txBody>
          <a:bodyPr wrap="square" lIns="0" tIns="0" rIns="0" bIns="0" rtlCol="0" anchor="ctr"/>
          <a:lstStyle/>
          <a:p>
            <a:pPr marL="0" indent="0">
              <a:buNone/>
            </a:pPr>
            <a:r>
              <a:rPr lang="en-US" sz="1250" dirty="0">
                <a:solidFill>
                  <a:srgbClr val="5B6B80"/>
                </a:solidFill>
                <a:latin typeface="Microsoft YaHei" pitchFamily="34" charset="0"/>
                <a:ea typeface="Microsoft YaHei" pitchFamily="34" charset="-122"/>
                <a:cs typeface="Microsoft YaHei" pitchFamily="34" charset="-120"/>
              </a:rPr>
              <a:t>写下句式骨架，槽位用方括号标出，不要抄整句。</a:t>
            </a:r>
            <a:endParaRPr lang="en-US" sz="1250" dirty="0"/>
          </a:p>
        </p:txBody>
      </p:sp>
      <p:sp>
        <p:nvSpPr>
          <p:cNvPr id="11" name="Shape 8"/>
          <p:cNvSpPr/>
          <p:nvPr/>
        </p:nvSpPr>
        <p:spPr>
          <a:xfrm>
            <a:off x="4334256" y="1975104"/>
            <a:ext cx="3511296" cy="1828800"/>
          </a:xfrm>
          <a:prstGeom prst="roundRect">
            <a:avLst>
              <a:gd name="adj" fmla="val 2000"/>
            </a:avLst>
          </a:prstGeom>
          <a:solidFill>
            <a:srgbClr val="F2F5F9"/>
          </a:solidFill>
          <a:ln w="9525">
            <a:solidFill>
              <a:srgbClr val="D8DEE7"/>
            </a:solidFill>
            <a:prstDash val="solid"/>
          </a:ln>
        </p:spPr>
      </p:sp>
      <p:pic>
        <p:nvPicPr>
          <p:cNvPr id="12" name="Image 1" descr="换槽位"/>
          <p:cNvPicPr>
            <a:picLocks noChangeAspect="1"/>
          </p:cNvPicPr>
          <p:nvPr/>
        </p:nvPicPr>
        <p:blipFill>
          <a:blip r:embed="rId4"/>
          <a:stretch>
            <a:fillRect/>
          </a:stretch>
        </p:blipFill>
        <p:spPr>
          <a:xfrm>
            <a:off x="4626864" y="2194560"/>
            <a:ext cx="365760" cy="365760"/>
          </a:xfrm>
          <a:prstGeom prst="rect">
            <a:avLst/>
          </a:prstGeom>
        </p:spPr>
      </p:pic>
      <p:sp>
        <p:nvSpPr>
          <p:cNvPr id="13" name="Text 9"/>
          <p:cNvSpPr/>
          <p:nvPr/>
        </p:nvSpPr>
        <p:spPr>
          <a:xfrm>
            <a:off x="4626864" y="2670048"/>
            <a:ext cx="2926080" cy="310896"/>
          </a:xfrm>
          <a:prstGeom prst="rect">
            <a:avLst/>
          </a:prstGeom>
          <a:noFill/>
          <a:ln/>
        </p:spPr>
        <p:txBody>
          <a:bodyPr wrap="square" lIns="0" tIns="0" rIns="0" bIns="0" rtlCol="0" anchor="ctr"/>
          <a:lstStyle/>
          <a:p>
            <a:pPr marL="0" indent="0">
              <a:buNone/>
            </a:pPr>
            <a:r>
              <a:rPr lang="en-US" sz="1800" b="1" dirty="0">
                <a:solidFill>
                  <a:srgbClr val="16233A"/>
                </a:solidFill>
                <a:latin typeface="Microsoft YaHei" pitchFamily="34" charset="0"/>
                <a:ea typeface="Microsoft YaHei" pitchFamily="34" charset="-122"/>
                <a:cs typeface="Microsoft YaHei" pitchFamily="34" charset="-120"/>
              </a:rPr>
              <a:t>② 换槽位</a:t>
            </a:r>
            <a:endParaRPr lang="en-US" sz="1800" dirty="0"/>
          </a:p>
        </p:txBody>
      </p:sp>
      <p:sp>
        <p:nvSpPr>
          <p:cNvPr id="14" name="Text 10"/>
          <p:cNvSpPr/>
          <p:nvPr/>
        </p:nvSpPr>
        <p:spPr>
          <a:xfrm>
            <a:off x="4626864" y="3054096"/>
            <a:ext cx="2926080" cy="640080"/>
          </a:xfrm>
          <a:prstGeom prst="rect">
            <a:avLst/>
          </a:prstGeom>
          <a:noFill/>
          <a:ln/>
        </p:spPr>
        <p:txBody>
          <a:bodyPr wrap="square" lIns="0" tIns="0" rIns="0" bIns="0" rtlCol="0" anchor="ctr"/>
          <a:lstStyle/>
          <a:p>
            <a:pPr marL="0" indent="0">
              <a:buNone/>
            </a:pPr>
            <a:r>
              <a:rPr lang="en-US" sz="1250" dirty="0">
                <a:solidFill>
                  <a:srgbClr val="5B6B80"/>
                </a:solidFill>
                <a:latin typeface="Microsoft YaHei" pitchFamily="34" charset="0"/>
                <a:ea typeface="Microsoft YaHei" pitchFamily="34" charset="-122"/>
                <a:cs typeface="Microsoft YaHei" pitchFamily="34" charset="-120"/>
              </a:rPr>
              <a:t>只换一个位置的内容，其余保持原结构，读出来听是否顺口。</a:t>
            </a:r>
            <a:endParaRPr lang="en-US" sz="1250" dirty="0"/>
          </a:p>
        </p:txBody>
      </p:sp>
      <p:sp>
        <p:nvSpPr>
          <p:cNvPr id="15" name="Shape 11"/>
          <p:cNvSpPr/>
          <p:nvPr/>
        </p:nvSpPr>
        <p:spPr>
          <a:xfrm>
            <a:off x="8119872" y="1975104"/>
            <a:ext cx="3511296" cy="1828800"/>
          </a:xfrm>
          <a:prstGeom prst="roundRect">
            <a:avLst>
              <a:gd name="adj" fmla="val 2000"/>
            </a:avLst>
          </a:prstGeom>
          <a:solidFill>
            <a:srgbClr val="F2F5F9"/>
          </a:solidFill>
          <a:ln w="9525">
            <a:solidFill>
              <a:srgbClr val="D8DEE7"/>
            </a:solidFill>
            <a:prstDash val="solid"/>
          </a:ln>
        </p:spPr>
      </p:sp>
      <p:pic>
        <p:nvPicPr>
          <p:cNvPr id="16" name="Image 2" descr="造三句"/>
          <p:cNvPicPr>
            <a:picLocks noChangeAspect="1"/>
          </p:cNvPicPr>
          <p:nvPr/>
        </p:nvPicPr>
        <p:blipFill>
          <a:blip r:embed="rId5"/>
          <a:stretch>
            <a:fillRect/>
          </a:stretch>
        </p:blipFill>
        <p:spPr>
          <a:xfrm>
            <a:off x="8412480" y="2194560"/>
            <a:ext cx="365760" cy="365760"/>
          </a:xfrm>
          <a:prstGeom prst="rect">
            <a:avLst/>
          </a:prstGeom>
        </p:spPr>
      </p:pic>
      <p:sp>
        <p:nvSpPr>
          <p:cNvPr id="17" name="Text 12"/>
          <p:cNvSpPr/>
          <p:nvPr/>
        </p:nvSpPr>
        <p:spPr>
          <a:xfrm>
            <a:off x="8412480" y="2670048"/>
            <a:ext cx="2926080" cy="310896"/>
          </a:xfrm>
          <a:prstGeom prst="rect">
            <a:avLst/>
          </a:prstGeom>
          <a:noFill/>
          <a:ln/>
        </p:spPr>
        <p:txBody>
          <a:bodyPr wrap="square" lIns="0" tIns="0" rIns="0" bIns="0" rtlCol="0" anchor="ctr"/>
          <a:lstStyle/>
          <a:p>
            <a:pPr marL="0" indent="0">
              <a:buNone/>
            </a:pPr>
            <a:r>
              <a:rPr lang="en-US" sz="1800" b="1" dirty="0">
                <a:solidFill>
                  <a:srgbClr val="16233A"/>
                </a:solidFill>
                <a:latin typeface="Microsoft YaHei" pitchFamily="34" charset="0"/>
                <a:ea typeface="Microsoft YaHei" pitchFamily="34" charset="-122"/>
                <a:cs typeface="Microsoft YaHei" pitchFamily="34" charset="-120"/>
              </a:rPr>
              <a:t>③ 造三句</a:t>
            </a:r>
            <a:endParaRPr lang="en-US" sz="1800" dirty="0"/>
          </a:p>
        </p:txBody>
      </p:sp>
      <p:sp>
        <p:nvSpPr>
          <p:cNvPr id="18" name="Text 13"/>
          <p:cNvSpPr/>
          <p:nvPr/>
        </p:nvSpPr>
        <p:spPr>
          <a:xfrm>
            <a:off x="8412480" y="3054096"/>
            <a:ext cx="2926080" cy="640080"/>
          </a:xfrm>
          <a:prstGeom prst="rect">
            <a:avLst/>
          </a:prstGeom>
          <a:noFill/>
          <a:ln/>
        </p:spPr>
        <p:txBody>
          <a:bodyPr wrap="square" lIns="0" tIns="0" rIns="0" bIns="0" rtlCol="0" anchor="ctr"/>
          <a:lstStyle/>
          <a:p>
            <a:pPr marL="0" indent="0">
              <a:buNone/>
            </a:pPr>
            <a:r>
              <a:rPr lang="en-US" sz="1250" dirty="0">
                <a:solidFill>
                  <a:srgbClr val="5B6B80"/>
                </a:solidFill>
                <a:latin typeface="Microsoft YaHei" pitchFamily="34" charset="0"/>
                <a:ea typeface="Microsoft YaHei" pitchFamily="34" charset="-122"/>
                <a:cs typeface="Microsoft YaHei" pitchFamily="34" charset="-120"/>
              </a:rPr>
              <a:t>同一骨架连造三句，场景各不相同，录音后回听重音与连读。</a:t>
            </a:r>
            <a:endParaRPr lang="en-US" sz="1250" dirty="0"/>
          </a:p>
        </p:txBody>
      </p:sp>
      <p:sp>
        <p:nvSpPr>
          <p:cNvPr id="19" name="Shape 14"/>
          <p:cNvSpPr/>
          <p:nvPr/>
        </p:nvSpPr>
        <p:spPr>
          <a:xfrm>
            <a:off x="548640" y="4023360"/>
            <a:ext cx="7315200" cy="2103120"/>
          </a:xfrm>
          <a:prstGeom prst="roundRect">
            <a:avLst>
              <a:gd name="adj" fmla="val 1739"/>
            </a:avLst>
          </a:prstGeom>
          <a:solidFill>
            <a:srgbClr val="FFFFFF"/>
          </a:solidFill>
          <a:ln w="9525">
            <a:solidFill>
              <a:srgbClr val="D8DEE7"/>
            </a:solidFill>
            <a:prstDash val="solid"/>
          </a:ln>
        </p:spPr>
      </p:sp>
      <p:pic>
        <p:nvPicPr>
          <p:cNvPr id="20" name="Image 3" descr="收尾例句"/>
          <p:cNvPicPr>
            <a:picLocks noChangeAspect="1"/>
          </p:cNvPicPr>
          <p:nvPr/>
        </p:nvPicPr>
        <p:blipFill>
          <a:blip r:embed="rId6"/>
          <a:stretch>
            <a:fillRect/>
          </a:stretch>
        </p:blipFill>
        <p:spPr>
          <a:xfrm>
            <a:off x="841248" y="4242816"/>
            <a:ext cx="310896" cy="310896"/>
          </a:xfrm>
          <a:prstGeom prst="rect">
            <a:avLst/>
          </a:prstGeom>
        </p:spPr>
      </p:pic>
      <p:sp>
        <p:nvSpPr>
          <p:cNvPr id="21" name="Text 15"/>
          <p:cNvSpPr/>
          <p:nvPr/>
        </p:nvSpPr>
        <p:spPr>
          <a:xfrm>
            <a:off x="1298448" y="4224528"/>
            <a:ext cx="6309360" cy="310896"/>
          </a:xfrm>
          <a:prstGeom prst="rect">
            <a:avLst/>
          </a:prstGeom>
          <a:noFill/>
          <a:ln/>
        </p:spPr>
        <p:txBody>
          <a:bodyPr wrap="square" lIns="0" tIns="0" rIns="0" bIns="0" rtlCol="0" anchor="ctr"/>
          <a:lstStyle/>
          <a:p>
            <a:pPr marL="0" indent="0">
              <a:buNone/>
            </a:pPr>
            <a:r>
              <a:rPr lang="en-US" sz="1500" b="1" dirty="0">
                <a:solidFill>
                  <a:srgbClr val="0B4F46"/>
                </a:solidFill>
                <a:latin typeface="Arial" pitchFamily="34" charset="0"/>
                <a:ea typeface="Arial" pitchFamily="34" charset="-122"/>
                <a:cs typeface="Arial" pitchFamily="34" charset="-120"/>
              </a:rPr>
              <a:t>收尾句式：Let's wait and see what [主语] will bring to us.</a:t>
            </a:r>
            <a:endParaRPr lang="en-US" sz="1500" dirty="0"/>
          </a:p>
        </p:txBody>
      </p:sp>
      <p:sp>
        <p:nvSpPr>
          <p:cNvPr id="22" name="Text 16"/>
          <p:cNvSpPr/>
          <p:nvPr/>
        </p:nvSpPr>
        <p:spPr>
          <a:xfrm>
            <a:off x="1298448" y="4608576"/>
            <a:ext cx="6309360" cy="274320"/>
          </a:xfrm>
          <a:prstGeom prst="rect">
            <a:avLst/>
          </a:prstGeom>
          <a:noFill/>
          <a:ln/>
        </p:spPr>
        <p:txBody>
          <a:bodyPr wrap="square" lIns="0" tIns="0" rIns="0" bIns="0" rtlCol="0" anchor="ctr"/>
          <a:lstStyle/>
          <a:p>
            <a:pPr marL="0" indent="0">
              <a:buNone/>
            </a:pPr>
            <a:r>
              <a:rPr lang="en-US" sz="1200" dirty="0">
                <a:solidFill>
                  <a:srgbClr val="5B6B80"/>
                </a:solidFill>
                <a:latin typeface="Microsoft YaHei" pitchFamily="34" charset="0"/>
                <a:ea typeface="Microsoft YaHei" pitchFamily="34" charset="-122"/>
                <a:cs typeface="Microsoft YaHei" pitchFamily="34" charset="-120"/>
              </a:rPr>
              <a:t>当世界汇聚上海，让我们拭目以待，看选手们会带给我们怎样的精彩。</a:t>
            </a:r>
            <a:endParaRPr lang="en-US" sz="1200" dirty="0"/>
          </a:p>
        </p:txBody>
      </p:sp>
      <p:sp>
        <p:nvSpPr>
          <p:cNvPr id="23" name="Text 17"/>
          <p:cNvSpPr/>
          <p:nvPr/>
        </p:nvSpPr>
        <p:spPr>
          <a:xfrm>
            <a:off x="1298448" y="4992624"/>
            <a:ext cx="6309360" cy="310896"/>
          </a:xfrm>
          <a:prstGeom prst="rect">
            <a:avLst/>
          </a:prstGeom>
          <a:noFill/>
          <a:ln/>
        </p:spPr>
        <p:txBody>
          <a:bodyPr wrap="square" lIns="0" tIns="0" rIns="0" bIns="0" rtlCol="0" anchor="ctr"/>
          <a:lstStyle/>
          <a:p>
            <a:pPr marL="0" indent="0">
              <a:buNone/>
            </a:pPr>
            <a:r>
              <a:rPr lang="en-US" sz="1200" dirty="0">
                <a:solidFill>
                  <a:srgbClr val="5B6B80"/>
                </a:solidFill>
                <a:latin typeface="Microsoft YaHei" pitchFamily="34" charset="0"/>
                <a:ea typeface="Microsoft YaHei" pitchFamily="34" charset="-122"/>
                <a:cs typeface="Microsoft YaHei" pitchFamily="34" charset="-120"/>
              </a:rPr>
              <a:t>把 wait and see 当作固定搭配整体记忆：</a:t>
            </a:r>
            <a:r>
              <a:rPr lang="en-US" sz="1200" i="1" dirty="0">
                <a:solidFill>
                  <a:srgbClr val="0E6F63"/>
                </a:solidFill>
                <a:latin typeface="Arial" pitchFamily="34" charset="0"/>
                <a:ea typeface="Arial" pitchFamily="34" charset="-122"/>
                <a:cs typeface="Arial" pitchFamily="34" charset="-120"/>
              </a:rPr>
              <a:t>let's wait and see what happens</a:t>
            </a:r>
            <a:r>
              <a:rPr lang="en-US" sz="1200" dirty="0">
                <a:solidFill>
                  <a:srgbClr val="5B6B80"/>
                </a:solidFill>
                <a:latin typeface="Microsoft YaHei" pitchFamily="34" charset="0"/>
                <a:ea typeface="Microsoft YaHei" pitchFamily="34" charset="-122"/>
                <a:cs typeface="Microsoft YaHei" pitchFamily="34" charset="-120"/>
              </a:rPr>
              <a:t>。</a:t>
            </a:r>
            <a:endParaRPr lang="en-US" sz="1200" dirty="0"/>
          </a:p>
        </p:txBody>
      </p:sp>
      <p:sp>
        <p:nvSpPr>
          <p:cNvPr id="24" name="Text 18"/>
          <p:cNvSpPr/>
          <p:nvPr/>
        </p:nvSpPr>
        <p:spPr>
          <a:xfrm>
            <a:off x="1298448" y="5376672"/>
            <a:ext cx="6309360" cy="310896"/>
          </a:xfrm>
          <a:prstGeom prst="rect">
            <a:avLst/>
          </a:prstGeom>
          <a:noFill/>
          <a:ln/>
        </p:spPr>
        <p:txBody>
          <a:bodyPr wrap="square" lIns="0" tIns="0" rIns="0" bIns="0" rtlCol="0" anchor="ctr"/>
          <a:lstStyle/>
          <a:p>
            <a:pPr marL="0" indent="0">
              <a:buNone/>
            </a:pPr>
            <a:r>
              <a:rPr lang="en-US" sz="1300" b="1" dirty="0">
                <a:solidFill>
                  <a:srgbClr val="16233A"/>
                </a:solidFill>
                <a:latin typeface="Microsoft YaHei" pitchFamily="34" charset="0"/>
                <a:ea typeface="Microsoft YaHei" pitchFamily="34" charset="-122"/>
                <a:cs typeface="Microsoft YaHei" pitchFamily="34" charset="-120"/>
              </a:rPr>
              <a:t>六个骨架 + 十二个词，认真重复七次，就会变成你自己的表达。</a:t>
            </a:r>
            <a:endParaRPr lang="en-US" sz="1300" dirty="0"/>
          </a:p>
        </p:txBody>
      </p:sp>
      <p:sp>
        <p:nvSpPr>
          <p:cNvPr id="25" name="Shape 19"/>
          <p:cNvSpPr/>
          <p:nvPr/>
        </p:nvSpPr>
        <p:spPr>
          <a:xfrm>
            <a:off x="8138160" y="4023360"/>
            <a:ext cx="3502152" cy="2103120"/>
          </a:xfrm>
          <a:prstGeom prst="roundRect">
            <a:avLst>
              <a:gd name="adj" fmla="val 1739"/>
            </a:avLst>
          </a:prstGeom>
          <a:solidFill>
            <a:srgbClr val="E7F2EF"/>
          </a:solidFill>
          <a:ln w="9525">
            <a:solidFill>
              <a:srgbClr val="CFE3DE"/>
            </a:solidFill>
            <a:prstDash val="solid"/>
          </a:ln>
        </p:spPr>
      </p:sp>
      <p:pic>
        <p:nvPicPr>
          <p:cNvPr id="26" name="Image 4" descr="今日清单"/>
          <p:cNvPicPr>
            <a:picLocks noChangeAspect="1"/>
          </p:cNvPicPr>
          <p:nvPr/>
        </p:nvPicPr>
        <p:blipFill>
          <a:blip r:embed="rId7"/>
          <a:stretch>
            <a:fillRect/>
          </a:stretch>
        </p:blipFill>
        <p:spPr>
          <a:xfrm>
            <a:off x="8412480" y="4242816"/>
            <a:ext cx="329184" cy="329184"/>
          </a:xfrm>
          <a:prstGeom prst="rect">
            <a:avLst/>
          </a:prstGeom>
        </p:spPr>
      </p:pic>
      <p:sp>
        <p:nvSpPr>
          <p:cNvPr id="27" name="Text 20"/>
          <p:cNvSpPr/>
          <p:nvPr/>
        </p:nvSpPr>
        <p:spPr>
          <a:xfrm>
            <a:off x="8833104" y="4224528"/>
            <a:ext cx="2651760" cy="310896"/>
          </a:xfrm>
          <a:prstGeom prst="rect">
            <a:avLst/>
          </a:prstGeom>
          <a:noFill/>
          <a:ln/>
        </p:spPr>
        <p:txBody>
          <a:bodyPr wrap="square" lIns="0" tIns="0" rIns="0" bIns="0" rtlCol="0" anchor="ctr"/>
          <a:lstStyle/>
          <a:p>
            <a:pPr marL="0" indent="0">
              <a:buNone/>
            </a:pPr>
            <a:r>
              <a:rPr lang="en-US" sz="1500" b="1" dirty="0">
                <a:solidFill>
                  <a:srgbClr val="0B4F46"/>
                </a:solidFill>
                <a:latin typeface="Microsoft YaHei" pitchFamily="34" charset="0"/>
                <a:ea typeface="Microsoft YaHei" pitchFamily="34" charset="-122"/>
                <a:cs typeface="Microsoft YaHei" pitchFamily="34" charset="-120"/>
              </a:rPr>
              <a:t>今日清单</a:t>
            </a:r>
            <a:endParaRPr lang="en-US" sz="1500" dirty="0"/>
          </a:p>
        </p:txBody>
      </p:sp>
      <p:sp>
        <p:nvSpPr>
          <p:cNvPr id="28" name="Text 21"/>
          <p:cNvSpPr/>
          <p:nvPr/>
        </p:nvSpPr>
        <p:spPr>
          <a:xfrm>
            <a:off x="8412480" y="4663440"/>
            <a:ext cx="2926080" cy="1188720"/>
          </a:xfrm>
          <a:prstGeom prst="rect">
            <a:avLst/>
          </a:prstGeom>
          <a:noFill/>
          <a:ln/>
        </p:spPr>
        <p:txBody>
          <a:bodyPr wrap="square" lIns="0" tIns="0" rIns="0" bIns="0" rtlCol="0" anchor="ctr"/>
          <a:lstStyle/>
          <a:p>
            <a:pPr marL="0" indent="0">
              <a:buNone/>
            </a:pPr>
            <a:r>
              <a:rPr lang="en-US" sz="1200" dirty="0">
                <a:solidFill>
                  <a:srgbClr val="0B4F46"/>
                </a:solidFill>
                <a:latin typeface="Microsoft YaHei" pitchFamily="34" charset="0"/>
                <a:ea typeface="Microsoft YaHei" pitchFamily="34" charset="-122"/>
                <a:cs typeface="Microsoft YaHei" pitchFamily="34" charset="-120"/>
              </a:rPr>
              <a:t>· 6 个骨架各造 3 句
· 12 个词标音标并组词
· 朗读原句并录音回听</a:t>
            </a:r>
            <a:endParaRPr lang="en-US" sz="1200" dirty="0"/>
          </a:p>
        </p:txBody>
      </p:sp>
      <p:sp>
        <p:nvSpPr>
          <p:cNvPr id="29" name="Text 22"/>
          <p:cNvSpPr/>
          <p:nvPr/>
        </p:nvSpPr>
        <p:spPr>
          <a:xfrm>
            <a:off x="548640" y="6364224"/>
            <a:ext cx="11091672" cy="274320"/>
          </a:xfrm>
          <a:prstGeom prst="rect">
            <a:avLst/>
          </a:prstGeom>
          <a:noFill/>
          <a:ln/>
        </p:spPr>
        <p:txBody>
          <a:bodyPr wrap="square" lIns="0" tIns="0" rIns="0" bIns="0" rtlCol="0" anchor="ctr"/>
          <a:lstStyle/>
          <a:p>
            <a:pPr marL="0" indent="0">
              <a:buNone/>
            </a:pPr>
            <a:r>
              <a:rPr lang="en-US" sz="1000" dirty="0">
                <a:solidFill>
                  <a:srgbClr val="5B6B80"/>
                </a:solidFill>
                <a:latin typeface="Microsoft YaHei" pitchFamily="34" charset="0"/>
                <a:ea typeface="Microsoft YaHei" pitchFamily="34" charset="-122"/>
                <a:cs typeface="Microsoft YaHei" pitchFamily="34" charset="-120"/>
              </a:rPr>
              <a:t>语料来源：世界技能博物馆视频英文转写稿（中英对照），2026。</a:t>
            </a:r>
            <a:endParaRPr lang="en-US" sz="1000" dirty="0"/>
          </a:p>
        </p:txBody>
      </p:sp>
      <p:pic>
        <p:nvPicPr>
          <p:cNvPr id="30" name="PPTClaw Watermark 1"/>
          <p:cNvPicPr>
            <a:picLocks noChangeAspect="1"/>
          </p:cNvPicPr>
          <p:nvPr/>
        </p:nvPicPr>
        <p:blipFill>
          <a:blip r:embed="rId8"/>
          <a:stretch>
            <a:fillRect/>
          </a:stretch>
        </p:blipFill>
        <p:spPr>
          <a:xfrm>
            <a:off x="10982294" y="6446520"/>
            <a:ext cx="1141126" cy="3429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2848</Words>
  <Application>Microsoft Office PowerPoint</Application>
  <PresentationFormat>宽屏</PresentationFormat>
  <Paragraphs>308</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Microsoft YaHei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PPTClaw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高频地道句式拆解与套用</dc:title>
  <dc:subject>高频地道句式拆解与套用</dc:subject>
  <dc:creator>PPTClaw</dc:creator>
  <cp:lastModifiedBy>冷俊 高</cp:lastModifiedBy>
  <cp:revision>1</cp:revision>
  <dcterms:created xsi:type="dcterms:W3CDTF">2026-10-08T07:28:29Z</dcterms:created>
  <dcterms:modified xsi:type="dcterms:W3CDTF">2026-10-08T08:57:21Z</dcterms:modified>
</cp:coreProperties>
</file>